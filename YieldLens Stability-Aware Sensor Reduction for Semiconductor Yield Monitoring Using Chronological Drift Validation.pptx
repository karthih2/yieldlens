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0" r:id="rId17"/>
    <p:sldId id="271" r:id="rId1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rgbClr val="3704B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00" b="1" i="0">
                <a:solidFill>
                  <a:srgbClr val="3704B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6E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081449"/>
            <a:ext cx="2642968" cy="320530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14388" y="1673588"/>
            <a:ext cx="1673611" cy="168592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9549015" y="1670037"/>
            <a:ext cx="8286115" cy="7977505"/>
          </a:xfrm>
          <a:custGeom>
            <a:avLst/>
            <a:gdLst/>
            <a:ahLst/>
            <a:cxnLst/>
            <a:rect l="l" t="t" r="r" b="b"/>
            <a:pathLst>
              <a:path w="8286115" h="7977505">
                <a:moveTo>
                  <a:pt x="8142850" y="7977010"/>
                </a:moveTo>
                <a:lnTo>
                  <a:pt x="142874" y="7977010"/>
                </a:lnTo>
                <a:lnTo>
                  <a:pt x="97715" y="7969727"/>
                </a:lnTo>
                <a:lnTo>
                  <a:pt x="58494" y="7949444"/>
                </a:lnTo>
                <a:lnTo>
                  <a:pt x="27566" y="7918516"/>
                </a:lnTo>
                <a:lnTo>
                  <a:pt x="7283" y="7879295"/>
                </a:lnTo>
                <a:lnTo>
                  <a:pt x="0" y="7834135"/>
                </a:lnTo>
                <a:lnTo>
                  <a:pt x="0" y="142874"/>
                </a:lnTo>
                <a:lnTo>
                  <a:pt x="7283" y="97715"/>
                </a:lnTo>
                <a:lnTo>
                  <a:pt x="27566" y="58494"/>
                </a:lnTo>
                <a:lnTo>
                  <a:pt x="58494" y="27566"/>
                </a:lnTo>
                <a:lnTo>
                  <a:pt x="97715" y="7283"/>
                </a:lnTo>
                <a:lnTo>
                  <a:pt x="142874" y="0"/>
                </a:lnTo>
                <a:lnTo>
                  <a:pt x="8142850" y="0"/>
                </a:lnTo>
                <a:lnTo>
                  <a:pt x="8188008" y="7283"/>
                </a:lnTo>
                <a:lnTo>
                  <a:pt x="8227228" y="27566"/>
                </a:lnTo>
                <a:lnTo>
                  <a:pt x="8258157" y="58494"/>
                </a:lnTo>
                <a:lnTo>
                  <a:pt x="8278439" y="97715"/>
                </a:lnTo>
                <a:lnTo>
                  <a:pt x="8285723" y="142874"/>
                </a:lnTo>
                <a:lnTo>
                  <a:pt x="8285723" y="7834135"/>
                </a:lnTo>
                <a:lnTo>
                  <a:pt x="8278439" y="7879295"/>
                </a:lnTo>
                <a:lnTo>
                  <a:pt x="8258157" y="7918516"/>
                </a:lnTo>
                <a:lnTo>
                  <a:pt x="8227228" y="7949444"/>
                </a:lnTo>
                <a:lnTo>
                  <a:pt x="8188008" y="7969727"/>
                </a:lnTo>
                <a:lnTo>
                  <a:pt x="8142850" y="7977010"/>
                </a:lnTo>
                <a:close/>
              </a:path>
            </a:pathLst>
          </a:custGeom>
          <a:solidFill>
            <a:srgbClr val="FFFF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549014" y="1670029"/>
            <a:ext cx="8286115" cy="7973059"/>
          </a:xfrm>
          <a:custGeom>
            <a:avLst/>
            <a:gdLst/>
            <a:ahLst/>
            <a:cxnLst/>
            <a:rect l="l" t="t" r="r" b="b"/>
            <a:pathLst>
              <a:path w="8286115" h="7973059">
                <a:moveTo>
                  <a:pt x="114449" y="7972385"/>
                </a:moveTo>
                <a:lnTo>
                  <a:pt x="58461" y="7949418"/>
                </a:lnTo>
                <a:lnTo>
                  <a:pt x="27533" y="7918491"/>
                </a:lnTo>
                <a:lnTo>
                  <a:pt x="7266" y="7879195"/>
                </a:lnTo>
                <a:lnTo>
                  <a:pt x="0" y="7834025"/>
                </a:lnTo>
                <a:lnTo>
                  <a:pt x="1" y="142872"/>
                </a:lnTo>
                <a:lnTo>
                  <a:pt x="7296" y="97700"/>
                </a:lnTo>
                <a:lnTo>
                  <a:pt x="27594" y="58475"/>
                </a:lnTo>
                <a:lnTo>
                  <a:pt x="58537" y="27552"/>
                </a:lnTo>
                <a:lnTo>
                  <a:pt x="97767" y="7283"/>
                </a:lnTo>
                <a:lnTo>
                  <a:pt x="142927" y="0"/>
                </a:lnTo>
                <a:lnTo>
                  <a:pt x="8142779" y="8"/>
                </a:lnTo>
                <a:lnTo>
                  <a:pt x="8187953" y="7263"/>
                </a:lnTo>
                <a:lnTo>
                  <a:pt x="8227193" y="27539"/>
                </a:lnTo>
                <a:lnTo>
                  <a:pt x="8258141" y="58473"/>
                </a:lnTo>
                <a:lnTo>
                  <a:pt x="8278437" y="97711"/>
                </a:lnTo>
                <a:lnTo>
                  <a:pt x="8285723" y="142881"/>
                </a:lnTo>
                <a:lnTo>
                  <a:pt x="8285740" y="7834039"/>
                </a:lnTo>
                <a:lnTo>
                  <a:pt x="8278473" y="7879237"/>
                </a:lnTo>
                <a:lnTo>
                  <a:pt x="8258181" y="7918498"/>
                </a:lnTo>
                <a:lnTo>
                  <a:pt x="8227254" y="7949426"/>
                </a:lnTo>
                <a:lnTo>
                  <a:pt x="8188002" y="7969737"/>
                </a:lnTo>
                <a:lnTo>
                  <a:pt x="8187943" y="7969610"/>
                </a:lnTo>
                <a:lnTo>
                  <a:pt x="8188002" y="7969737"/>
                </a:lnTo>
                <a:lnTo>
                  <a:pt x="8170458" y="7972432"/>
                </a:lnTo>
              </a:path>
            </a:pathLst>
          </a:custGeom>
          <a:ln w="57149">
            <a:solidFill>
              <a:srgbClr val="360F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548998" y="2723212"/>
            <a:ext cx="8286115" cy="9525"/>
          </a:xfrm>
          <a:custGeom>
            <a:avLst/>
            <a:gdLst/>
            <a:ahLst/>
            <a:cxnLst/>
            <a:rect l="l" t="t" r="r" b="b"/>
            <a:pathLst>
              <a:path w="8286115" h="9525">
                <a:moveTo>
                  <a:pt x="0" y="0"/>
                </a:moveTo>
                <a:lnTo>
                  <a:pt x="8285739" y="9021"/>
                </a:lnTo>
              </a:path>
            </a:pathLst>
          </a:custGeom>
          <a:ln w="38099">
            <a:solidFill>
              <a:srgbClr val="360F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79819" y="3970986"/>
            <a:ext cx="76200" cy="7619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79819" y="4637736"/>
            <a:ext cx="76200" cy="76199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79819" y="6971361"/>
            <a:ext cx="76200" cy="76199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79819" y="7304736"/>
            <a:ext cx="76200" cy="76199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79819" y="7638111"/>
            <a:ext cx="76200" cy="76199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79819" y="8304861"/>
            <a:ext cx="76200" cy="76199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79819" y="8638236"/>
            <a:ext cx="76200" cy="76199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79819" y="8971611"/>
            <a:ext cx="76200" cy="761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00" b="1" i="0">
                <a:solidFill>
                  <a:srgbClr val="3704B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2345" y="2878776"/>
            <a:ext cx="7853045" cy="5694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360F6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709944" y="2793093"/>
            <a:ext cx="7888605" cy="6361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360F6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00" b="1" i="0">
                <a:solidFill>
                  <a:srgbClr val="3704B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6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2544" y="248848"/>
            <a:ext cx="4984750" cy="909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rgbClr val="3704B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4386" y="1987206"/>
            <a:ext cx="15699740" cy="3815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356885"/>
            <a:ext cx="1199515" cy="1352550"/>
          </a:xfrm>
          <a:custGeom>
            <a:avLst/>
            <a:gdLst/>
            <a:ahLst/>
            <a:cxnLst/>
            <a:rect l="l" t="t" r="r" b="b"/>
            <a:pathLst>
              <a:path w="1199515" h="1352550">
                <a:moveTo>
                  <a:pt x="665596" y="332501"/>
                </a:moveTo>
                <a:lnTo>
                  <a:pt x="381037" y="332501"/>
                </a:lnTo>
                <a:lnTo>
                  <a:pt x="381037" y="0"/>
                </a:lnTo>
                <a:lnTo>
                  <a:pt x="665596" y="0"/>
                </a:lnTo>
                <a:lnTo>
                  <a:pt x="665596" y="332501"/>
                </a:lnTo>
                <a:close/>
              </a:path>
              <a:path w="1199515" h="1352550">
                <a:moveTo>
                  <a:pt x="866953" y="533858"/>
                </a:moveTo>
                <a:lnTo>
                  <a:pt x="179680" y="533858"/>
                </a:lnTo>
                <a:lnTo>
                  <a:pt x="0" y="354059"/>
                </a:lnTo>
                <a:lnTo>
                  <a:pt x="0" y="243242"/>
                </a:lnTo>
                <a:lnTo>
                  <a:pt x="145811" y="97430"/>
                </a:lnTo>
                <a:lnTo>
                  <a:pt x="381037" y="332501"/>
                </a:lnTo>
                <a:lnTo>
                  <a:pt x="1068177" y="332501"/>
                </a:lnTo>
                <a:lnTo>
                  <a:pt x="866953" y="533858"/>
                </a:lnTo>
                <a:close/>
              </a:path>
              <a:path w="1199515" h="1352550">
                <a:moveTo>
                  <a:pt x="1068177" y="332501"/>
                </a:moveTo>
                <a:lnTo>
                  <a:pt x="665596" y="332501"/>
                </a:lnTo>
                <a:lnTo>
                  <a:pt x="900822" y="97430"/>
                </a:lnTo>
                <a:lnTo>
                  <a:pt x="1102024" y="298632"/>
                </a:lnTo>
                <a:lnTo>
                  <a:pt x="1068177" y="332501"/>
                </a:lnTo>
                <a:close/>
              </a:path>
              <a:path w="1199515" h="1352550">
                <a:moveTo>
                  <a:pt x="1199454" y="818417"/>
                </a:moveTo>
                <a:lnTo>
                  <a:pt x="0" y="818417"/>
                </a:lnTo>
                <a:lnTo>
                  <a:pt x="0" y="533858"/>
                </a:lnTo>
                <a:lnTo>
                  <a:pt x="1199454" y="533858"/>
                </a:lnTo>
                <a:lnTo>
                  <a:pt x="1199454" y="818417"/>
                </a:lnTo>
                <a:close/>
              </a:path>
              <a:path w="1199515" h="1352550">
                <a:moveTo>
                  <a:pt x="145811" y="1254844"/>
                </a:moveTo>
                <a:lnTo>
                  <a:pt x="0" y="1109032"/>
                </a:lnTo>
                <a:lnTo>
                  <a:pt x="0" y="998216"/>
                </a:lnTo>
                <a:lnTo>
                  <a:pt x="179680" y="818417"/>
                </a:lnTo>
                <a:lnTo>
                  <a:pt x="866953" y="818417"/>
                </a:lnTo>
                <a:lnTo>
                  <a:pt x="1068177" y="1019774"/>
                </a:lnTo>
                <a:lnTo>
                  <a:pt x="381037" y="1019774"/>
                </a:lnTo>
                <a:lnTo>
                  <a:pt x="145811" y="1254844"/>
                </a:lnTo>
                <a:close/>
              </a:path>
              <a:path w="1199515" h="1352550">
                <a:moveTo>
                  <a:pt x="665596" y="1352275"/>
                </a:moveTo>
                <a:lnTo>
                  <a:pt x="381037" y="1352275"/>
                </a:lnTo>
                <a:lnTo>
                  <a:pt x="381037" y="1019774"/>
                </a:lnTo>
                <a:lnTo>
                  <a:pt x="665596" y="1019774"/>
                </a:lnTo>
                <a:lnTo>
                  <a:pt x="665596" y="1352275"/>
                </a:lnTo>
                <a:close/>
              </a:path>
              <a:path w="1199515" h="1352550">
                <a:moveTo>
                  <a:pt x="900822" y="1254844"/>
                </a:moveTo>
                <a:lnTo>
                  <a:pt x="665596" y="1019774"/>
                </a:lnTo>
                <a:lnTo>
                  <a:pt x="1068177" y="1019774"/>
                </a:lnTo>
                <a:lnTo>
                  <a:pt x="1102024" y="1053642"/>
                </a:lnTo>
                <a:lnTo>
                  <a:pt x="900822" y="1254844"/>
                </a:lnTo>
                <a:close/>
              </a:path>
            </a:pathLst>
          </a:custGeom>
          <a:solidFill>
            <a:srgbClr val="DEE7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697759" y="0"/>
            <a:ext cx="1561465" cy="2511425"/>
          </a:xfrm>
          <a:custGeom>
            <a:avLst/>
            <a:gdLst/>
            <a:ahLst/>
            <a:cxnLst/>
            <a:rect l="l" t="t" r="r" b="b"/>
            <a:pathLst>
              <a:path w="1561465" h="2511425">
                <a:moveTo>
                  <a:pt x="1181795" y="283381"/>
                </a:moveTo>
                <a:lnTo>
                  <a:pt x="1181795" y="246342"/>
                </a:lnTo>
                <a:lnTo>
                  <a:pt x="1561264" y="623979"/>
                </a:lnTo>
                <a:lnTo>
                  <a:pt x="1524601" y="660465"/>
                </a:lnTo>
                <a:lnTo>
                  <a:pt x="1524601" y="623979"/>
                </a:lnTo>
                <a:lnTo>
                  <a:pt x="1181795" y="283381"/>
                </a:lnTo>
                <a:close/>
              </a:path>
              <a:path w="1561465" h="2511425">
                <a:moveTo>
                  <a:pt x="1181795" y="1038102"/>
                </a:moveTo>
                <a:lnTo>
                  <a:pt x="1181795" y="1001615"/>
                </a:lnTo>
                <a:lnTo>
                  <a:pt x="1560653" y="1378641"/>
                </a:lnTo>
                <a:lnTo>
                  <a:pt x="1524601" y="1414520"/>
                </a:lnTo>
                <a:lnTo>
                  <a:pt x="1524601" y="1379252"/>
                </a:lnTo>
                <a:lnTo>
                  <a:pt x="1181795" y="1038102"/>
                </a:lnTo>
                <a:close/>
              </a:path>
              <a:path w="1561465" h="2511425">
                <a:moveTo>
                  <a:pt x="1181183" y="1792156"/>
                </a:moveTo>
                <a:lnTo>
                  <a:pt x="1181183" y="1756278"/>
                </a:lnTo>
                <a:lnTo>
                  <a:pt x="1560653" y="2133914"/>
                </a:lnTo>
                <a:lnTo>
                  <a:pt x="1524601" y="2169851"/>
                </a:lnTo>
                <a:lnTo>
                  <a:pt x="1524601" y="2133914"/>
                </a:lnTo>
                <a:lnTo>
                  <a:pt x="1181183" y="1792156"/>
                </a:lnTo>
                <a:close/>
              </a:path>
              <a:path w="1561465" h="2511425">
                <a:moveTo>
                  <a:pt x="1145131" y="1001615"/>
                </a:moveTo>
                <a:lnTo>
                  <a:pt x="1524601" y="623979"/>
                </a:lnTo>
                <a:lnTo>
                  <a:pt x="1524601" y="660465"/>
                </a:lnTo>
                <a:lnTo>
                  <a:pt x="1181795" y="1001615"/>
                </a:lnTo>
                <a:lnTo>
                  <a:pt x="1181795" y="1038102"/>
                </a:lnTo>
                <a:lnTo>
                  <a:pt x="1145131" y="1001615"/>
                </a:lnTo>
                <a:close/>
              </a:path>
              <a:path w="1561465" h="2511425">
                <a:moveTo>
                  <a:pt x="1145131" y="1756278"/>
                </a:moveTo>
                <a:lnTo>
                  <a:pt x="1524601" y="1379252"/>
                </a:lnTo>
                <a:lnTo>
                  <a:pt x="1524601" y="1414520"/>
                </a:lnTo>
                <a:lnTo>
                  <a:pt x="1181183" y="1756278"/>
                </a:lnTo>
                <a:lnTo>
                  <a:pt x="1181183" y="1792156"/>
                </a:lnTo>
                <a:lnTo>
                  <a:pt x="1145131" y="1756278"/>
                </a:lnTo>
                <a:close/>
              </a:path>
              <a:path w="1561465" h="2511425">
                <a:moveTo>
                  <a:pt x="1145579" y="2511105"/>
                </a:moveTo>
                <a:lnTo>
                  <a:pt x="1524601" y="2133914"/>
                </a:lnTo>
                <a:lnTo>
                  <a:pt x="1524601" y="2169851"/>
                </a:lnTo>
                <a:lnTo>
                  <a:pt x="1182242" y="2511105"/>
                </a:lnTo>
                <a:lnTo>
                  <a:pt x="1145579" y="2511105"/>
                </a:lnTo>
                <a:close/>
              </a:path>
              <a:path w="1561465" h="2511425">
                <a:moveTo>
                  <a:pt x="1145131" y="246953"/>
                </a:moveTo>
                <a:lnTo>
                  <a:pt x="1393283" y="0"/>
                </a:lnTo>
                <a:lnTo>
                  <a:pt x="1429734" y="0"/>
                </a:lnTo>
                <a:lnTo>
                  <a:pt x="1181795" y="246342"/>
                </a:lnTo>
                <a:lnTo>
                  <a:pt x="1181795" y="283381"/>
                </a:lnTo>
                <a:lnTo>
                  <a:pt x="1145131" y="246953"/>
                </a:lnTo>
                <a:close/>
              </a:path>
              <a:path w="1561465" h="2511425">
                <a:moveTo>
                  <a:pt x="609229" y="283381"/>
                </a:moveTo>
                <a:lnTo>
                  <a:pt x="609229" y="246342"/>
                </a:lnTo>
                <a:lnTo>
                  <a:pt x="988699" y="623979"/>
                </a:lnTo>
                <a:lnTo>
                  <a:pt x="952035" y="660465"/>
                </a:lnTo>
                <a:lnTo>
                  <a:pt x="952035" y="623979"/>
                </a:lnTo>
                <a:lnTo>
                  <a:pt x="609229" y="283381"/>
                </a:lnTo>
                <a:close/>
              </a:path>
              <a:path w="1561465" h="2511425">
                <a:moveTo>
                  <a:pt x="609229" y="1038102"/>
                </a:moveTo>
                <a:lnTo>
                  <a:pt x="609229" y="1001615"/>
                </a:lnTo>
                <a:lnTo>
                  <a:pt x="988088" y="1378641"/>
                </a:lnTo>
                <a:lnTo>
                  <a:pt x="952035" y="1414520"/>
                </a:lnTo>
                <a:lnTo>
                  <a:pt x="952035" y="1379252"/>
                </a:lnTo>
                <a:lnTo>
                  <a:pt x="609229" y="1038102"/>
                </a:lnTo>
                <a:close/>
              </a:path>
              <a:path w="1561465" h="2511425">
                <a:moveTo>
                  <a:pt x="608618" y="1792156"/>
                </a:moveTo>
                <a:lnTo>
                  <a:pt x="608618" y="1756278"/>
                </a:lnTo>
                <a:lnTo>
                  <a:pt x="988088" y="2133914"/>
                </a:lnTo>
                <a:lnTo>
                  <a:pt x="952035" y="2169851"/>
                </a:lnTo>
                <a:lnTo>
                  <a:pt x="952035" y="2133914"/>
                </a:lnTo>
                <a:lnTo>
                  <a:pt x="608618" y="1792156"/>
                </a:lnTo>
                <a:close/>
              </a:path>
              <a:path w="1561465" h="2511425">
                <a:moveTo>
                  <a:pt x="572565" y="1001615"/>
                </a:moveTo>
                <a:lnTo>
                  <a:pt x="952035" y="623979"/>
                </a:lnTo>
                <a:lnTo>
                  <a:pt x="952035" y="660465"/>
                </a:lnTo>
                <a:lnTo>
                  <a:pt x="609229" y="1001615"/>
                </a:lnTo>
                <a:lnTo>
                  <a:pt x="609229" y="1038102"/>
                </a:lnTo>
                <a:lnTo>
                  <a:pt x="572565" y="1001615"/>
                </a:lnTo>
                <a:close/>
              </a:path>
              <a:path w="1561465" h="2511425">
                <a:moveTo>
                  <a:pt x="572565" y="1756278"/>
                </a:moveTo>
                <a:lnTo>
                  <a:pt x="952035" y="1379252"/>
                </a:lnTo>
                <a:lnTo>
                  <a:pt x="952035" y="1414520"/>
                </a:lnTo>
                <a:lnTo>
                  <a:pt x="608618" y="1756278"/>
                </a:lnTo>
                <a:lnTo>
                  <a:pt x="608618" y="1792156"/>
                </a:lnTo>
                <a:lnTo>
                  <a:pt x="572565" y="1756278"/>
                </a:lnTo>
                <a:close/>
              </a:path>
              <a:path w="1561465" h="2511425">
                <a:moveTo>
                  <a:pt x="573013" y="2511105"/>
                </a:moveTo>
                <a:lnTo>
                  <a:pt x="952035" y="2133914"/>
                </a:lnTo>
                <a:lnTo>
                  <a:pt x="952035" y="2169851"/>
                </a:lnTo>
                <a:lnTo>
                  <a:pt x="609676" y="2511105"/>
                </a:lnTo>
                <a:lnTo>
                  <a:pt x="573013" y="2511105"/>
                </a:lnTo>
                <a:close/>
              </a:path>
              <a:path w="1561465" h="2511425">
                <a:moveTo>
                  <a:pt x="572565" y="246953"/>
                </a:moveTo>
                <a:lnTo>
                  <a:pt x="820718" y="0"/>
                </a:lnTo>
                <a:lnTo>
                  <a:pt x="856767" y="0"/>
                </a:lnTo>
                <a:lnTo>
                  <a:pt x="609229" y="246342"/>
                </a:lnTo>
                <a:lnTo>
                  <a:pt x="609229" y="283381"/>
                </a:lnTo>
                <a:lnTo>
                  <a:pt x="572565" y="246953"/>
                </a:lnTo>
                <a:close/>
              </a:path>
              <a:path w="1561465" h="2511425">
                <a:moveTo>
                  <a:pt x="36663" y="283381"/>
                </a:moveTo>
                <a:lnTo>
                  <a:pt x="36663" y="246342"/>
                </a:lnTo>
                <a:lnTo>
                  <a:pt x="416133" y="623979"/>
                </a:lnTo>
                <a:lnTo>
                  <a:pt x="379469" y="660465"/>
                </a:lnTo>
                <a:lnTo>
                  <a:pt x="379469" y="623979"/>
                </a:lnTo>
                <a:lnTo>
                  <a:pt x="36663" y="283381"/>
                </a:lnTo>
                <a:close/>
              </a:path>
              <a:path w="1561465" h="2511425">
                <a:moveTo>
                  <a:pt x="36663" y="1038102"/>
                </a:moveTo>
                <a:lnTo>
                  <a:pt x="36663" y="1001615"/>
                </a:lnTo>
                <a:lnTo>
                  <a:pt x="415522" y="1378641"/>
                </a:lnTo>
                <a:lnTo>
                  <a:pt x="379469" y="1414520"/>
                </a:lnTo>
                <a:lnTo>
                  <a:pt x="379469" y="1379252"/>
                </a:lnTo>
                <a:lnTo>
                  <a:pt x="36663" y="1038102"/>
                </a:lnTo>
                <a:close/>
              </a:path>
              <a:path w="1561465" h="2511425">
                <a:moveTo>
                  <a:pt x="36052" y="1792156"/>
                </a:moveTo>
                <a:lnTo>
                  <a:pt x="36052" y="1756278"/>
                </a:lnTo>
                <a:lnTo>
                  <a:pt x="415522" y="2133914"/>
                </a:lnTo>
                <a:lnTo>
                  <a:pt x="379469" y="2169851"/>
                </a:lnTo>
                <a:lnTo>
                  <a:pt x="379469" y="2133914"/>
                </a:lnTo>
                <a:lnTo>
                  <a:pt x="36052" y="1792156"/>
                </a:lnTo>
                <a:close/>
              </a:path>
              <a:path w="1561465" h="2511425">
                <a:moveTo>
                  <a:pt x="0" y="1001615"/>
                </a:moveTo>
                <a:lnTo>
                  <a:pt x="379469" y="623979"/>
                </a:lnTo>
                <a:lnTo>
                  <a:pt x="379469" y="660465"/>
                </a:lnTo>
                <a:lnTo>
                  <a:pt x="36663" y="1001615"/>
                </a:lnTo>
                <a:lnTo>
                  <a:pt x="36663" y="1038102"/>
                </a:lnTo>
                <a:lnTo>
                  <a:pt x="0" y="1001615"/>
                </a:lnTo>
                <a:close/>
              </a:path>
              <a:path w="1561465" h="2511425">
                <a:moveTo>
                  <a:pt x="0" y="1756278"/>
                </a:moveTo>
                <a:lnTo>
                  <a:pt x="379469" y="1379252"/>
                </a:lnTo>
                <a:lnTo>
                  <a:pt x="379469" y="1414520"/>
                </a:lnTo>
                <a:lnTo>
                  <a:pt x="36052" y="1756278"/>
                </a:lnTo>
                <a:lnTo>
                  <a:pt x="36052" y="1792156"/>
                </a:lnTo>
                <a:lnTo>
                  <a:pt x="0" y="1756278"/>
                </a:lnTo>
                <a:close/>
              </a:path>
              <a:path w="1561465" h="2511425">
                <a:moveTo>
                  <a:pt x="448" y="2511105"/>
                </a:moveTo>
                <a:lnTo>
                  <a:pt x="379469" y="2133914"/>
                </a:lnTo>
                <a:lnTo>
                  <a:pt x="379469" y="2169851"/>
                </a:lnTo>
                <a:lnTo>
                  <a:pt x="37111" y="2511105"/>
                </a:lnTo>
                <a:lnTo>
                  <a:pt x="448" y="2511105"/>
                </a:lnTo>
                <a:close/>
              </a:path>
              <a:path w="1561465" h="2511425">
                <a:moveTo>
                  <a:pt x="0" y="246953"/>
                </a:moveTo>
                <a:lnTo>
                  <a:pt x="248152" y="0"/>
                </a:lnTo>
                <a:lnTo>
                  <a:pt x="284202" y="0"/>
                </a:lnTo>
                <a:lnTo>
                  <a:pt x="36663" y="246342"/>
                </a:lnTo>
                <a:lnTo>
                  <a:pt x="36663" y="283381"/>
                </a:lnTo>
                <a:lnTo>
                  <a:pt x="0" y="246953"/>
                </a:lnTo>
                <a:close/>
              </a:path>
            </a:pathLst>
          </a:custGeom>
          <a:solidFill>
            <a:srgbClr val="DEE77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6557" y="9518888"/>
            <a:ext cx="102064" cy="1020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1884" y="9518888"/>
            <a:ext cx="102064" cy="1020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7210" y="9518888"/>
            <a:ext cx="102064" cy="1020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2536" y="9518888"/>
            <a:ext cx="102064" cy="1020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7863" y="9518888"/>
            <a:ext cx="102064" cy="1020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0578" y="9814214"/>
            <a:ext cx="102064" cy="1020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5905" y="9814214"/>
            <a:ext cx="102064" cy="10206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231" y="9814214"/>
            <a:ext cx="102064" cy="10206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6557" y="9814214"/>
            <a:ext cx="102064" cy="10206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1884" y="9814214"/>
            <a:ext cx="102064" cy="10206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7210" y="9814214"/>
            <a:ext cx="102064" cy="10206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2536" y="9814214"/>
            <a:ext cx="102064" cy="10206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7863" y="9814214"/>
            <a:ext cx="102064" cy="10206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1390" y="5984776"/>
            <a:ext cx="1009649" cy="100964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124230" y="4069666"/>
            <a:ext cx="5009686" cy="5277213"/>
          </a:xfrm>
          <a:prstGeom prst="rect">
            <a:avLst/>
          </a:prstGeom>
        </p:spPr>
      </p:pic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815733" y="741485"/>
            <a:ext cx="16349344" cy="2425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sz="4500" dirty="0"/>
              <a:t>YIELDLENS:</a:t>
            </a:r>
            <a:r>
              <a:rPr sz="4500" spc="5" dirty="0"/>
              <a:t> </a:t>
            </a:r>
            <a:r>
              <a:rPr sz="4500" spc="-90" dirty="0"/>
              <a:t>STABILITY-</a:t>
            </a:r>
            <a:r>
              <a:rPr sz="4500" spc="-520" dirty="0"/>
              <a:t>AW</a:t>
            </a:r>
            <a:r>
              <a:rPr sz="4500" spc="-10" dirty="0"/>
              <a:t>ARE</a:t>
            </a:r>
            <a:r>
              <a:rPr sz="4500" spc="10" dirty="0"/>
              <a:t> </a:t>
            </a:r>
            <a:r>
              <a:rPr sz="4500" dirty="0"/>
              <a:t>SENSOR</a:t>
            </a:r>
            <a:r>
              <a:rPr sz="4500" spc="5" dirty="0"/>
              <a:t> </a:t>
            </a:r>
            <a:r>
              <a:rPr sz="4500" dirty="0"/>
              <a:t>REDUCTION</a:t>
            </a:r>
            <a:r>
              <a:rPr sz="4500" spc="10" dirty="0"/>
              <a:t> </a:t>
            </a:r>
            <a:r>
              <a:rPr sz="4500" spc="-25" dirty="0"/>
              <a:t>FOR </a:t>
            </a:r>
            <a:r>
              <a:rPr sz="4500" dirty="0"/>
              <a:t>SEMICONDUCTOR</a:t>
            </a:r>
            <a:r>
              <a:rPr sz="4500" spc="-225" dirty="0"/>
              <a:t> </a:t>
            </a:r>
            <a:r>
              <a:rPr sz="4500" dirty="0"/>
              <a:t>YIELD</a:t>
            </a:r>
            <a:r>
              <a:rPr sz="4500" spc="-60" dirty="0"/>
              <a:t> </a:t>
            </a:r>
            <a:r>
              <a:rPr sz="4500" dirty="0"/>
              <a:t>MONITORING</a:t>
            </a:r>
            <a:r>
              <a:rPr sz="4500" spc="-55" dirty="0"/>
              <a:t> </a:t>
            </a:r>
            <a:r>
              <a:rPr sz="4500" spc="-10" dirty="0"/>
              <a:t>USING</a:t>
            </a:r>
            <a:endParaRPr sz="4500"/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4500" dirty="0"/>
              <a:t>CHRONOLOGICAL</a:t>
            </a:r>
            <a:r>
              <a:rPr sz="4500" spc="-260" dirty="0"/>
              <a:t> </a:t>
            </a:r>
            <a:r>
              <a:rPr sz="4500" dirty="0"/>
              <a:t>DRIFT</a:t>
            </a:r>
            <a:r>
              <a:rPr sz="4500" spc="-165" dirty="0"/>
              <a:t> </a:t>
            </a:r>
            <a:r>
              <a:rPr sz="4500" spc="-505" dirty="0"/>
              <a:t>V</a:t>
            </a:r>
            <a:r>
              <a:rPr sz="4500" spc="80" dirty="0"/>
              <a:t>ALID</a:t>
            </a:r>
            <a:r>
              <a:rPr sz="4500" spc="-260" dirty="0"/>
              <a:t>A</a:t>
            </a:r>
            <a:r>
              <a:rPr sz="4500" spc="80" dirty="0"/>
              <a:t>TION</a:t>
            </a:r>
            <a:endParaRPr sz="4500"/>
          </a:p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1390" y="7273742"/>
            <a:ext cx="1009649" cy="100964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478953" y="6162523"/>
            <a:ext cx="2713355" cy="20967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3065"/>
              </a:lnSpc>
              <a:spcBef>
                <a:spcPts val="125"/>
              </a:spcBef>
            </a:pPr>
            <a:r>
              <a:rPr sz="2700" dirty="0">
                <a:solidFill>
                  <a:srgbClr val="3704B5"/>
                </a:solidFill>
                <a:latin typeface="Arial Black"/>
                <a:cs typeface="Arial Black"/>
              </a:rPr>
              <a:t>Karthick</a:t>
            </a:r>
            <a:r>
              <a:rPr sz="2700" spc="-45" dirty="0">
                <a:solidFill>
                  <a:srgbClr val="3704B5"/>
                </a:solidFill>
                <a:latin typeface="Arial Black"/>
                <a:cs typeface="Arial Black"/>
              </a:rPr>
              <a:t> </a:t>
            </a:r>
            <a:r>
              <a:rPr sz="2700" spc="85" dirty="0">
                <a:solidFill>
                  <a:srgbClr val="3704B5"/>
                </a:solidFill>
                <a:latin typeface="Arial Black"/>
                <a:cs typeface="Arial Black"/>
              </a:rPr>
              <a:t>S</a:t>
            </a:r>
            <a:endParaRPr sz="2700">
              <a:latin typeface="Arial Black"/>
              <a:cs typeface="Arial Black"/>
            </a:endParaRPr>
          </a:p>
          <a:p>
            <a:pPr marL="12700">
              <a:lnSpc>
                <a:spcPts val="3065"/>
              </a:lnSpc>
            </a:pPr>
            <a:r>
              <a:rPr sz="2700" spc="110" dirty="0">
                <a:solidFill>
                  <a:srgbClr val="360F66"/>
                </a:solidFill>
                <a:latin typeface="Lucida Sans Unicode"/>
                <a:cs typeface="Lucida Sans Unicode"/>
              </a:rPr>
              <a:t>Author</a:t>
            </a:r>
            <a:endParaRPr sz="2700">
              <a:latin typeface="Lucida Sans Unicode"/>
              <a:cs typeface="Lucida Sans Unicode"/>
            </a:endParaRPr>
          </a:p>
          <a:p>
            <a:pPr marL="12700">
              <a:lnSpc>
                <a:spcPts val="3065"/>
              </a:lnSpc>
              <a:spcBef>
                <a:spcPts val="4025"/>
              </a:spcBef>
            </a:pPr>
            <a:r>
              <a:rPr sz="2700" dirty="0">
                <a:solidFill>
                  <a:srgbClr val="3704B5"/>
                </a:solidFill>
                <a:latin typeface="Arial Black"/>
                <a:cs typeface="Arial Black"/>
              </a:rPr>
              <a:t>Karthikeyan</a:t>
            </a:r>
            <a:r>
              <a:rPr sz="2700" spc="55" dirty="0">
                <a:solidFill>
                  <a:srgbClr val="3704B5"/>
                </a:solidFill>
                <a:latin typeface="Arial Black"/>
                <a:cs typeface="Arial Black"/>
              </a:rPr>
              <a:t> </a:t>
            </a:r>
            <a:r>
              <a:rPr sz="2700" spc="85" dirty="0">
                <a:solidFill>
                  <a:srgbClr val="3704B5"/>
                </a:solidFill>
                <a:latin typeface="Arial Black"/>
                <a:cs typeface="Arial Black"/>
              </a:rPr>
              <a:t>S</a:t>
            </a:r>
            <a:endParaRPr sz="2700">
              <a:latin typeface="Arial Black"/>
              <a:cs typeface="Arial Black"/>
            </a:endParaRPr>
          </a:p>
          <a:p>
            <a:pPr marL="12700">
              <a:lnSpc>
                <a:spcPts val="3065"/>
              </a:lnSpc>
            </a:pPr>
            <a:r>
              <a:rPr sz="2700" spc="110" dirty="0">
                <a:solidFill>
                  <a:srgbClr val="360F66"/>
                </a:solidFill>
                <a:latin typeface="Lucida Sans Unicode"/>
                <a:cs typeface="Lucida Sans Unicode"/>
              </a:rPr>
              <a:t>Author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20043" y="8801589"/>
            <a:ext cx="3413396" cy="81560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3065"/>
              </a:lnSpc>
              <a:spcBef>
                <a:spcPts val="125"/>
              </a:spcBef>
            </a:pPr>
            <a:r>
              <a:rPr lang="en-US" sz="2700" dirty="0">
                <a:solidFill>
                  <a:srgbClr val="3704B5"/>
                </a:solidFill>
                <a:latin typeface="Arial Black"/>
                <a:cs typeface="Arial Black"/>
              </a:rPr>
              <a:t>Vidhursh Kumar V</a:t>
            </a:r>
            <a:endParaRPr sz="2700" dirty="0">
              <a:latin typeface="Arial Black"/>
              <a:cs typeface="Arial Black"/>
            </a:endParaRPr>
          </a:p>
          <a:p>
            <a:pPr marL="12700">
              <a:lnSpc>
                <a:spcPts val="3065"/>
              </a:lnSpc>
            </a:pPr>
            <a:r>
              <a:rPr sz="2700" spc="315" dirty="0">
                <a:solidFill>
                  <a:srgbClr val="360F66"/>
                </a:solidFill>
                <a:latin typeface="Lucida Sans Unicode"/>
                <a:cs typeface="Lucida Sans Unicode"/>
              </a:rPr>
              <a:t>Co</a:t>
            </a:r>
            <a:r>
              <a:rPr sz="2700" spc="-215" dirty="0">
                <a:solidFill>
                  <a:srgbClr val="360F66"/>
                </a:solidFill>
                <a:latin typeface="Lucida Sans Unicode"/>
                <a:cs typeface="Lucida Sans Unicode"/>
              </a:rPr>
              <a:t> </a:t>
            </a:r>
            <a:r>
              <a:rPr sz="2700" spc="-150" dirty="0">
                <a:solidFill>
                  <a:srgbClr val="360F66"/>
                </a:solidFill>
                <a:latin typeface="Lucida Sans Unicode"/>
                <a:cs typeface="Lucida Sans Unicode"/>
              </a:rPr>
              <a:t>-</a:t>
            </a:r>
            <a:r>
              <a:rPr sz="2700" spc="-215" dirty="0">
                <a:solidFill>
                  <a:srgbClr val="360F66"/>
                </a:solidFill>
                <a:latin typeface="Lucida Sans Unicode"/>
                <a:cs typeface="Lucida Sans Unicode"/>
              </a:rPr>
              <a:t> </a:t>
            </a:r>
            <a:r>
              <a:rPr sz="2700" spc="110" dirty="0">
                <a:solidFill>
                  <a:srgbClr val="360F66"/>
                </a:solidFill>
                <a:latin typeface="Lucida Sans Unicode"/>
                <a:cs typeface="Lucida Sans Unicode"/>
              </a:rPr>
              <a:t>Author</a:t>
            </a:r>
            <a:endParaRPr sz="2700" dirty="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31359" y="8865837"/>
            <a:ext cx="2205355" cy="8077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3065"/>
              </a:lnSpc>
              <a:spcBef>
                <a:spcPts val="125"/>
              </a:spcBef>
            </a:pPr>
            <a:r>
              <a:rPr sz="2700" spc="45" dirty="0">
                <a:solidFill>
                  <a:srgbClr val="3704B5"/>
                </a:solidFill>
                <a:latin typeface="Arial Black"/>
                <a:cs typeface="Arial Black"/>
              </a:rPr>
              <a:t>Selvarani</a:t>
            </a:r>
            <a:r>
              <a:rPr sz="2700" spc="-235" dirty="0">
                <a:solidFill>
                  <a:srgbClr val="3704B5"/>
                </a:solidFill>
                <a:latin typeface="Arial Black"/>
                <a:cs typeface="Arial Black"/>
              </a:rPr>
              <a:t> </a:t>
            </a:r>
            <a:r>
              <a:rPr sz="2700" spc="-50" dirty="0">
                <a:solidFill>
                  <a:srgbClr val="3704B5"/>
                </a:solidFill>
                <a:latin typeface="Arial Black"/>
                <a:cs typeface="Arial Black"/>
              </a:rPr>
              <a:t>K</a:t>
            </a:r>
            <a:endParaRPr sz="2700" dirty="0">
              <a:latin typeface="Arial Black"/>
              <a:cs typeface="Arial Black"/>
            </a:endParaRPr>
          </a:p>
          <a:p>
            <a:pPr marL="12700">
              <a:lnSpc>
                <a:spcPts val="3065"/>
              </a:lnSpc>
            </a:pPr>
            <a:r>
              <a:rPr sz="2700" spc="315" dirty="0">
                <a:solidFill>
                  <a:srgbClr val="360F66"/>
                </a:solidFill>
                <a:latin typeface="Lucida Sans Unicode"/>
                <a:cs typeface="Lucida Sans Unicode"/>
              </a:rPr>
              <a:t>Co</a:t>
            </a:r>
            <a:r>
              <a:rPr sz="2700" spc="-215" dirty="0">
                <a:solidFill>
                  <a:srgbClr val="360F66"/>
                </a:solidFill>
                <a:latin typeface="Lucida Sans Unicode"/>
                <a:cs typeface="Lucida Sans Unicode"/>
              </a:rPr>
              <a:t> </a:t>
            </a:r>
            <a:r>
              <a:rPr sz="2700" spc="-150" dirty="0">
                <a:solidFill>
                  <a:srgbClr val="360F66"/>
                </a:solidFill>
                <a:latin typeface="Lucida Sans Unicode"/>
                <a:cs typeface="Lucida Sans Unicode"/>
              </a:rPr>
              <a:t>-</a:t>
            </a:r>
            <a:r>
              <a:rPr sz="2700" spc="-215" dirty="0">
                <a:solidFill>
                  <a:srgbClr val="360F66"/>
                </a:solidFill>
                <a:latin typeface="Lucida Sans Unicode"/>
                <a:cs typeface="Lucida Sans Unicode"/>
              </a:rPr>
              <a:t> </a:t>
            </a:r>
            <a:r>
              <a:rPr sz="2700" spc="110" dirty="0">
                <a:solidFill>
                  <a:srgbClr val="360F66"/>
                </a:solidFill>
                <a:latin typeface="Lucida Sans Unicode"/>
                <a:cs typeface="Lucida Sans Unicode"/>
              </a:rPr>
              <a:t>Author</a:t>
            </a:r>
            <a:endParaRPr sz="2700" dirty="0">
              <a:latin typeface="Lucida Sans Unicode"/>
              <a:cs typeface="Lucida Sans Unicode"/>
            </a:endParaRPr>
          </a:p>
        </p:txBody>
      </p:sp>
      <p:pic>
        <p:nvPicPr>
          <p:cNvPr id="25" name="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14694" y="8659924"/>
            <a:ext cx="1009447" cy="1013633"/>
          </a:xfrm>
          <a:prstGeom prst="rect">
            <a:avLst/>
          </a:prstGeom>
        </p:spPr>
      </p:pic>
      <p:pic>
        <p:nvPicPr>
          <p:cNvPr id="27" name="object 20">
            <a:extLst>
              <a:ext uri="{FF2B5EF4-FFF2-40B4-BE49-F238E27FC236}">
                <a16:creationId xmlns:a16="http://schemas.microsoft.com/office/drawing/2014/main" id="{A578D164-E179-B017-60E0-78E05C672BDA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2614" y="8543978"/>
            <a:ext cx="1009649" cy="10096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461286"/>
            <a:ext cx="1506220" cy="1826260"/>
          </a:xfrm>
          <a:custGeom>
            <a:avLst/>
            <a:gdLst/>
            <a:ahLst/>
            <a:cxnLst/>
            <a:rect l="l" t="t" r="r" b="b"/>
            <a:pathLst>
              <a:path w="1506220" h="1826259">
                <a:moveTo>
                  <a:pt x="490209" y="1825713"/>
                </a:moveTo>
                <a:lnTo>
                  <a:pt x="490209" y="0"/>
                </a:lnTo>
                <a:lnTo>
                  <a:pt x="538034" y="1105"/>
                </a:lnTo>
                <a:lnTo>
                  <a:pt x="585291" y="4391"/>
                </a:lnTo>
                <a:lnTo>
                  <a:pt x="631929" y="9808"/>
                </a:lnTo>
                <a:lnTo>
                  <a:pt x="677900" y="17306"/>
                </a:lnTo>
                <a:lnTo>
                  <a:pt x="723156" y="26838"/>
                </a:lnTo>
                <a:lnTo>
                  <a:pt x="767646" y="38354"/>
                </a:lnTo>
                <a:lnTo>
                  <a:pt x="811324" y="51805"/>
                </a:lnTo>
                <a:lnTo>
                  <a:pt x="854140" y="67143"/>
                </a:lnTo>
                <a:lnTo>
                  <a:pt x="896045" y="84319"/>
                </a:lnTo>
                <a:lnTo>
                  <a:pt x="936990" y="103284"/>
                </a:lnTo>
                <a:lnTo>
                  <a:pt x="976927" y="123988"/>
                </a:lnTo>
                <a:lnTo>
                  <a:pt x="1015807" y="146384"/>
                </a:lnTo>
                <a:lnTo>
                  <a:pt x="1053581" y="170422"/>
                </a:lnTo>
                <a:lnTo>
                  <a:pt x="1090200" y="196054"/>
                </a:lnTo>
                <a:lnTo>
                  <a:pt x="1125616" y="223230"/>
                </a:lnTo>
                <a:lnTo>
                  <a:pt x="1159780" y="251902"/>
                </a:lnTo>
                <a:lnTo>
                  <a:pt x="1192643" y="282021"/>
                </a:lnTo>
                <a:lnTo>
                  <a:pt x="1224156" y="313538"/>
                </a:lnTo>
                <a:lnTo>
                  <a:pt x="1254270" y="346404"/>
                </a:lnTo>
                <a:lnTo>
                  <a:pt x="1282938" y="380571"/>
                </a:lnTo>
                <a:lnTo>
                  <a:pt x="1310109" y="415989"/>
                </a:lnTo>
                <a:lnTo>
                  <a:pt x="1335735" y="452610"/>
                </a:lnTo>
                <a:lnTo>
                  <a:pt x="1359768" y="490385"/>
                </a:lnTo>
                <a:lnTo>
                  <a:pt x="1382158" y="529264"/>
                </a:lnTo>
                <a:lnTo>
                  <a:pt x="1402858" y="569200"/>
                </a:lnTo>
                <a:lnTo>
                  <a:pt x="1421817" y="610144"/>
                </a:lnTo>
                <a:lnTo>
                  <a:pt x="1438988" y="652045"/>
                </a:lnTo>
                <a:lnTo>
                  <a:pt x="1454321" y="694856"/>
                </a:lnTo>
                <a:lnTo>
                  <a:pt x="1467768" y="738528"/>
                </a:lnTo>
                <a:lnTo>
                  <a:pt x="1479280" y="783012"/>
                </a:lnTo>
                <a:lnTo>
                  <a:pt x="1488809" y="828259"/>
                </a:lnTo>
                <a:lnTo>
                  <a:pt x="1496305" y="874220"/>
                </a:lnTo>
                <a:lnTo>
                  <a:pt x="1501719" y="920846"/>
                </a:lnTo>
                <a:lnTo>
                  <a:pt x="1505004" y="968089"/>
                </a:lnTo>
                <a:lnTo>
                  <a:pt x="1506109" y="1015900"/>
                </a:lnTo>
                <a:lnTo>
                  <a:pt x="1505004" y="1063711"/>
                </a:lnTo>
                <a:lnTo>
                  <a:pt x="1501719" y="1110954"/>
                </a:lnTo>
                <a:lnTo>
                  <a:pt x="1496305" y="1157580"/>
                </a:lnTo>
                <a:lnTo>
                  <a:pt x="1488809" y="1203541"/>
                </a:lnTo>
                <a:lnTo>
                  <a:pt x="1479280" y="1248788"/>
                </a:lnTo>
                <a:lnTo>
                  <a:pt x="1467768" y="1293272"/>
                </a:lnTo>
                <a:lnTo>
                  <a:pt x="1454321" y="1336944"/>
                </a:lnTo>
                <a:lnTo>
                  <a:pt x="1438988" y="1379755"/>
                </a:lnTo>
                <a:lnTo>
                  <a:pt x="1421817" y="1421657"/>
                </a:lnTo>
                <a:lnTo>
                  <a:pt x="1402858" y="1462600"/>
                </a:lnTo>
                <a:lnTo>
                  <a:pt x="1382158" y="1502536"/>
                </a:lnTo>
                <a:lnTo>
                  <a:pt x="1359768" y="1541415"/>
                </a:lnTo>
                <a:lnTo>
                  <a:pt x="1335735" y="1579190"/>
                </a:lnTo>
                <a:lnTo>
                  <a:pt x="1310109" y="1615811"/>
                </a:lnTo>
                <a:lnTo>
                  <a:pt x="1282938" y="1651229"/>
                </a:lnTo>
                <a:lnTo>
                  <a:pt x="1254270" y="1685396"/>
                </a:lnTo>
                <a:lnTo>
                  <a:pt x="1224156" y="1718262"/>
                </a:lnTo>
                <a:lnTo>
                  <a:pt x="1192643" y="1749779"/>
                </a:lnTo>
                <a:lnTo>
                  <a:pt x="1159780" y="1779898"/>
                </a:lnTo>
                <a:lnTo>
                  <a:pt x="1125616" y="1808570"/>
                </a:lnTo>
                <a:lnTo>
                  <a:pt x="1103276" y="1825713"/>
                </a:lnTo>
                <a:lnTo>
                  <a:pt x="490209" y="1825713"/>
                </a:lnTo>
                <a:close/>
              </a:path>
              <a:path w="1506220" h="1826259">
                <a:moveTo>
                  <a:pt x="0" y="1825713"/>
                </a:moveTo>
                <a:lnTo>
                  <a:pt x="0" y="136150"/>
                </a:lnTo>
                <a:lnTo>
                  <a:pt x="32707" y="155738"/>
                </a:lnTo>
                <a:lnTo>
                  <a:pt x="71227" y="181260"/>
                </a:lnTo>
                <a:lnTo>
                  <a:pt x="108492" y="208459"/>
                </a:lnTo>
                <a:lnTo>
                  <a:pt x="144448" y="237284"/>
                </a:lnTo>
                <a:lnTo>
                  <a:pt x="179041" y="267679"/>
                </a:lnTo>
                <a:lnTo>
                  <a:pt x="212219" y="299592"/>
                </a:lnTo>
                <a:lnTo>
                  <a:pt x="243926" y="332967"/>
                </a:lnTo>
                <a:lnTo>
                  <a:pt x="274110" y="367752"/>
                </a:lnTo>
                <a:lnTo>
                  <a:pt x="302717" y="403892"/>
                </a:lnTo>
                <a:lnTo>
                  <a:pt x="329692" y="441333"/>
                </a:lnTo>
                <a:lnTo>
                  <a:pt x="354983" y="480023"/>
                </a:lnTo>
                <a:lnTo>
                  <a:pt x="378535" y="519906"/>
                </a:lnTo>
                <a:lnTo>
                  <a:pt x="400295" y="560929"/>
                </a:lnTo>
                <a:lnTo>
                  <a:pt x="420209" y="603039"/>
                </a:lnTo>
                <a:lnTo>
                  <a:pt x="438223" y="646181"/>
                </a:lnTo>
                <a:lnTo>
                  <a:pt x="454284" y="690301"/>
                </a:lnTo>
                <a:lnTo>
                  <a:pt x="468337" y="735347"/>
                </a:lnTo>
                <a:lnTo>
                  <a:pt x="480330" y="781263"/>
                </a:lnTo>
                <a:lnTo>
                  <a:pt x="490209" y="827996"/>
                </a:lnTo>
                <a:lnTo>
                  <a:pt x="490209" y="1203618"/>
                </a:lnTo>
                <a:lnTo>
                  <a:pt x="480330" y="1250351"/>
                </a:lnTo>
                <a:lnTo>
                  <a:pt x="468337" y="1296269"/>
                </a:lnTo>
                <a:lnTo>
                  <a:pt x="454284" y="1341317"/>
                </a:lnTo>
                <a:lnTo>
                  <a:pt x="438223" y="1385441"/>
                </a:lnTo>
                <a:lnTo>
                  <a:pt x="420209" y="1428588"/>
                </a:lnTo>
                <a:lnTo>
                  <a:pt x="400295" y="1470703"/>
                </a:lnTo>
                <a:lnTo>
                  <a:pt x="378535" y="1511733"/>
                </a:lnTo>
                <a:lnTo>
                  <a:pt x="354983" y="1551623"/>
                </a:lnTo>
                <a:lnTo>
                  <a:pt x="329692" y="1590320"/>
                </a:lnTo>
                <a:lnTo>
                  <a:pt x="302717" y="1627770"/>
                </a:lnTo>
                <a:lnTo>
                  <a:pt x="274110" y="1663918"/>
                </a:lnTo>
                <a:lnTo>
                  <a:pt x="243926" y="1698712"/>
                </a:lnTo>
                <a:lnTo>
                  <a:pt x="212219" y="1732096"/>
                </a:lnTo>
                <a:lnTo>
                  <a:pt x="179041" y="1764018"/>
                </a:lnTo>
                <a:lnTo>
                  <a:pt x="144448" y="1794423"/>
                </a:lnTo>
                <a:lnTo>
                  <a:pt x="108492" y="1823256"/>
                </a:lnTo>
                <a:lnTo>
                  <a:pt x="105128" y="1825713"/>
                </a:lnTo>
                <a:lnTo>
                  <a:pt x="0" y="1825713"/>
                </a:lnTo>
                <a:close/>
              </a:path>
            </a:pathLst>
          </a:custGeom>
          <a:solidFill>
            <a:srgbClr val="DEE77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14911" y="4912883"/>
            <a:ext cx="102064" cy="1020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10237" y="4912883"/>
            <a:ext cx="102064" cy="1020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05565" y="4912883"/>
            <a:ext cx="102064" cy="1020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00891" y="4912883"/>
            <a:ext cx="102064" cy="1020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96217" y="4912883"/>
            <a:ext cx="102064" cy="1020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91544" y="4912883"/>
            <a:ext cx="102064" cy="1020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86870" y="4912883"/>
            <a:ext cx="102064" cy="1020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82196" y="4912883"/>
            <a:ext cx="102064" cy="10206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14911" y="5208210"/>
            <a:ext cx="102064" cy="10206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10237" y="5208210"/>
            <a:ext cx="102064" cy="10206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05565" y="5208210"/>
            <a:ext cx="102064" cy="10206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00891" y="5208210"/>
            <a:ext cx="102064" cy="10206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96217" y="5208210"/>
            <a:ext cx="102064" cy="10206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91544" y="5208210"/>
            <a:ext cx="102064" cy="10206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86870" y="5208210"/>
            <a:ext cx="102064" cy="10206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82196" y="5208210"/>
            <a:ext cx="102064" cy="102064"/>
          </a:xfrm>
          <a:prstGeom prst="rect">
            <a:avLst/>
          </a:prstGeom>
        </p:spPr>
      </p:pic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5853421" y="44450"/>
            <a:ext cx="629666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Problem</a:t>
            </a:r>
            <a:r>
              <a:rPr sz="6000" spc="-110" dirty="0"/>
              <a:t> </a:t>
            </a:r>
            <a:r>
              <a:rPr sz="6000" spc="-10" dirty="0"/>
              <a:t>Statement</a:t>
            </a:r>
            <a:endParaRPr sz="6000"/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0408" y="6499661"/>
            <a:ext cx="76200" cy="7619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0408" y="6833037"/>
            <a:ext cx="76200" cy="7619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0408" y="7166412"/>
            <a:ext cx="76200" cy="76199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403233" y="1423633"/>
            <a:ext cx="17212310" cy="2228215"/>
          </a:xfrm>
          <a:custGeom>
            <a:avLst/>
            <a:gdLst/>
            <a:ahLst/>
            <a:cxnLst/>
            <a:rect l="l" t="t" r="r" b="b"/>
            <a:pathLst>
              <a:path w="17212310" h="2228215">
                <a:moveTo>
                  <a:pt x="16935885" y="2228093"/>
                </a:moveTo>
                <a:lnTo>
                  <a:pt x="276225" y="2228093"/>
                </a:lnTo>
                <a:lnTo>
                  <a:pt x="226573" y="2223643"/>
                </a:lnTo>
                <a:lnTo>
                  <a:pt x="179841" y="2210812"/>
                </a:lnTo>
                <a:lnTo>
                  <a:pt x="136808" y="2190380"/>
                </a:lnTo>
                <a:lnTo>
                  <a:pt x="98256" y="2163128"/>
                </a:lnTo>
                <a:lnTo>
                  <a:pt x="64964" y="2129836"/>
                </a:lnTo>
                <a:lnTo>
                  <a:pt x="37712" y="2091284"/>
                </a:lnTo>
                <a:lnTo>
                  <a:pt x="17281" y="2048252"/>
                </a:lnTo>
                <a:lnTo>
                  <a:pt x="4450" y="2001520"/>
                </a:lnTo>
                <a:lnTo>
                  <a:pt x="0" y="1951868"/>
                </a:lnTo>
                <a:lnTo>
                  <a:pt x="0" y="276225"/>
                </a:lnTo>
                <a:lnTo>
                  <a:pt x="4450" y="226573"/>
                </a:lnTo>
                <a:lnTo>
                  <a:pt x="17281" y="179841"/>
                </a:lnTo>
                <a:lnTo>
                  <a:pt x="37712" y="136808"/>
                </a:lnTo>
                <a:lnTo>
                  <a:pt x="64964" y="98256"/>
                </a:lnTo>
                <a:lnTo>
                  <a:pt x="98256" y="64964"/>
                </a:lnTo>
                <a:lnTo>
                  <a:pt x="136808" y="37712"/>
                </a:lnTo>
                <a:lnTo>
                  <a:pt x="179841" y="17281"/>
                </a:lnTo>
                <a:lnTo>
                  <a:pt x="226573" y="4450"/>
                </a:lnTo>
                <a:lnTo>
                  <a:pt x="276225" y="0"/>
                </a:lnTo>
                <a:lnTo>
                  <a:pt x="16935885" y="0"/>
                </a:lnTo>
                <a:lnTo>
                  <a:pt x="16985537" y="4450"/>
                </a:lnTo>
                <a:lnTo>
                  <a:pt x="17032269" y="17281"/>
                </a:lnTo>
                <a:lnTo>
                  <a:pt x="17075301" y="37712"/>
                </a:lnTo>
                <a:lnTo>
                  <a:pt x="17113854" y="64964"/>
                </a:lnTo>
                <a:lnTo>
                  <a:pt x="17147146" y="98256"/>
                </a:lnTo>
                <a:lnTo>
                  <a:pt x="17174398" y="136808"/>
                </a:lnTo>
                <a:lnTo>
                  <a:pt x="17194830" y="179841"/>
                </a:lnTo>
                <a:lnTo>
                  <a:pt x="17207661" y="226573"/>
                </a:lnTo>
                <a:lnTo>
                  <a:pt x="17212111" y="276225"/>
                </a:lnTo>
                <a:lnTo>
                  <a:pt x="17212111" y="1951868"/>
                </a:lnTo>
                <a:lnTo>
                  <a:pt x="17207661" y="2001520"/>
                </a:lnTo>
                <a:lnTo>
                  <a:pt x="17194830" y="2048252"/>
                </a:lnTo>
                <a:lnTo>
                  <a:pt x="17174398" y="2091284"/>
                </a:lnTo>
                <a:lnTo>
                  <a:pt x="17147146" y="2129836"/>
                </a:lnTo>
                <a:lnTo>
                  <a:pt x="17113854" y="2163128"/>
                </a:lnTo>
                <a:lnTo>
                  <a:pt x="17075301" y="2190380"/>
                </a:lnTo>
                <a:lnTo>
                  <a:pt x="17032269" y="2210812"/>
                </a:lnTo>
                <a:lnTo>
                  <a:pt x="16985537" y="2223643"/>
                </a:lnTo>
                <a:lnTo>
                  <a:pt x="16935885" y="2228093"/>
                </a:lnTo>
                <a:close/>
              </a:path>
            </a:pathLst>
          </a:custGeom>
          <a:solidFill>
            <a:srgbClr val="DEE7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90533" y="1558451"/>
            <a:ext cx="17237710" cy="5791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462280" algn="just">
              <a:lnSpc>
                <a:spcPct val="115900"/>
              </a:lnSpc>
              <a:spcBef>
                <a:spcPts val="95"/>
              </a:spcBef>
            </a:pPr>
            <a:r>
              <a:rPr sz="2600" b="1" i="1" dirty="0">
                <a:latin typeface="Times New Roman"/>
                <a:cs typeface="Times New Roman"/>
              </a:rPr>
              <a:t>Existing</a:t>
            </a:r>
            <a:r>
              <a:rPr sz="2600" b="1" i="1" spc="39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feature</a:t>
            </a:r>
            <a:r>
              <a:rPr sz="2600" b="1" i="1" spc="40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selection</a:t>
            </a:r>
            <a:r>
              <a:rPr sz="2600" b="1" i="1" spc="40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methods</a:t>
            </a:r>
            <a:r>
              <a:rPr sz="2600" b="1" i="1" spc="40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rank</a:t>
            </a:r>
            <a:r>
              <a:rPr sz="2600" b="1" i="1" spc="39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sensors</a:t>
            </a:r>
            <a:r>
              <a:rPr sz="2600" b="1" i="1" spc="40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using</a:t>
            </a:r>
            <a:r>
              <a:rPr sz="2600" b="1" i="1" spc="40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a</a:t>
            </a:r>
            <a:r>
              <a:rPr sz="2600" b="1" i="1" spc="40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single</a:t>
            </a:r>
            <a:r>
              <a:rPr sz="2600" b="1" i="1" spc="40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snapshot</a:t>
            </a:r>
            <a:r>
              <a:rPr sz="2600" b="1" i="1" spc="39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of</a:t>
            </a:r>
            <a:r>
              <a:rPr sz="2600" b="1" i="1" spc="40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data,</a:t>
            </a:r>
            <a:r>
              <a:rPr sz="2600" b="1" i="1" spc="40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assuming</a:t>
            </a:r>
            <a:r>
              <a:rPr sz="2600" b="1" i="1" spc="40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that</a:t>
            </a:r>
            <a:r>
              <a:rPr sz="2600" b="1" i="1" spc="39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sensor</a:t>
            </a:r>
            <a:r>
              <a:rPr sz="2600" b="1" i="1" spc="400" dirty="0">
                <a:latin typeface="Times New Roman"/>
                <a:cs typeface="Times New Roman"/>
              </a:rPr>
              <a:t> </a:t>
            </a:r>
            <a:r>
              <a:rPr sz="2600" b="1" i="1" spc="-10" dirty="0">
                <a:latin typeface="Times New Roman"/>
                <a:cs typeface="Times New Roman"/>
              </a:rPr>
              <a:t>importance </a:t>
            </a:r>
            <a:r>
              <a:rPr sz="2600" b="1" i="1" dirty="0">
                <a:latin typeface="Times New Roman"/>
                <a:cs typeface="Times New Roman"/>
              </a:rPr>
              <a:t>remains</a:t>
            </a:r>
            <a:r>
              <a:rPr sz="2600" b="1" i="1" spc="14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constant</a:t>
            </a:r>
            <a:r>
              <a:rPr sz="2600" b="1" i="1" spc="14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over</a:t>
            </a:r>
            <a:r>
              <a:rPr sz="2600" b="1" i="1" spc="15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time.</a:t>
            </a:r>
            <a:r>
              <a:rPr sz="2600" b="1" i="1" spc="14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However,</a:t>
            </a:r>
            <a:r>
              <a:rPr sz="2600" b="1" i="1" spc="15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in</a:t>
            </a:r>
            <a:r>
              <a:rPr sz="2600" b="1" i="1" spc="14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semiconductor</a:t>
            </a:r>
            <a:r>
              <a:rPr sz="2600" b="1" i="1" spc="15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manufacturing,</a:t>
            </a:r>
            <a:r>
              <a:rPr sz="2600" b="1" i="1" spc="14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sensor</a:t>
            </a:r>
            <a:r>
              <a:rPr sz="2600" b="1" i="1" spc="15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behavior</a:t>
            </a:r>
            <a:r>
              <a:rPr sz="2600" b="1" i="1" spc="14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changes</a:t>
            </a:r>
            <a:r>
              <a:rPr sz="2600" b="1" i="1" spc="15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due</a:t>
            </a:r>
            <a:r>
              <a:rPr sz="2600" b="1" i="1" spc="14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to</a:t>
            </a:r>
            <a:r>
              <a:rPr sz="2600" b="1" i="1" spc="15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process</a:t>
            </a:r>
            <a:r>
              <a:rPr sz="2600" b="1" i="1" spc="145" dirty="0">
                <a:latin typeface="Times New Roman"/>
                <a:cs typeface="Times New Roman"/>
              </a:rPr>
              <a:t> </a:t>
            </a:r>
            <a:r>
              <a:rPr sz="2600" b="1" i="1" spc="-10" dirty="0">
                <a:latin typeface="Times New Roman"/>
                <a:cs typeface="Times New Roman"/>
              </a:rPr>
              <a:t>drift, </a:t>
            </a:r>
            <a:r>
              <a:rPr sz="2600" b="1" i="1" dirty="0">
                <a:latin typeface="Times New Roman"/>
                <a:cs typeface="Times New Roman"/>
              </a:rPr>
              <a:t>making</a:t>
            </a:r>
            <a:r>
              <a:rPr sz="2600" b="1" i="1" spc="24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these</a:t>
            </a:r>
            <a:r>
              <a:rPr sz="2600" b="1" i="1" spc="24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methods</a:t>
            </a:r>
            <a:r>
              <a:rPr sz="2600" b="1" i="1" spc="24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unreliable</a:t>
            </a:r>
            <a:r>
              <a:rPr sz="2600" b="1" i="1" spc="24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for</a:t>
            </a:r>
            <a:r>
              <a:rPr sz="2600" b="1" i="1" spc="24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long-term</a:t>
            </a:r>
            <a:r>
              <a:rPr sz="2600" b="1" i="1" spc="24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fault</a:t>
            </a:r>
            <a:r>
              <a:rPr sz="2600" b="1" i="1" spc="24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prediction.</a:t>
            </a:r>
            <a:r>
              <a:rPr sz="2600" b="1" i="1" spc="24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This</a:t>
            </a:r>
            <a:r>
              <a:rPr sz="2600" b="1" i="1" spc="24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challenge</a:t>
            </a:r>
            <a:r>
              <a:rPr sz="2600" b="1" i="1" spc="24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is</a:t>
            </a:r>
            <a:r>
              <a:rPr sz="2600" b="1" i="1" spc="24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further</a:t>
            </a:r>
            <a:r>
              <a:rPr sz="2600" b="1" i="1" spc="24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compounded</a:t>
            </a:r>
            <a:r>
              <a:rPr sz="2600" b="1" i="1" spc="24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by</a:t>
            </a:r>
            <a:r>
              <a:rPr sz="2600" b="1" i="1" spc="24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the</a:t>
            </a:r>
            <a:r>
              <a:rPr sz="2600" b="1" i="1" spc="245" dirty="0">
                <a:latin typeface="Times New Roman"/>
                <a:cs typeface="Times New Roman"/>
              </a:rPr>
              <a:t> </a:t>
            </a:r>
            <a:r>
              <a:rPr sz="2600" b="1" i="1" spc="-10" dirty="0">
                <a:latin typeface="Times New Roman"/>
                <a:cs typeface="Times New Roman"/>
              </a:rPr>
              <a:t>highly </a:t>
            </a:r>
            <a:r>
              <a:rPr sz="2600" b="1" i="1" dirty="0">
                <a:latin typeface="Times New Roman"/>
                <a:cs typeface="Times New Roman"/>
              </a:rPr>
              <a:t>imbalanced</a:t>
            </a:r>
            <a:r>
              <a:rPr sz="2600" b="1" i="1" spc="6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nature</a:t>
            </a:r>
            <a:r>
              <a:rPr sz="2600" b="1" i="1" spc="6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of</a:t>
            </a:r>
            <a:r>
              <a:rPr sz="2600" b="1" i="1" spc="7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the</a:t>
            </a:r>
            <a:r>
              <a:rPr sz="2600" b="1" i="1" spc="6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data,</a:t>
            </a:r>
            <a:r>
              <a:rPr sz="2600" b="1" i="1" spc="7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where</a:t>
            </a:r>
            <a:r>
              <a:rPr sz="2600" b="1" i="1" spc="6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failure</a:t>
            </a:r>
            <a:r>
              <a:rPr sz="2600" b="1" i="1" spc="7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samples</a:t>
            </a:r>
            <a:r>
              <a:rPr sz="2600" b="1" i="1" spc="6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are</a:t>
            </a:r>
            <a:r>
              <a:rPr sz="2600" b="1" i="1" spc="65" dirty="0">
                <a:latin typeface="Times New Roman"/>
                <a:cs typeface="Times New Roman"/>
              </a:rPr>
              <a:t> </a:t>
            </a:r>
            <a:r>
              <a:rPr sz="2600" b="1" i="1" spc="-10" dirty="0">
                <a:latin typeface="Times New Roman"/>
                <a:cs typeface="Times New Roman"/>
              </a:rPr>
              <a:t>rare.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600">
              <a:latin typeface="Times New Roman"/>
              <a:cs typeface="Times New Roman"/>
            </a:endParaRPr>
          </a:p>
          <a:p>
            <a:pPr marL="99060">
              <a:lnSpc>
                <a:spcPct val="100000"/>
              </a:lnSpc>
            </a:pPr>
            <a:r>
              <a:rPr sz="2700" b="1" dirty="0">
                <a:solidFill>
                  <a:srgbClr val="360F66"/>
                </a:solidFill>
                <a:latin typeface="Times New Roman"/>
                <a:cs typeface="Times New Roman"/>
              </a:rPr>
              <a:t>Key</a:t>
            </a:r>
            <a:r>
              <a:rPr sz="2700" b="1" spc="-6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700" b="1" spc="-10" dirty="0">
                <a:solidFill>
                  <a:srgbClr val="360F66"/>
                </a:solidFill>
                <a:latin typeface="Times New Roman"/>
                <a:cs typeface="Times New Roman"/>
              </a:rPr>
              <a:t>Challenges</a:t>
            </a:r>
            <a:endParaRPr sz="2700">
              <a:latin typeface="Times New Roman"/>
              <a:cs typeface="Times New Roman"/>
            </a:endParaRPr>
          </a:p>
          <a:p>
            <a:pPr marL="99060" marR="5080">
              <a:lnSpc>
                <a:spcPct val="100400"/>
              </a:lnSpc>
              <a:spcBef>
                <a:spcPts val="10"/>
              </a:spcBef>
            </a:pP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Identifying</a:t>
            </a:r>
            <a:r>
              <a:rPr sz="2350" spc="3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a</a:t>
            </a:r>
            <a:r>
              <a:rPr sz="2350" spc="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small</a:t>
            </a:r>
            <a:r>
              <a:rPr sz="2350" spc="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set</a:t>
            </a:r>
            <a:r>
              <a:rPr sz="2350" spc="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of</a:t>
            </a:r>
            <a:r>
              <a:rPr sz="2350" spc="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sensors</a:t>
            </a:r>
            <a:r>
              <a:rPr sz="2350" spc="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that</a:t>
            </a:r>
            <a:r>
              <a:rPr sz="2350" spc="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stays</a:t>
            </a:r>
            <a:r>
              <a:rPr sz="2350" spc="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predictive</a:t>
            </a:r>
            <a:r>
              <a:rPr sz="2350" spc="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over</a:t>
            </a:r>
            <a:r>
              <a:rPr sz="2350" spc="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time,</a:t>
            </a:r>
            <a:r>
              <a:rPr sz="2350" spc="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not</a:t>
            </a:r>
            <a:r>
              <a:rPr sz="2350" spc="40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just</a:t>
            </a:r>
            <a:r>
              <a:rPr sz="2350" spc="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in</a:t>
            </a:r>
            <a:r>
              <a:rPr sz="2350" spc="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one</a:t>
            </a:r>
            <a:r>
              <a:rPr sz="2350" spc="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snapshot</a:t>
            </a:r>
            <a:r>
              <a:rPr sz="2350" spc="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—</a:t>
            </a:r>
            <a:r>
              <a:rPr sz="2350" spc="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while</a:t>
            </a:r>
            <a:r>
              <a:rPr sz="2350" spc="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also</a:t>
            </a:r>
            <a:r>
              <a:rPr sz="2350" spc="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not</a:t>
            </a:r>
            <a:r>
              <a:rPr sz="2350" spc="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discarding</a:t>
            </a:r>
            <a:r>
              <a:rPr sz="2350" spc="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rare</a:t>
            </a:r>
            <a:r>
              <a:rPr sz="2350" spc="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but</a:t>
            </a:r>
            <a:r>
              <a:rPr sz="2350" spc="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critical</a:t>
            </a:r>
            <a:r>
              <a:rPr sz="2350" spc="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solidFill>
                  <a:srgbClr val="360F66"/>
                </a:solidFill>
                <a:latin typeface="Times New Roman"/>
                <a:cs typeface="Times New Roman"/>
              </a:rPr>
              <a:t>sensors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that</a:t>
            </a:r>
            <a:r>
              <a:rPr sz="2350" spc="1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only</a:t>
            </a:r>
            <a:r>
              <a:rPr sz="2350" spc="10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"activate"</a:t>
            </a:r>
            <a:r>
              <a:rPr sz="2350" spc="1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during</a:t>
            </a:r>
            <a:r>
              <a:rPr sz="2350" spc="1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360F66"/>
                </a:solidFill>
                <a:latin typeface="Times New Roman"/>
                <a:cs typeface="Times New Roman"/>
              </a:rPr>
              <a:t>failure</a:t>
            </a:r>
            <a:r>
              <a:rPr sz="2350" spc="10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solidFill>
                  <a:srgbClr val="360F66"/>
                </a:solidFill>
                <a:latin typeface="Times New Roman"/>
                <a:cs typeface="Times New Roman"/>
              </a:rPr>
              <a:t>events.</a:t>
            </a:r>
            <a:endParaRPr sz="2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5"/>
              </a:spcBef>
            </a:pPr>
            <a:endParaRPr sz="2350">
              <a:latin typeface="Times New Roman"/>
              <a:cs typeface="Times New Roman"/>
            </a:endParaRPr>
          </a:p>
          <a:p>
            <a:pPr marL="12700">
              <a:lnSpc>
                <a:spcPts val="2965"/>
              </a:lnSpc>
            </a:pPr>
            <a:r>
              <a:rPr sz="2500" b="1" dirty="0">
                <a:solidFill>
                  <a:srgbClr val="360F66"/>
                </a:solidFill>
                <a:latin typeface="Times New Roman"/>
                <a:cs typeface="Times New Roman"/>
              </a:rPr>
              <a:t>Research</a:t>
            </a:r>
            <a:r>
              <a:rPr sz="2500" b="1" spc="-140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500" b="1" spc="-25" dirty="0">
                <a:solidFill>
                  <a:srgbClr val="360F66"/>
                </a:solidFill>
                <a:latin typeface="Times New Roman"/>
                <a:cs typeface="Times New Roman"/>
              </a:rPr>
              <a:t>Gap</a:t>
            </a:r>
            <a:endParaRPr sz="2500">
              <a:latin typeface="Times New Roman"/>
              <a:cs typeface="Times New Roman"/>
            </a:endParaRPr>
          </a:p>
          <a:p>
            <a:pPr marL="487045" marR="7462520">
              <a:lnSpc>
                <a:spcPts val="2630"/>
              </a:lnSpc>
              <a:spcBef>
                <a:spcPts val="60"/>
              </a:spcBef>
            </a:pP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Most</a:t>
            </a:r>
            <a:r>
              <a:rPr sz="2200" spc="-3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SECOM</a:t>
            </a:r>
            <a:r>
              <a:rPr sz="2200" spc="-3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studies</a:t>
            </a:r>
            <a:r>
              <a:rPr sz="2200" spc="-30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perform</a:t>
            </a:r>
            <a:r>
              <a:rPr sz="2200" spc="-3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static</a:t>
            </a:r>
            <a:r>
              <a:rPr sz="2200" spc="-3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feature</a:t>
            </a:r>
            <a:r>
              <a:rPr sz="2200" spc="-30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selection</a:t>
            </a:r>
            <a:r>
              <a:rPr sz="2200" spc="-3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using</a:t>
            </a:r>
            <a:r>
              <a:rPr sz="2200" spc="-30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a</a:t>
            </a:r>
            <a:r>
              <a:rPr sz="2200" spc="-3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single</a:t>
            </a:r>
            <a:r>
              <a:rPr sz="2200" spc="-3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60F66"/>
                </a:solidFill>
                <a:latin typeface="Times New Roman"/>
                <a:cs typeface="Times New Roman"/>
              </a:rPr>
              <a:t>train-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test</a:t>
            </a:r>
            <a:r>
              <a:rPr sz="2200" spc="-30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60F66"/>
                </a:solidFill>
                <a:latin typeface="Times New Roman"/>
                <a:cs typeface="Times New Roman"/>
              </a:rPr>
              <a:t>split.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The</a:t>
            </a:r>
            <a:r>
              <a:rPr sz="2200" spc="-50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timestamp</a:t>
            </a:r>
            <a:r>
              <a:rPr sz="2200" spc="-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information</a:t>
            </a:r>
            <a:r>
              <a:rPr sz="2200" spc="-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is</a:t>
            </a:r>
            <a:r>
              <a:rPr sz="2200" spc="-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largely</a:t>
            </a:r>
            <a:r>
              <a:rPr sz="2200" spc="-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ignored,</a:t>
            </a:r>
            <a:r>
              <a:rPr sz="2200" spc="-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despite</a:t>
            </a:r>
            <a:r>
              <a:rPr sz="2200" spc="-50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process</a:t>
            </a:r>
            <a:r>
              <a:rPr sz="2200" spc="-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changes</a:t>
            </a:r>
            <a:r>
              <a:rPr sz="2200" spc="-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over</a:t>
            </a:r>
            <a:r>
              <a:rPr sz="2200" spc="-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60F66"/>
                </a:solidFill>
                <a:latin typeface="Times New Roman"/>
                <a:cs typeface="Times New Roman"/>
              </a:rPr>
              <a:t>time.</a:t>
            </a:r>
            <a:endParaRPr sz="2200">
              <a:latin typeface="Times New Roman"/>
              <a:cs typeface="Times New Roman"/>
            </a:endParaRPr>
          </a:p>
          <a:p>
            <a:pPr marL="487045">
              <a:lnSpc>
                <a:spcPts val="2535"/>
              </a:lnSpc>
            </a:pP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Existing</a:t>
            </a:r>
            <a:r>
              <a:rPr sz="2200" spc="-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60F66"/>
                </a:solidFill>
                <a:latin typeface="Times New Roman"/>
                <a:cs typeface="Times New Roman"/>
              </a:rPr>
              <a:t>stability-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selection</a:t>
            </a:r>
            <a:r>
              <a:rPr sz="2200" spc="-40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methods</a:t>
            </a:r>
            <a:r>
              <a:rPr sz="2200" spc="-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test</a:t>
            </a:r>
            <a:r>
              <a:rPr sz="2200" spc="-40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robustness</a:t>
            </a:r>
            <a:r>
              <a:rPr sz="2200" spc="-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through</a:t>
            </a:r>
            <a:r>
              <a:rPr sz="2200" spc="-40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random</a:t>
            </a:r>
            <a:r>
              <a:rPr sz="2200" spc="-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sampling,</a:t>
            </a:r>
            <a:r>
              <a:rPr sz="2200" spc="-40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not</a:t>
            </a:r>
            <a:r>
              <a:rPr sz="2200" spc="-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real</a:t>
            </a:r>
            <a:r>
              <a:rPr sz="2200" spc="-40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chronological</a:t>
            </a:r>
            <a:r>
              <a:rPr sz="2200" spc="-45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60F66"/>
                </a:solidFill>
                <a:latin typeface="Times New Roman"/>
                <a:cs typeface="Times New Roman"/>
              </a:rPr>
              <a:t>process</a:t>
            </a:r>
            <a:r>
              <a:rPr sz="2200" spc="-40" dirty="0">
                <a:solidFill>
                  <a:srgbClr val="360F66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60F66"/>
                </a:solidFill>
                <a:latin typeface="Times New Roman"/>
                <a:cs typeface="Times New Roman"/>
              </a:rPr>
              <a:t>drift.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30107" y="7784801"/>
            <a:ext cx="17628235" cy="2133600"/>
          </a:xfrm>
          <a:custGeom>
            <a:avLst/>
            <a:gdLst/>
            <a:ahLst/>
            <a:cxnLst/>
            <a:rect l="l" t="t" r="r" b="b"/>
            <a:pathLst>
              <a:path w="17628235" h="2133600">
                <a:moveTo>
                  <a:pt x="148486" y="2133599"/>
                </a:moveTo>
                <a:lnTo>
                  <a:pt x="89632" y="2113256"/>
                </a:lnTo>
                <a:lnTo>
                  <a:pt x="53005" y="2084959"/>
                </a:lnTo>
                <a:lnTo>
                  <a:pt x="24708" y="2048332"/>
                </a:lnTo>
                <a:lnTo>
                  <a:pt x="6464" y="2005101"/>
                </a:lnTo>
                <a:lnTo>
                  <a:pt x="0" y="1956991"/>
                </a:lnTo>
                <a:lnTo>
                  <a:pt x="0" y="181073"/>
                </a:lnTo>
                <a:lnTo>
                  <a:pt x="6464" y="132963"/>
                </a:lnTo>
                <a:lnTo>
                  <a:pt x="24708" y="89732"/>
                </a:lnTo>
                <a:lnTo>
                  <a:pt x="53006" y="53105"/>
                </a:lnTo>
                <a:lnTo>
                  <a:pt x="89632" y="24808"/>
                </a:lnTo>
                <a:lnTo>
                  <a:pt x="132863" y="6564"/>
                </a:lnTo>
                <a:lnTo>
                  <a:pt x="180973" y="0"/>
                </a:lnTo>
                <a:lnTo>
                  <a:pt x="17446677" y="0"/>
                </a:lnTo>
                <a:lnTo>
                  <a:pt x="17494787" y="6564"/>
                </a:lnTo>
                <a:lnTo>
                  <a:pt x="17538018" y="24807"/>
                </a:lnTo>
                <a:lnTo>
                  <a:pt x="17574645" y="53105"/>
                </a:lnTo>
                <a:lnTo>
                  <a:pt x="17602943" y="89732"/>
                </a:lnTo>
                <a:lnTo>
                  <a:pt x="17621187" y="132963"/>
                </a:lnTo>
                <a:lnTo>
                  <a:pt x="17627651" y="181073"/>
                </a:lnTo>
                <a:lnTo>
                  <a:pt x="17627651" y="1956991"/>
                </a:lnTo>
                <a:lnTo>
                  <a:pt x="17621187" y="2005101"/>
                </a:lnTo>
                <a:lnTo>
                  <a:pt x="17602943" y="2048332"/>
                </a:lnTo>
                <a:lnTo>
                  <a:pt x="17574645" y="2084959"/>
                </a:lnTo>
                <a:lnTo>
                  <a:pt x="17538018" y="2113257"/>
                </a:lnTo>
                <a:lnTo>
                  <a:pt x="17494787" y="2131500"/>
                </a:lnTo>
                <a:lnTo>
                  <a:pt x="17479165" y="2133599"/>
                </a:lnTo>
              </a:path>
            </a:pathLst>
          </a:custGeom>
          <a:ln w="76200">
            <a:solidFill>
              <a:srgbClr val="DEE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93607" y="8205141"/>
            <a:ext cx="17501235" cy="120205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7487284">
              <a:lnSpc>
                <a:spcPct val="100000"/>
              </a:lnSpc>
              <a:spcBef>
                <a:spcPts val="450"/>
              </a:spcBef>
            </a:pPr>
            <a:r>
              <a:rPr sz="2400" b="1" dirty="0">
                <a:latin typeface="Times New Roman"/>
                <a:cs typeface="Times New Roman"/>
              </a:rPr>
              <a:t>Research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Objective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ts val="3080"/>
              </a:lnSpc>
            </a:pPr>
            <a:r>
              <a:rPr sz="2200" i="1" dirty="0">
                <a:latin typeface="Times New Roman"/>
                <a:cs typeface="Times New Roman"/>
              </a:rPr>
              <a:t>To</a:t>
            </a:r>
            <a:r>
              <a:rPr sz="2200" i="1" spc="29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design</a:t>
            </a:r>
            <a:r>
              <a:rPr sz="2200" i="1" spc="29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a</a:t>
            </a:r>
            <a:r>
              <a:rPr sz="2200" i="1" spc="29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sensor</a:t>
            </a:r>
            <a:r>
              <a:rPr sz="2200" i="1" spc="29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reduction</a:t>
            </a:r>
            <a:r>
              <a:rPr sz="2200" i="1" spc="29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method</a:t>
            </a:r>
            <a:r>
              <a:rPr sz="2200" i="1" spc="29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that</a:t>
            </a:r>
            <a:r>
              <a:rPr sz="2200" i="1" spc="29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selects</a:t>
            </a:r>
            <a:r>
              <a:rPr sz="2200" i="1" spc="29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sensors</a:t>
            </a:r>
            <a:r>
              <a:rPr sz="2200" i="1" spc="29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based</a:t>
            </a:r>
            <a:r>
              <a:rPr sz="2200" i="1" spc="29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on</a:t>
            </a:r>
            <a:r>
              <a:rPr sz="2200" i="1" spc="29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their</a:t>
            </a:r>
            <a:r>
              <a:rPr sz="2200" i="1" spc="29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predictive</a:t>
            </a:r>
            <a:r>
              <a:rPr sz="2200" i="1" spc="29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stability</a:t>
            </a:r>
            <a:r>
              <a:rPr sz="2200" i="1" spc="29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across</a:t>
            </a:r>
            <a:r>
              <a:rPr sz="2200" i="1" spc="29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chronologically</a:t>
            </a:r>
            <a:r>
              <a:rPr sz="2200" i="1" spc="29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ordered</a:t>
            </a:r>
            <a:r>
              <a:rPr sz="2200" i="1" spc="29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time</a:t>
            </a:r>
            <a:r>
              <a:rPr sz="2200" i="1" spc="29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batches,</a:t>
            </a:r>
            <a:r>
              <a:rPr sz="2200" i="1" spc="29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rather</a:t>
            </a:r>
            <a:r>
              <a:rPr sz="2200" i="1" spc="290" dirty="0">
                <a:latin typeface="Times New Roman"/>
                <a:cs typeface="Times New Roman"/>
              </a:rPr>
              <a:t> </a:t>
            </a:r>
            <a:r>
              <a:rPr sz="2200" i="1" spc="-20" dirty="0">
                <a:latin typeface="Times New Roman"/>
                <a:cs typeface="Times New Roman"/>
              </a:rPr>
              <a:t>than </a:t>
            </a:r>
            <a:r>
              <a:rPr sz="2200" i="1" dirty="0">
                <a:latin typeface="Times New Roman"/>
                <a:cs typeface="Times New Roman"/>
              </a:rPr>
              <a:t>importance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on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a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single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snapshot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—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producing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a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spc="-25" dirty="0">
                <a:latin typeface="Times New Roman"/>
                <a:cs typeface="Times New Roman"/>
              </a:rPr>
              <a:t>smaller,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drift-</a:t>
            </a:r>
            <a:r>
              <a:rPr sz="2200" i="1" dirty="0">
                <a:latin typeface="Times New Roman"/>
                <a:cs typeface="Times New Roman"/>
              </a:rPr>
              <a:t>aware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sensor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shortlist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that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is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at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least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as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reliable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as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the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full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sensor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spc="-20" dirty="0">
                <a:latin typeface="Times New Roman"/>
                <a:cs typeface="Times New Roman"/>
              </a:rPr>
              <a:t>set.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992259" y="11"/>
            <a:ext cx="1642745" cy="808990"/>
          </a:xfrm>
          <a:custGeom>
            <a:avLst/>
            <a:gdLst/>
            <a:ahLst/>
            <a:cxnLst/>
            <a:rect l="l" t="t" r="r" b="b"/>
            <a:pathLst>
              <a:path w="1642744" h="808990">
                <a:moveTo>
                  <a:pt x="609777" y="277037"/>
                </a:moveTo>
                <a:lnTo>
                  <a:pt x="587133" y="222681"/>
                </a:lnTo>
                <a:lnTo>
                  <a:pt x="557491" y="191681"/>
                </a:lnTo>
                <a:lnTo>
                  <a:pt x="366039" y="0"/>
                </a:lnTo>
                <a:lnTo>
                  <a:pt x="142303" y="0"/>
                </a:lnTo>
                <a:lnTo>
                  <a:pt x="257987" y="115430"/>
                </a:lnTo>
                <a:lnTo>
                  <a:pt x="417499" y="275094"/>
                </a:lnTo>
                <a:lnTo>
                  <a:pt x="400570" y="293293"/>
                </a:lnTo>
                <a:lnTo>
                  <a:pt x="384962" y="310184"/>
                </a:lnTo>
                <a:lnTo>
                  <a:pt x="370090" y="326059"/>
                </a:lnTo>
                <a:lnTo>
                  <a:pt x="355384" y="341236"/>
                </a:lnTo>
                <a:lnTo>
                  <a:pt x="318236" y="378460"/>
                </a:lnTo>
                <a:lnTo>
                  <a:pt x="132308" y="564375"/>
                </a:lnTo>
                <a:lnTo>
                  <a:pt x="95186" y="601624"/>
                </a:lnTo>
                <a:lnTo>
                  <a:pt x="58140" y="638937"/>
                </a:lnTo>
                <a:lnTo>
                  <a:pt x="32016" y="667232"/>
                </a:lnTo>
                <a:lnTo>
                  <a:pt x="9271" y="698055"/>
                </a:lnTo>
                <a:lnTo>
                  <a:pt x="0" y="721271"/>
                </a:lnTo>
                <a:lnTo>
                  <a:pt x="495" y="743610"/>
                </a:lnTo>
                <a:lnTo>
                  <a:pt x="24015" y="783869"/>
                </a:lnTo>
                <a:lnTo>
                  <a:pt x="63957" y="807948"/>
                </a:lnTo>
                <a:lnTo>
                  <a:pt x="86360" y="808583"/>
                </a:lnTo>
                <a:lnTo>
                  <a:pt x="109702" y="800023"/>
                </a:lnTo>
                <a:lnTo>
                  <a:pt x="150177" y="768794"/>
                </a:lnTo>
                <a:lnTo>
                  <a:pt x="198424" y="721093"/>
                </a:lnTo>
                <a:lnTo>
                  <a:pt x="306184" y="613600"/>
                </a:lnTo>
                <a:lnTo>
                  <a:pt x="557263" y="362432"/>
                </a:lnTo>
                <a:lnTo>
                  <a:pt x="572655" y="347408"/>
                </a:lnTo>
                <a:lnTo>
                  <a:pt x="580072" y="339661"/>
                </a:lnTo>
                <a:lnTo>
                  <a:pt x="586905" y="331470"/>
                </a:lnTo>
                <a:lnTo>
                  <a:pt x="604024" y="303174"/>
                </a:lnTo>
                <a:lnTo>
                  <a:pt x="609777" y="277037"/>
                </a:lnTo>
                <a:close/>
              </a:path>
              <a:path w="1642744" h="808990">
                <a:moveTo>
                  <a:pt x="1157439" y="277037"/>
                </a:moveTo>
                <a:lnTo>
                  <a:pt x="1134795" y="222681"/>
                </a:lnTo>
                <a:lnTo>
                  <a:pt x="1105154" y="191681"/>
                </a:lnTo>
                <a:lnTo>
                  <a:pt x="913714" y="0"/>
                </a:lnTo>
                <a:lnTo>
                  <a:pt x="689965" y="0"/>
                </a:lnTo>
                <a:lnTo>
                  <a:pt x="805649" y="115430"/>
                </a:lnTo>
                <a:lnTo>
                  <a:pt x="965174" y="275094"/>
                </a:lnTo>
                <a:lnTo>
                  <a:pt x="948232" y="293293"/>
                </a:lnTo>
                <a:lnTo>
                  <a:pt x="932611" y="310184"/>
                </a:lnTo>
                <a:lnTo>
                  <a:pt x="917740" y="326059"/>
                </a:lnTo>
                <a:lnTo>
                  <a:pt x="903046" y="341236"/>
                </a:lnTo>
                <a:lnTo>
                  <a:pt x="865911" y="378460"/>
                </a:lnTo>
                <a:lnTo>
                  <a:pt x="679970" y="564375"/>
                </a:lnTo>
                <a:lnTo>
                  <a:pt x="642861" y="601624"/>
                </a:lnTo>
                <a:lnTo>
                  <a:pt x="605802" y="638937"/>
                </a:lnTo>
                <a:lnTo>
                  <a:pt x="579678" y="667232"/>
                </a:lnTo>
                <a:lnTo>
                  <a:pt x="556945" y="698055"/>
                </a:lnTo>
                <a:lnTo>
                  <a:pt x="547662" y="721271"/>
                </a:lnTo>
                <a:lnTo>
                  <a:pt x="548157" y="743610"/>
                </a:lnTo>
                <a:lnTo>
                  <a:pt x="571677" y="783869"/>
                </a:lnTo>
                <a:lnTo>
                  <a:pt x="611619" y="807948"/>
                </a:lnTo>
                <a:lnTo>
                  <a:pt x="634034" y="808583"/>
                </a:lnTo>
                <a:lnTo>
                  <a:pt x="657377" y="800023"/>
                </a:lnTo>
                <a:lnTo>
                  <a:pt x="697839" y="768794"/>
                </a:lnTo>
                <a:lnTo>
                  <a:pt x="746086" y="721093"/>
                </a:lnTo>
                <a:lnTo>
                  <a:pt x="853846" y="613600"/>
                </a:lnTo>
                <a:lnTo>
                  <a:pt x="1104925" y="362432"/>
                </a:lnTo>
                <a:lnTo>
                  <a:pt x="1120317" y="347408"/>
                </a:lnTo>
                <a:lnTo>
                  <a:pt x="1127734" y="339661"/>
                </a:lnTo>
                <a:lnTo>
                  <a:pt x="1134567" y="331470"/>
                </a:lnTo>
                <a:lnTo>
                  <a:pt x="1151699" y="303174"/>
                </a:lnTo>
                <a:lnTo>
                  <a:pt x="1157439" y="277037"/>
                </a:lnTo>
                <a:close/>
              </a:path>
              <a:path w="1642744" h="808990">
                <a:moveTo>
                  <a:pt x="1642491" y="250202"/>
                </a:moveTo>
                <a:lnTo>
                  <a:pt x="1619859" y="195846"/>
                </a:lnTo>
                <a:lnTo>
                  <a:pt x="1590205" y="164833"/>
                </a:lnTo>
                <a:lnTo>
                  <a:pt x="1425587" y="0"/>
                </a:lnTo>
                <a:lnTo>
                  <a:pt x="1201889" y="0"/>
                </a:lnTo>
                <a:lnTo>
                  <a:pt x="1290701" y="88595"/>
                </a:lnTo>
                <a:lnTo>
                  <a:pt x="1450225" y="248246"/>
                </a:lnTo>
                <a:lnTo>
                  <a:pt x="1433283" y="266471"/>
                </a:lnTo>
                <a:lnTo>
                  <a:pt x="1417662" y="283375"/>
                </a:lnTo>
                <a:lnTo>
                  <a:pt x="1402803" y="299237"/>
                </a:lnTo>
                <a:lnTo>
                  <a:pt x="1388110" y="314388"/>
                </a:lnTo>
                <a:lnTo>
                  <a:pt x="1350962" y="351612"/>
                </a:lnTo>
                <a:lnTo>
                  <a:pt x="1165034" y="537540"/>
                </a:lnTo>
                <a:lnTo>
                  <a:pt x="1127912" y="574789"/>
                </a:lnTo>
                <a:lnTo>
                  <a:pt x="1090853" y="612101"/>
                </a:lnTo>
                <a:lnTo>
                  <a:pt x="1064729" y="640397"/>
                </a:lnTo>
                <a:lnTo>
                  <a:pt x="1041996" y="671220"/>
                </a:lnTo>
                <a:lnTo>
                  <a:pt x="1032725" y="694423"/>
                </a:lnTo>
                <a:lnTo>
                  <a:pt x="1033208" y="716762"/>
                </a:lnTo>
                <a:lnTo>
                  <a:pt x="1056728" y="757034"/>
                </a:lnTo>
                <a:lnTo>
                  <a:pt x="1096670" y="781100"/>
                </a:lnTo>
                <a:lnTo>
                  <a:pt x="1119085" y="781748"/>
                </a:lnTo>
                <a:lnTo>
                  <a:pt x="1142428" y="773176"/>
                </a:lnTo>
                <a:lnTo>
                  <a:pt x="1182903" y="741959"/>
                </a:lnTo>
                <a:lnTo>
                  <a:pt x="1231150" y="694245"/>
                </a:lnTo>
                <a:lnTo>
                  <a:pt x="1338897" y="586752"/>
                </a:lnTo>
                <a:lnTo>
                  <a:pt x="1589976" y="335597"/>
                </a:lnTo>
                <a:lnTo>
                  <a:pt x="1605368" y="320560"/>
                </a:lnTo>
                <a:lnTo>
                  <a:pt x="1612798" y="312813"/>
                </a:lnTo>
                <a:lnTo>
                  <a:pt x="1619618" y="304622"/>
                </a:lnTo>
                <a:lnTo>
                  <a:pt x="1636750" y="276339"/>
                </a:lnTo>
                <a:lnTo>
                  <a:pt x="1642491" y="250202"/>
                </a:lnTo>
                <a:close/>
              </a:path>
            </a:pathLst>
          </a:custGeom>
          <a:solidFill>
            <a:srgbClr val="DEE77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31592"/>
            <a:ext cx="17784633" cy="870821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13619" y="1709034"/>
            <a:ext cx="8300720" cy="440690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500" b="1" dirty="0">
                <a:latin typeface="Times New Roman"/>
                <a:cs typeface="Times New Roman"/>
              </a:rPr>
              <a:t>Dataset: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SECOM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(UCI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Machine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Learning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Repository)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2500" b="1" spc="-30" dirty="0">
                <a:latin typeface="Times New Roman"/>
                <a:cs typeface="Times New Roman"/>
              </a:rPr>
              <a:t>Total</a:t>
            </a:r>
            <a:r>
              <a:rPr sz="2500" b="1" spc="-7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records:</a:t>
            </a:r>
            <a:r>
              <a:rPr sz="2500" b="1" spc="49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1,567</a:t>
            </a:r>
            <a:r>
              <a:rPr sz="2500" spc="-7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wafers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2500" b="1" spc="-10" dirty="0">
                <a:latin typeface="Times New Roman"/>
                <a:cs typeface="Times New Roman"/>
              </a:rPr>
              <a:t>Features</a:t>
            </a:r>
            <a:endParaRPr sz="2500">
              <a:latin typeface="Times New Roman"/>
              <a:cs typeface="Times New Roman"/>
            </a:endParaRPr>
          </a:p>
          <a:p>
            <a:pPr marL="551815" marR="432434">
              <a:lnSpc>
                <a:spcPct val="114999"/>
              </a:lnSpc>
            </a:pPr>
            <a:r>
              <a:rPr sz="2500" b="1" dirty="0">
                <a:latin typeface="Times New Roman"/>
                <a:cs typeface="Times New Roman"/>
              </a:rPr>
              <a:t>Original:</a:t>
            </a:r>
            <a:r>
              <a:rPr sz="2500" b="1" spc="-7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590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sensor</a:t>
            </a:r>
            <a:r>
              <a:rPr sz="2500" b="1" spc="-10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readings</a:t>
            </a:r>
            <a:r>
              <a:rPr sz="2500" b="1" spc="-7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(+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timestamp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+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pass/fail label)</a:t>
            </a:r>
            <a:endParaRPr sz="2500">
              <a:latin typeface="Times New Roman"/>
              <a:cs typeface="Times New Roman"/>
            </a:endParaRPr>
          </a:p>
          <a:p>
            <a:pPr marL="551815" marR="5080">
              <a:lnSpc>
                <a:spcPct val="114999"/>
              </a:lnSpc>
            </a:pPr>
            <a:r>
              <a:rPr sz="2500" b="1" dirty="0">
                <a:latin typeface="Times New Roman"/>
                <a:cs typeface="Times New Roman"/>
              </a:rPr>
              <a:t>After</a:t>
            </a:r>
            <a:r>
              <a:rPr sz="2500" b="1" spc="-10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tripwire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audit: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128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spc="-35" dirty="0">
                <a:latin typeface="Times New Roman"/>
                <a:cs typeface="Times New Roman"/>
              </a:rPr>
              <a:t>near-</a:t>
            </a:r>
            <a:r>
              <a:rPr sz="2500" b="1" dirty="0">
                <a:latin typeface="Times New Roman"/>
                <a:cs typeface="Times New Roman"/>
              </a:rPr>
              <a:t>constant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sensors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flagged,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spc="-50" dirty="0">
                <a:latin typeface="Times New Roman"/>
                <a:cs typeface="Times New Roman"/>
              </a:rPr>
              <a:t>2 </a:t>
            </a:r>
            <a:r>
              <a:rPr sz="2500" b="1" spc="-10" dirty="0">
                <a:latin typeface="Times New Roman"/>
                <a:cs typeface="Times New Roman"/>
              </a:rPr>
              <a:t>whitelisted</a:t>
            </a:r>
            <a:endParaRPr sz="2500">
              <a:latin typeface="Times New Roman"/>
              <a:cs typeface="Times New Roman"/>
            </a:endParaRPr>
          </a:p>
          <a:p>
            <a:pPr marL="551815">
              <a:lnSpc>
                <a:spcPct val="100000"/>
              </a:lnSpc>
              <a:spcBef>
                <a:spcPts val="450"/>
              </a:spcBef>
            </a:pPr>
            <a:r>
              <a:rPr sz="2500" b="1" dirty="0">
                <a:latin typeface="Times New Roman"/>
                <a:cs typeface="Times New Roman"/>
              </a:rPr>
              <a:t>Final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shortlist: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17</a:t>
            </a:r>
            <a:r>
              <a:rPr sz="2500" b="1" spc="-4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sensors</a:t>
            </a:r>
            <a:endParaRPr sz="2500">
              <a:latin typeface="Times New Roman"/>
              <a:cs typeface="Times New Roman"/>
            </a:endParaRPr>
          </a:p>
          <a:p>
            <a:pPr marL="12700" marR="226695">
              <a:lnSpc>
                <a:spcPct val="114999"/>
              </a:lnSpc>
            </a:pPr>
            <a:r>
              <a:rPr sz="2500" b="1" dirty="0">
                <a:latin typeface="Times New Roman"/>
                <a:cs typeface="Times New Roman"/>
              </a:rPr>
              <a:t>Outcome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classes:</a:t>
            </a:r>
            <a:r>
              <a:rPr sz="2500" b="1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2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(Pass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/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Fail)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—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class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imbalance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~93:7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(fail </a:t>
            </a:r>
            <a:r>
              <a:rPr sz="2500" dirty="0">
                <a:latin typeface="Times New Roman"/>
                <a:cs typeface="Times New Roman"/>
              </a:rPr>
              <a:t>rate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~6.6%)</a:t>
            </a:r>
            <a:endParaRPr sz="25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944702" y="1536289"/>
            <a:ext cx="7839931" cy="3817242"/>
            <a:chOff x="9944702" y="1536289"/>
            <a:chExt cx="7724775" cy="3686175"/>
          </a:xfrm>
        </p:grpSpPr>
        <p:sp>
          <p:nvSpPr>
            <p:cNvPr id="6" name="object 6"/>
            <p:cNvSpPr/>
            <p:nvPr/>
          </p:nvSpPr>
          <p:spPr>
            <a:xfrm>
              <a:off x="9973276" y="1564864"/>
              <a:ext cx="7669530" cy="3632200"/>
            </a:xfrm>
            <a:custGeom>
              <a:avLst/>
              <a:gdLst/>
              <a:ahLst/>
              <a:cxnLst/>
              <a:rect l="l" t="t" r="r" b="b"/>
              <a:pathLst>
                <a:path w="7669530" h="3632200">
                  <a:moveTo>
                    <a:pt x="7430951" y="3631673"/>
                  </a:moveTo>
                  <a:lnTo>
                    <a:pt x="238124" y="3631673"/>
                  </a:lnTo>
                  <a:lnTo>
                    <a:pt x="191452" y="3627056"/>
                  </a:lnTo>
                  <a:lnTo>
                    <a:pt x="146998" y="3613547"/>
                  </a:lnTo>
                  <a:lnTo>
                    <a:pt x="106013" y="3591666"/>
                  </a:lnTo>
                  <a:lnTo>
                    <a:pt x="69745" y="3561928"/>
                  </a:lnTo>
                  <a:lnTo>
                    <a:pt x="40007" y="3525661"/>
                  </a:lnTo>
                  <a:lnTo>
                    <a:pt x="18126" y="3484675"/>
                  </a:lnTo>
                  <a:lnTo>
                    <a:pt x="4617" y="3440221"/>
                  </a:lnTo>
                  <a:lnTo>
                    <a:pt x="0" y="3393549"/>
                  </a:lnTo>
                  <a:lnTo>
                    <a:pt x="0" y="238124"/>
                  </a:lnTo>
                  <a:lnTo>
                    <a:pt x="4617" y="191452"/>
                  </a:lnTo>
                  <a:lnTo>
                    <a:pt x="18126" y="146998"/>
                  </a:lnTo>
                  <a:lnTo>
                    <a:pt x="40007" y="106013"/>
                  </a:lnTo>
                  <a:lnTo>
                    <a:pt x="69745" y="69745"/>
                  </a:lnTo>
                  <a:lnTo>
                    <a:pt x="106013" y="40007"/>
                  </a:lnTo>
                  <a:lnTo>
                    <a:pt x="146998" y="18126"/>
                  </a:lnTo>
                  <a:lnTo>
                    <a:pt x="191452" y="4617"/>
                  </a:lnTo>
                  <a:lnTo>
                    <a:pt x="238124" y="0"/>
                  </a:lnTo>
                  <a:lnTo>
                    <a:pt x="7430951" y="0"/>
                  </a:lnTo>
                  <a:lnTo>
                    <a:pt x="7477624" y="4617"/>
                  </a:lnTo>
                  <a:lnTo>
                    <a:pt x="7522077" y="18126"/>
                  </a:lnTo>
                  <a:lnTo>
                    <a:pt x="7563062" y="40007"/>
                  </a:lnTo>
                  <a:lnTo>
                    <a:pt x="7599329" y="69745"/>
                  </a:lnTo>
                  <a:lnTo>
                    <a:pt x="7629067" y="106013"/>
                  </a:lnTo>
                  <a:lnTo>
                    <a:pt x="7650949" y="146998"/>
                  </a:lnTo>
                  <a:lnTo>
                    <a:pt x="7664458" y="191452"/>
                  </a:lnTo>
                  <a:lnTo>
                    <a:pt x="7669076" y="238124"/>
                  </a:lnTo>
                  <a:lnTo>
                    <a:pt x="7669076" y="3393549"/>
                  </a:lnTo>
                  <a:lnTo>
                    <a:pt x="7664458" y="3440221"/>
                  </a:lnTo>
                  <a:lnTo>
                    <a:pt x="7650949" y="3484675"/>
                  </a:lnTo>
                  <a:lnTo>
                    <a:pt x="7629067" y="3525661"/>
                  </a:lnTo>
                  <a:lnTo>
                    <a:pt x="7599329" y="3561928"/>
                  </a:lnTo>
                  <a:lnTo>
                    <a:pt x="7563062" y="3591666"/>
                  </a:lnTo>
                  <a:lnTo>
                    <a:pt x="7522077" y="3613547"/>
                  </a:lnTo>
                  <a:lnTo>
                    <a:pt x="7477624" y="3627056"/>
                  </a:lnTo>
                  <a:lnTo>
                    <a:pt x="7430951" y="3631673"/>
                  </a:lnTo>
                  <a:close/>
                </a:path>
              </a:pathLst>
            </a:custGeom>
            <a:solidFill>
              <a:srgbClr val="FFFF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973277" y="1564864"/>
              <a:ext cx="7667625" cy="3629025"/>
            </a:xfrm>
            <a:custGeom>
              <a:avLst/>
              <a:gdLst/>
              <a:ahLst/>
              <a:cxnLst/>
              <a:rect l="l" t="t" r="r" b="b"/>
              <a:pathLst>
                <a:path w="7667625" h="3629025">
                  <a:moveTo>
                    <a:pt x="7667622" y="3406283"/>
                  </a:moveTo>
                  <a:lnTo>
                    <a:pt x="7650768" y="3484561"/>
                  </a:lnTo>
                  <a:lnTo>
                    <a:pt x="7628887" y="3525545"/>
                  </a:lnTo>
                  <a:lnTo>
                    <a:pt x="7599150" y="3561812"/>
                  </a:lnTo>
                  <a:lnTo>
                    <a:pt x="7562883" y="3591548"/>
                  </a:lnTo>
                  <a:lnTo>
                    <a:pt x="7521899" y="3613429"/>
                  </a:lnTo>
                  <a:lnTo>
                    <a:pt x="7477446" y="3626937"/>
                  </a:lnTo>
                  <a:lnTo>
                    <a:pt x="7456345" y="3629024"/>
                  </a:lnTo>
                </a:path>
                <a:path w="7667625" h="3629025">
                  <a:moveTo>
                    <a:pt x="212617" y="3629024"/>
                  </a:moveTo>
                  <a:lnTo>
                    <a:pt x="147063" y="3613428"/>
                  </a:lnTo>
                  <a:lnTo>
                    <a:pt x="106079" y="3591547"/>
                  </a:lnTo>
                  <a:lnTo>
                    <a:pt x="69812" y="3561811"/>
                  </a:lnTo>
                  <a:lnTo>
                    <a:pt x="40076" y="3525544"/>
                  </a:lnTo>
                  <a:lnTo>
                    <a:pt x="18195" y="3484560"/>
                  </a:lnTo>
                  <a:lnTo>
                    <a:pt x="4687" y="3440108"/>
                  </a:lnTo>
                  <a:lnTo>
                    <a:pt x="0" y="3393437"/>
                  </a:lnTo>
                  <a:lnTo>
                    <a:pt x="0" y="238110"/>
                  </a:lnTo>
                  <a:lnTo>
                    <a:pt x="4687" y="191446"/>
                  </a:lnTo>
                  <a:lnTo>
                    <a:pt x="18195" y="146993"/>
                  </a:lnTo>
                  <a:lnTo>
                    <a:pt x="40076" y="106009"/>
                  </a:lnTo>
                  <a:lnTo>
                    <a:pt x="69812" y="69743"/>
                  </a:lnTo>
                  <a:lnTo>
                    <a:pt x="106079" y="40006"/>
                  </a:lnTo>
                  <a:lnTo>
                    <a:pt x="147063" y="18125"/>
                  </a:lnTo>
                  <a:lnTo>
                    <a:pt x="191515" y="4617"/>
                  </a:lnTo>
                  <a:lnTo>
                    <a:pt x="238186" y="0"/>
                  </a:lnTo>
                  <a:lnTo>
                    <a:pt x="7430775" y="0"/>
                  </a:lnTo>
                  <a:lnTo>
                    <a:pt x="7477446" y="4617"/>
                  </a:lnTo>
                  <a:lnTo>
                    <a:pt x="7521899" y="18125"/>
                  </a:lnTo>
                  <a:lnTo>
                    <a:pt x="7562883" y="40005"/>
                  </a:lnTo>
                  <a:lnTo>
                    <a:pt x="7599150" y="69742"/>
                  </a:lnTo>
                  <a:lnTo>
                    <a:pt x="7628887" y="106009"/>
                  </a:lnTo>
                  <a:lnTo>
                    <a:pt x="7650768" y="146993"/>
                  </a:lnTo>
                  <a:lnTo>
                    <a:pt x="7664277" y="191445"/>
                  </a:lnTo>
                  <a:lnTo>
                    <a:pt x="7667622" y="225271"/>
                  </a:lnTo>
                </a:path>
              </a:pathLst>
            </a:custGeom>
            <a:ln w="57149">
              <a:solidFill>
                <a:srgbClr val="360F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2248" y="6685793"/>
            <a:ext cx="3556000" cy="1082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33450">
              <a:lnSpc>
                <a:spcPct val="115599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Missing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30" dirty="0">
                <a:latin typeface="Times New Roman"/>
                <a:cs typeface="Times New Roman"/>
              </a:rPr>
              <a:t>Value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Handling </a:t>
            </a:r>
            <a:r>
              <a:rPr sz="2000" spc="-25" dirty="0">
                <a:latin typeface="Times New Roman"/>
                <a:cs typeface="Times New Roman"/>
              </a:rPr>
              <a:t>Per-</a:t>
            </a:r>
            <a:r>
              <a:rPr sz="2000" dirty="0">
                <a:latin typeface="Times New Roman"/>
                <a:cs typeface="Times New Roman"/>
              </a:rPr>
              <a:t>sensor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median</a:t>
            </a:r>
            <a:r>
              <a:rPr sz="2000" spc="-10" dirty="0">
                <a:latin typeface="Times New Roman"/>
                <a:cs typeface="Times New Roman"/>
              </a:rPr>
              <a:t> imputation </a:t>
            </a:r>
            <a:r>
              <a:rPr sz="2000" dirty="0">
                <a:latin typeface="Times New Roman"/>
                <a:cs typeface="Times New Roman"/>
              </a:rPr>
              <a:t>Preserved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590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sensors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24360" y="6514343"/>
            <a:ext cx="3717290" cy="1435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390" marR="5080" indent="-60325">
              <a:lnSpc>
                <a:spcPct val="115599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Duplicate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/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Leakage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Prevention </a:t>
            </a:r>
            <a:r>
              <a:rPr sz="2000" dirty="0">
                <a:latin typeface="Times New Roman"/>
                <a:cs typeface="Times New Roman"/>
              </a:rPr>
              <a:t>Chronological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batching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(no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random shuffling)</a:t>
            </a:r>
            <a:endParaRPr sz="2000">
              <a:latin typeface="Times New Roman"/>
              <a:cs typeface="Times New Roman"/>
            </a:endParaRPr>
          </a:p>
          <a:p>
            <a:pPr marL="72390">
              <a:lnSpc>
                <a:spcPct val="100000"/>
              </a:lnSpc>
              <a:spcBef>
                <a:spcPts val="375"/>
              </a:spcBef>
            </a:pPr>
            <a:r>
              <a:rPr sz="2000" dirty="0">
                <a:latin typeface="Times New Roman"/>
                <a:cs typeface="Times New Roman"/>
              </a:rPr>
              <a:t>Prevented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future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leakage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697603" y="6685793"/>
            <a:ext cx="5465445" cy="1082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7580" indent="1156335">
              <a:lnSpc>
                <a:spcPct val="115599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Feature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Selection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&amp;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Reduction </a:t>
            </a:r>
            <a:r>
              <a:rPr sz="2000" b="1" dirty="0">
                <a:latin typeface="Times New Roman"/>
                <a:cs typeface="Times New Roman"/>
              </a:rPr>
              <a:t>LASSO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per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batch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→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Stability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Score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000" b="1" spc="-35" dirty="0">
                <a:latin typeface="Times New Roman"/>
                <a:cs typeface="Times New Roman"/>
              </a:rPr>
              <a:t>Tripwire</a:t>
            </a:r>
            <a:r>
              <a:rPr sz="2000" b="1" spc="-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Audit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rescues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rare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but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important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sensors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09763" y="8347636"/>
            <a:ext cx="3874770" cy="1082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91335">
              <a:lnSpc>
                <a:spcPct val="115599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Feature</a:t>
            </a:r>
            <a:r>
              <a:rPr sz="2000" b="1" spc="-9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Scaling </a:t>
            </a:r>
            <a:r>
              <a:rPr sz="2000" dirty="0">
                <a:latin typeface="Times New Roman"/>
                <a:cs typeface="Times New Roman"/>
              </a:rPr>
              <a:t>Applied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within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training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batch </a:t>
            </a:r>
            <a:r>
              <a:rPr sz="2000" dirty="0">
                <a:latin typeface="Times New Roman"/>
                <a:cs typeface="Times New Roman"/>
              </a:rPr>
              <a:t>Prevented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scaling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leakage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across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time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38216" y="8406298"/>
            <a:ext cx="4110990" cy="108267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570355">
              <a:lnSpc>
                <a:spcPct val="100000"/>
              </a:lnSpc>
              <a:spcBef>
                <a:spcPts val="475"/>
              </a:spcBef>
            </a:pPr>
            <a:r>
              <a:rPr sz="2000" b="1" dirty="0">
                <a:latin typeface="Times New Roman"/>
                <a:cs typeface="Times New Roman"/>
              </a:rPr>
              <a:t>Chronological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Splitting</a:t>
            </a:r>
            <a:endParaRPr sz="2000">
              <a:latin typeface="Times New Roman"/>
              <a:cs typeface="Times New Roman"/>
            </a:endParaRPr>
          </a:p>
          <a:p>
            <a:pPr marL="12700" marR="705485">
              <a:lnSpc>
                <a:spcPct val="115599"/>
              </a:lnSpc>
            </a:pPr>
            <a:r>
              <a:rPr sz="2000" dirty="0">
                <a:latin typeface="Times New Roman"/>
                <a:cs typeface="Times New Roman"/>
              </a:rPr>
              <a:t>Past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→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Future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evaluation </a:t>
            </a:r>
            <a:r>
              <a:rPr sz="2000" dirty="0">
                <a:latin typeface="Times New Roman"/>
                <a:cs typeface="Times New Roman"/>
              </a:rPr>
              <a:t>Simulates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real-</a:t>
            </a:r>
            <a:r>
              <a:rPr sz="2000" dirty="0">
                <a:latin typeface="Times New Roman"/>
                <a:cs typeface="Times New Roman"/>
              </a:rPr>
              <a:t>world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deployment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00885" y="2409488"/>
            <a:ext cx="5095240" cy="4460240"/>
            <a:chOff x="6000885" y="2409488"/>
            <a:chExt cx="5095240" cy="446024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36298" y="6398365"/>
              <a:ext cx="459794" cy="38622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010411" y="6326948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462" y="532924"/>
                  </a:moveTo>
                  <a:lnTo>
                    <a:pt x="218565" y="528631"/>
                  </a:lnTo>
                  <a:lnTo>
                    <a:pt x="173485" y="516254"/>
                  </a:lnTo>
                  <a:lnTo>
                    <a:pt x="131973" y="496544"/>
                  </a:lnTo>
                  <a:lnTo>
                    <a:pt x="94784" y="470256"/>
                  </a:lnTo>
                  <a:lnTo>
                    <a:pt x="62668" y="438140"/>
                  </a:lnTo>
                  <a:lnTo>
                    <a:pt x="36379" y="400951"/>
                  </a:lnTo>
                  <a:lnTo>
                    <a:pt x="16670" y="359439"/>
                  </a:lnTo>
                  <a:lnTo>
                    <a:pt x="4293" y="314359"/>
                  </a:lnTo>
                  <a:lnTo>
                    <a:pt x="0" y="266462"/>
                  </a:lnTo>
                  <a:lnTo>
                    <a:pt x="4293" y="218565"/>
                  </a:lnTo>
                  <a:lnTo>
                    <a:pt x="16670" y="173485"/>
                  </a:lnTo>
                  <a:lnTo>
                    <a:pt x="36379" y="131973"/>
                  </a:lnTo>
                  <a:lnTo>
                    <a:pt x="62668" y="94784"/>
                  </a:lnTo>
                  <a:lnTo>
                    <a:pt x="94784" y="62668"/>
                  </a:lnTo>
                  <a:lnTo>
                    <a:pt x="131973" y="36379"/>
                  </a:lnTo>
                  <a:lnTo>
                    <a:pt x="173485" y="16670"/>
                  </a:lnTo>
                  <a:lnTo>
                    <a:pt x="218565" y="4293"/>
                  </a:lnTo>
                  <a:lnTo>
                    <a:pt x="266462" y="0"/>
                  </a:lnTo>
                  <a:lnTo>
                    <a:pt x="314359" y="4293"/>
                  </a:lnTo>
                  <a:lnTo>
                    <a:pt x="359439" y="16670"/>
                  </a:lnTo>
                  <a:lnTo>
                    <a:pt x="400951" y="36379"/>
                  </a:lnTo>
                  <a:lnTo>
                    <a:pt x="438140" y="62668"/>
                  </a:lnTo>
                  <a:lnTo>
                    <a:pt x="470256" y="94784"/>
                  </a:lnTo>
                  <a:lnTo>
                    <a:pt x="496544" y="131973"/>
                  </a:lnTo>
                  <a:lnTo>
                    <a:pt x="516254" y="173485"/>
                  </a:lnTo>
                  <a:lnTo>
                    <a:pt x="528631" y="218565"/>
                  </a:lnTo>
                  <a:lnTo>
                    <a:pt x="532924" y="266462"/>
                  </a:lnTo>
                  <a:lnTo>
                    <a:pt x="528631" y="314359"/>
                  </a:lnTo>
                  <a:lnTo>
                    <a:pt x="516254" y="359439"/>
                  </a:lnTo>
                  <a:lnTo>
                    <a:pt x="496544" y="400951"/>
                  </a:lnTo>
                  <a:lnTo>
                    <a:pt x="470256" y="438140"/>
                  </a:lnTo>
                  <a:lnTo>
                    <a:pt x="438140" y="470256"/>
                  </a:lnTo>
                  <a:lnTo>
                    <a:pt x="400951" y="496544"/>
                  </a:lnTo>
                  <a:lnTo>
                    <a:pt x="359439" y="516254"/>
                  </a:lnTo>
                  <a:lnTo>
                    <a:pt x="314359" y="528631"/>
                  </a:lnTo>
                  <a:lnTo>
                    <a:pt x="266462" y="532924"/>
                  </a:lnTo>
                  <a:close/>
                </a:path>
              </a:pathLst>
            </a:custGeom>
            <a:solidFill>
              <a:srgbClr val="DEE7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10410" y="6326948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393" y="0"/>
                  </a:moveTo>
                  <a:lnTo>
                    <a:pt x="218508" y="4291"/>
                  </a:lnTo>
                  <a:lnTo>
                    <a:pt x="173439" y="16666"/>
                  </a:lnTo>
                  <a:lnTo>
                    <a:pt x="131939" y="36370"/>
                  </a:lnTo>
                  <a:lnTo>
                    <a:pt x="94759" y="62652"/>
                  </a:lnTo>
                  <a:lnTo>
                    <a:pt x="62652" y="94759"/>
                  </a:lnTo>
                  <a:lnTo>
                    <a:pt x="36370" y="131939"/>
                  </a:lnTo>
                  <a:lnTo>
                    <a:pt x="16666" y="173439"/>
                  </a:lnTo>
                  <a:lnTo>
                    <a:pt x="4291" y="218508"/>
                  </a:lnTo>
                  <a:lnTo>
                    <a:pt x="0" y="266393"/>
                  </a:lnTo>
                  <a:lnTo>
                    <a:pt x="4291" y="314277"/>
                  </a:lnTo>
                  <a:lnTo>
                    <a:pt x="16666" y="359346"/>
                  </a:lnTo>
                  <a:lnTo>
                    <a:pt x="36370" y="400846"/>
                  </a:lnTo>
                  <a:lnTo>
                    <a:pt x="62652" y="438026"/>
                  </a:lnTo>
                  <a:lnTo>
                    <a:pt x="94759" y="470134"/>
                  </a:lnTo>
                  <a:lnTo>
                    <a:pt x="131939" y="496415"/>
                  </a:lnTo>
                  <a:lnTo>
                    <a:pt x="173439" y="516120"/>
                  </a:lnTo>
                  <a:lnTo>
                    <a:pt x="218508" y="528494"/>
                  </a:lnTo>
                  <a:lnTo>
                    <a:pt x="266393" y="532786"/>
                  </a:lnTo>
                  <a:lnTo>
                    <a:pt x="314277" y="528494"/>
                  </a:lnTo>
                  <a:lnTo>
                    <a:pt x="359346" y="516120"/>
                  </a:lnTo>
                  <a:lnTo>
                    <a:pt x="400846" y="496415"/>
                  </a:lnTo>
                  <a:lnTo>
                    <a:pt x="438026" y="470134"/>
                  </a:lnTo>
                  <a:lnTo>
                    <a:pt x="470134" y="438026"/>
                  </a:lnTo>
                  <a:lnTo>
                    <a:pt x="496415" y="400846"/>
                  </a:lnTo>
                  <a:lnTo>
                    <a:pt x="516120" y="359346"/>
                  </a:lnTo>
                  <a:lnTo>
                    <a:pt x="528494" y="314277"/>
                  </a:lnTo>
                  <a:lnTo>
                    <a:pt x="532786" y="266393"/>
                  </a:lnTo>
                  <a:lnTo>
                    <a:pt x="528494" y="218508"/>
                  </a:lnTo>
                  <a:lnTo>
                    <a:pt x="516120" y="173439"/>
                  </a:lnTo>
                  <a:lnTo>
                    <a:pt x="496415" y="131939"/>
                  </a:lnTo>
                  <a:lnTo>
                    <a:pt x="470134" y="94759"/>
                  </a:lnTo>
                  <a:lnTo>
                    <a:pt x="438026" y="62652"/>
                  </a:lnTo>
                  <a:lnTo>
                    <a:pt x="400846" y="36370"/>
                  </a:lnTo>
                  <a:lnTo>
                    <a:pt x="359346" y="16666"/>
                  </a:lnTo>
                  <a:lnTo>
                    <a:pt x="314277" y="4291"/>
                  </a:lnTo>
                  <a:lnTo>
                    <a:pt x="266393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13932" y="6430469"/>
              <a:ext cx="321855" cy="3218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07727" y="2409488"/>
              <a:ext cx="95250" cy="9524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07727" y="3304838"/>
              <a:ext cx="95250" cy="9524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07727" y="4200188"/>
              <a:ext cx="95250" cy="95249"/>
            </a:xfrm>
            <a:prstGeom prst="rect">
              <a:avLst/>
            </a:prstGeom>
          </p:spPr>
        </p:pic>
      </p:grp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5202702" y="125128"/>
            <a:ext cx="7771765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Dataset</a:t>
            </a:r>
            <a:r>
              <a:rPr spc="-85" dirty="0"/>
              <a:t> </a:t>
            </a:r>
            <a:r>
              <a:rPr dirty="0"/>
              <a:t>&amp;</a:t>
            </a:r>
            <a:r>
              <a:rPr spc="-85" dirty="0"/>
              <a:t> </a:t>
            </a:r>
            <a:r>
              <a:rPr spc="-10" dirty="0"/>
              <a:t>Preprocessing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0739552" y="2147081"/>
            <a:ext cx="5788025" cy="2711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sz="2550" b="1" spc="-10" dirty="0">
                <a:latin typeface="Times New Roman"/>
                <a:cs typeface="Times New Roman"/>
              </a:rPr>
              <a:t>Chronological</a:t>
            </a:r>
            <a:r>
              <a:rPr sz="2550" b="1" spc="-105" dirty="0">
                <a:latin typeface="Times New Roman"/>
                <a:cs typeface="Times New Roman"/>
              </a:rPr>
              <a:t> </a:t>
            </a:r>
            <a:r>
              <a:rPr sz="2550" b="1" dirty="0">
                <a:latin typeface="Times New Roman"/>
                <a:cs typeface="Times New Roman"/>
              </a:rPr>
              <a:t>Batching:</a:t>
            </a:r>
            <a:r>
              <a:rPr sz="2550" b="1" spc="-10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5</a:t>
            </a:r>
            <a:r>
              <a:rPr sz="2550" spc="-10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sequential,</a:t>
            </a:r>
            <a:r>
              <a:rPr sz="2550" spc="-105" dirty="0">
                <a:latin typeface="Times New Roman"/>
                <a:cs typeface="Times New Roman"/>
              </a:rPr>
              <a:t> </a:t>
            </a:r>
            <a:r>
              <a:rPr sz="2550" spc="-20" dirty="0">
                <a:latin typeface="Times New Roman"/>
                <a:cs typeface="Times New Roman"/>
              </a:rPr>
              <a:t>non-</a:t>
            </a:r>
            <a:r>
              <a:rPr sz="2550" spc="-10" dirty="0">
                <a:latin typeface="Times New Roman"/>
                <a:cs typeface="Times New Roman"/>
              </a:rPr>
              <a:t>overlapping</a:t>
            </a:r>
            <a:r>
              <a:rPr sz="2550" spc="-70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batches.</a:t>
            </a:r>
            <a:endParaRPr sz="2550">
              <a:latin typeface="Times New Roman"/>
              <a:cs typeface="Times New Roman"/>
            </a:endParaRPr>
          </a:p>
          <a:p>
            <a:pPr marL="12700" marR="222885">
              <a:lnSpc>
                <a:spcPct val="115199"/>
              </a:lnSpc>
            </a:pPr>
            <a:r>
              <a:rPr sz="2550" b="1" spc="-45" dirty="0">
                <a:latin typeface="Times New Roman"/>
                <a:cs typeface="Times New Roman"/>
              </a:rPr>
              <a:t>Train/Test</a:t>
            </a:r>
            <a:r>
              <a:rPr sz="2550" b="1" spc="-65" dirty="0">
                <a:latin typeface="Times New Roman"/>
                <a:cs typeface="Times New Roman"/>
              </a:rPr>
              <a:t> </a:t>
            </a:r>
            <a:r>
              <a:rPr sz="2550" b="1" dirty="0">
                <a:latin typeface="Times New Roman"/>
                <a:cs typeface="Times New Roman"/>
              </a:rPr>
              <a:t>Split:</a:t>
            </a:r>
            <a:r>
              <a:rPr sz="2550" b="1" spc="-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Batches</a:t>
            </a:r>
            <a:r>
              <a:rPr sz="2550" spc="-65" dirty="0">
                <a:latin typeface="Times New Roman"/>
                <a:cs typeface="Times New Roman"/>
              </a:rPr>
              <a:t> </a:t>
            </a:r>
            <a:r>
              <a:rPr sz="2550" spc="-25" dirty="0">
                <a:latin typeface="Times New Roman"/>
                <a:cs typeface="Times New Roman"/>
              </a:rPr>
              <a:t>0–</a:t>
            </a:r>
            <a:r>
              <a:rPr sz="2550" dirty="0">
                <a:latin typeface="Times New Roman"/>
                <a:cs typeface="Times New Roman"/>
              </a:rPr>
              <a:t>3</a:t>
            </a:r>
            <a:r>
              <a:rPr sz="2550" spc="-6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for</a:t>
            </a:r>
            <a:r>
              <a:rPr sz="2550" spc="-6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training, </a:t>
            </a:r>
            <a:r>
              <a:rPr sz="2550" dirty="0">
                <a:latin typeface="Times New Roman"/>
                <a:cs typeface="Times New Roman"/>
              </a:rPr>
              <a:t>Batch</a:t>
            </a:r>
            <a:r>
              <a:rPr sz="2550" spc="-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4</a:t>
            </a:r>
            <a:r>
              <a:rPr sz="2550" spc="-5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for</a:t>
            </a:r>
            <a:r>
              <a:rPr sz="2550" spc="-50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testing.</a:t>
            </a:r>
            <a:endParaRPr sz="2550">
              <a:latin typeface="Times New Roman"/>
              <a:cs typeface="Times New Roman"/>
            </a:endParaRPr>
          </a:p>
          <a:p>
            <a:pPr marL="12700" marR="106680">
              <a:lnSpc>
                <a:spcPct val="115199"/>
              </a:lnSpc>
            </a:pPr>
            <a:r>
              <a:rPr sz="2550" b="1" dirty="0">
                <a:latin typeface="Times New Roman"/>
                <a:cs typeface="Times New Roman"/>
              </a:rPr>
              <a:t>Class</a:t>
            </a:r>
            <a:r>
              <a:rPr sz="2550" b="1" spc="-95" dirty="0">
                <a:latin typeface="Times New Roman"/>
                <a:cs typeface="Times New Roman"/>
              </a:rPr>
              <a:t> </a:t>
            </a:r>
            <a:r>
              <a:rPr sz="2550" b="1" dirty="0">
                <a:latin typeface="Times New Roman"/>
                <a:cs typeface="Times New Roman"/>
              </a:rPr>
              <a:t>Imbalance:</a:t>
            </a:r>
            <a:r>
              <a:rPr sz="2550" b="1" spc="-9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SMOTE</a:t>
            </a:r>
            <a:r>
              <a:rPr sz="2550" spc="-9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on</a:t>
            </a:r>
            <a:r>
              <a:rPr sz="2550" spc="-9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training</a:t>
            </a:r>
            <a:r>
              <a:rPr sz="2550" spc="-90" dirty="0">
                <a:latin typeface="Times New Roman"/>
                <a:cs typeface="Times New Roman"/>
              </a:rPr>
              <a:t> </a:t>
            </a:r>
            <a:r>
              <a:rPr sz="2550" spc="-20" dirty="0">
                <a:latin typeface="Times New Roman"/>
                <a:cs typeface="Times New Roman"/>
              </a:rPr>
              <a:t>data </a:t>
            </a:r>
            <a:r>
              <a:rPr sz="2550" dirty="0">
                <a:latin typeface="Times New Roman"/>
                <a:cs typeface="Times New Roman"/>
              </a:rPr>
              <a:t>only;</a:t>
            </a:r>
            <a:r>
              <a:rPr sz="2550" spc="-9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class</a:t>
            </a:r>
            <a:r>
              <a:rPr sz="2550" spc="-9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weighting</a:t>
            </a:r>
            <a:r>
              <a:rPr sz="2550" spc="-95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during</a:t>
            </a:r>
            <a:r>
              <a:rPr sz="2550" spc="-95" dirty="0">
                <a:latin typeface="Times New Roman"/>
                <a:cs typeface="Times New Roman"/>
              </a:rPr>
              <a:t> </a:t>
            </a:r>
            <a:r>
              <a:rPr sz="2550" spc="-10" dirty="0">
                <a:latin typeface="Times New Roman"/>
                <a:cs typeface="Times New Roman"/>
              </a:rPr>
              <a:t>LASSO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2410" y="6564275"/>
            <a:ext cx="377190" cy="30911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830"/>
              </a:lnSpc>
            </a:pPr>
            <a:r>
              <a:rPr sz="2500" b="1" spc="-10" dirty="0">
                <a:latin typeface="Times New Roman"/>
                <a:cs typeface="Times New Roman"/>
              </a:rPr>
              <a:t>Preprocessing</a:t>
            </a:r>
            <a:r>
              <a:rPr sz="2500" b="1" spc="-10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Pipeline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291338" y="1781875"/>
            <a:ext cx="1416685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b="1" dirty="0">
                <a:latin typeface="Times New Roman"/>
                <a:cs typeface="Times New Roman"/>
              </a:rPr>
              <a:t>Data</a:t>
            </a:r>
            <a:r>
              <a:rPr sz="2550" b="1" spc="-75" dirty="0">
                <a:latin typeface="Times New Roman"/>
                <a:cs typeface="Times New Roman"/>
              </a:rPr>
              <a:t> </a:t>
            </a:r>
            <a:r>
              <a:rPr sz="2550" b="1" spc="-10" dirty="0">
                <a:latin typeface="Times New Roman"/>
                <a:cs typeface="Times New Roman"/>
              </a:rPr>
              <a:t>Split</a:t>
            </a:r>
            <a:endParaRPr sz="2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050" y="6657885"/>
            <a:ext cx="1773588" cy="176799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5992259" y="11"/>
            <a:ext cx="1642745" cy="808990"/>
          </a:xfrm>
          <a:custGeom>
            <a:avLst/>
            <a:gdLst/>
            <a:ahLst/>
            <a:cxnLst/>
            <a:rect l="l" t="t" r="r" b="b"/>
            <a:pathLst>
              <a:path w="1642744" h="808990">
                <a:moveTo>
                  <a:pt x="609777" y="277037"/>
                </a:moveTo>
                <a:lnTo>
                  <a:pt x="587133" y="222681"/>
                </a:lnTo>
                <a:lnTo>
                  <a:pt x="557491" y="191681"/>
                </a:lnTo>
                <a:lnTo>
                  <a:pt x="366039" y="0"/>
                </a:lnTo>
                <a:lnTo>
                  <a:pt x="142303" y="0"/>
                </a:lnTo>
                <a:lnTo>
                  <a:pt x="257987" y="115430"/>
                </a:lnTo>
                <a:lnTo>
                  <a:pt x="417499" y="275094"/>
                </a:lnTo>
                <a:lnTo>
                  <a:pt x="400570" y="293293"/>
                </a:lnTo>
                <a:lnTo>
                  <a:pt x="384962" y="310184"/>
                </a:lnTo>
                <a:lnTo>
                  <a:pt x="370090" y="326059"/>
                </a:lnTo>
                <a:lnTo>
                  <a:pt x="355384" y="341236"/>
                </a:lnTo>
                <a:lnTo>
                  <a:pt x="318236" y="378460"/>
                </a:lnTo>
                <a:lnTo>
                  <a:pt x="132308" y="564375"/>
                </a:lnTo>
                <a:lnTo>
                  <a:pt x="95186" y="601624"/>
                </a:lnTo>
                <a:lnTo>
                  <a:pt x="58140" y="638937"/>
                </a:lnTo>
                <a:lnTo>
                  <a:pt x="32016" y="667232"/>
                </a:lnTo>
                <a:lnTo>
                  <a:pt x="9271" y="698055"/>
                </a:lnTo>
                <a:lnTo>
                  <a:pt x="0" y="721271"/>
                </a:lnTo>
                <a:lnTo>
                  <a:pt x="495" y="743610"/>
                </a:lnTo>
                <a:lnTo>
                  <a:pt x="24015" y="783869"/>
                </a:lnTo>
                <a:lnTo>
                  <a:pt x="63957" y="807948"/>
                </a:lnTo>
                <a:lnTo>
                  <a:pt x="86360" y="808583"/>
                </a:lnTo>
                <a:lnTo>
                  <a:pt x="109702" y="800023"/>
                </a:lnTo>
                <a:lnTo>
                  <a:pt x="150177" y="768794"/>
                </a:lnTo>
                <a:lnTo>
                  <a:pt x="198424" y="721093"/>
                </a:lnTo>
                <a:lnTo>
                  <a:pt x="306184" y="613600"/>
                </a:lnTo>
                <a:lnTo>
                  <a:pt x="557263" y="362432"/>
                </a:lnTo>
                <a:lnTo>
                  <a:pt x="572655" y="347408"/>
                </a:lnTo>
                <a:lnTo>
                  <a:pt x="580072" y="339661"/>
                </a:lnTo>
                <a:lnTo>
                  <a:pt x="586905" y="331470"/>
                </a:lnTo>
                <a:lnTo>
                  <a:pt x="604024" y="303174"/>
                </a:lnTo>
                <a:lnTo>
                  <a:pt x="609777" y="277037"/>
                </a:lnTo>
                <a:close/>
              </a:path>
              <a:path w="1642744" h="808990">
                <a:moveTo>
                  <a:pt x="1157439" y="277037"/>
                </a:moveTo>
                <a:lnTo>
                  <a:pt x="1134795" y="222681"/>
                </a:lnTo>
                <a:lnTo>
                  <a:pt x="1105154" y="191681"/>
                </a:lnTo>
                <a:lnTo>
                  <a:pt x="913714" y="0"/>
                </a:lnTo>
                <a:lnTo>
                  <a:pt x="689965" y="0"/>
                </a:lnTo>
                <a:lnTo>
                  <a:pt x="805649" y="115430"/>
                </a:lnTo>
                <a:lnTo>
                  <a:pt x="965174" y="275094"/>
                </a:lnTo>
                <a:lnTo>
                  <a:pt x="948232" y="293293"/>
                </a:lnTo>
                <a:lnTo>
                  <a:pt x="932611" y="310184"/>
                </a:lnTo>
                <a:lnTo>
                  <a:pt x="917740" y="326059"/>
                </a:lnTo>
                <a:lnTo>
                  <a:pt x="903046" y="341236"/>
                </a:lnTo>
                <a:lnTo>
                  <a:pt x="865911" y="378460"/>
                </a:lnTo>
                <a:lnTo>
                  <a:pt x="679970" y="564375"/>
                </a:lnTo>
                <a:lnTo>
                  <a:pt x="642861" y="601624"/>
                </a:lnTo>
                <a:lnTo>
                  <a:pt x="605802" y="638937"/>
                </a:lnTo>
                <a:lnTo>
                  <a:pt x="579678" y="667232"/>
                </a:lnTo>
                <a:lnTo>
                  <a:pt x="556945" y="698055"/>
                </a:lnTo>
                <a:lnTo>
                  <a:pt x="547662" y="721271"/>
                </a:lnTo>
                <a:lnTo>
                  <a:pt x="548157" y="743610"/>
                </a:lnTo>
                <a:lnTo>
                  <a:pt x="571677" y="783869"/>
                </a:lnTo>
                <a:lnTo>
                  <a:pt x="611619" y="807948"/>
                </a:lnTo>
                <a:lnTo>
                  <a:pt x="634034" y="808583"/>
                </a:lnTo>
                <a:lnTo>
                  <a:pt x="657377" y="800023"/>
                </a:lnTo>
                <a:lnTo>
                  <a:pt x="697839" y="768794"/>
                </a:lnTo>
                <a:lnTo>
                  <a:pt x="746086" y="721093"/>
                </a:lnTo>
                <a:lnTo>
                  <a:pt x="853846" y="613600"/>
                </a:lnTo>
                <a:lnTo>
                  <a:pt x="1104925" y="362432"/>
                </a:lnTo>
                <a:lnTo>
                  <a:pt x="1120317" y="347408"/>
                </a:lnTo>
                <a:lnTo>
                  <a:pt x="1127734" y="339661"/>
                </a:lnTo>
                <a:lnTo>
                  <a:pt x="1134567" y="331470"/>
                </a:lnTo>
                <a:lnTo>
                  <a:pt x="1151699" y="303174"/>
                </a:lnTo>
                <a:lnTo>
                  <a:pt x="1157439" y="277037"/>
                </a:lnTo>
                <a:close/>
              </a:path>
              <a:path w="1642744" h="808990">
                <a:moveTo>
                  <a:pt x="1642491" y="250202"/>
                </a:moveTo>
                <a:lnTo>
                  <a:pt x="1619859" y="195846"/>
                </a:lnTo>
                <a:lnTo>
                  <a:pt x="1590205" y="164833"/>
                </a:lnTo>
                <a:lnTo>
                  <a:pt x="1425587" y="0"/>
                </a:lnTo>
                <a:lnTo>
                  <a:pt x="1201889" y="0"/>
                </a:lnTo>
                <a:lnTo>
                  <a:pt x="1290701" y="88595"/>
                </a:lnTo>
                <a:lnTo>
                  <a:pt x="1450225" y="248246"/>
                </a:lnTo>
                <a:lnTo>
                  <a:pt x="1433283" y="266471"/>
                </a:lnTo>
                <a:lnTo>
                  <a:pt x="1417662" y="283375"/>
                </a:lnTo>
                <a:lnTo>
                  <a:pt x="1402803" y="299237"/>
                </a:lnTo>
                <a:lnTo>
                  <a:pt x="1388110" y="314388"/>
                </a:lnTo>
                <a:lnTo>
                  <a:pt x="1350962" y="351612"/>
                </a:lnTo>
                <a:lnTo>
                  <a:pt x="1165034" y="537540"/>
                </a:lnTo>
                <a:lnTo>
                  <a:pt x="1127912" y="574789"/>
                </a:lnTo>
                <a:lnTo>
                  <a:pt x="1090853" y="612101"/>
                </a:lnTo>
                <a:lnTo>
                  <a:pt x="1064729" y="640397"/>
                </a:lnTo>
                <a:lnTo>
                  <a:pt x="1041996" y="671220"/>
                </a:lnTo>
                <a:lnTo>
                  <a:pt x="1032725" y="694423"/>
                </a:lnTo>
                <a:lnTo>
                  <a:pt x="1033208" y="716762"/>
                </a:lnTo>
                <a:lnTo>
                  <a:pt x="1056728" y="757034"/>
                </a:lnTo>
                <a:lnTo>
                  <a:pt x="1096670" y="781100"/>
                </a:lnTo>
                <a:lnTo>
                  <a:pt x="1119085" y="781748"/>
                </a:lnTo>
                <a:lnTo>
                  <a:pt x="1142428" y="773176"/>
                </a:lnTo>
                <a:lnTo>
                  <a:pt x="1182903" y="741959"/>
                </a:lnTo>
                <a:lnTo>
                  <a:pt x="1231150" y="694245"/>
                </a:lnTo>
                <a:lnTo>
                  <a:pt x="1338897" y="586752"/>
                </a:lnTo>
                <a:lnTo>
                  <a:pt x="1589976" y="335597"/>
                </a:lnTo>
                <a:lnTo>
                  <a:pt x="1605368" y="320560"/>
                </a:lnTo>
                <a:lnTo>
                  <a:pt x="1612798" y="312813"/>
                </a:lnTo>
                <a:lnTo>
                  <a:pt x="1619618" y="304622"/>
                </a:lnTo>
                <a:lnTo>
                  <a:pt x="1636750" y="276339"/>
                </a:lnTo>
                <a:lnTo>
                  <a:pt x="1642491" y="250202"/>
                </a:lnTo>
                <a:close/>
              </a:path>
            </a:pathLst>
          </a:custGeom>
          <a:solidFill>
            <a:srgbClr val="DEE77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84300" y="1606567"/>
          <a:ext cx="17053559" cy="7750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3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3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3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633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0170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Paper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476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Approach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476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Limitation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476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Our Work </a:t>
                      </a: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(YieldLens)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476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901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0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McCann</a:t>
                      </a:r>
                      <a:r>
                        <a:rPr sz="24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24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Johnston</a:t>
                      </a:r>
                      <a:r>
                        <a:rPr sz="24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(2008)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048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1081405">
                        <a:lnSpc>
                          <a:spcPct val="117200"/>
                        </a:lnSpc>
                        <a:spcBef>
                          <a:spcPts val="18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Baseline</a:t>
                      </a:r>
                      <a:r>
                        <a:rPr sz="2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SECOM</a:t>
                      </a:r>
                      <a:r>
                        <a:rPr sz="2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feature selection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0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Static single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split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048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547370">
                        <a:lnSpc>
                          <a:spcPct val="117200"/>
                        </a:lnSpc>
                        <a:spcBef>
                          <a:spcPts val="18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Chronological batching on 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all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590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sensors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901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0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Guyon</a:t>
                      </a:r>
                      <a:r>
                        <a:rPr sz="2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2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Elisseeff</a:t>
                      </a:r>
                      <a:r>
                        <a:rPr sz="2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(2003)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048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0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Feature selection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survey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048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0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temporal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analysis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048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506730">
                        <a:lnSpc>
                          <a:spcPct val="117200"/>
                        </a:lnSpc>
                        <a:spcBef>
                          <a:spcPts val="18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Drift-aware embedded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feature selection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901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0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Tibshirani </a:t>
                      </a: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(1996)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048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0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LASSO</a:t>
                      </a:r>
                      <a:r>
                        <a:rPr sz="2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2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selection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048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0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stability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over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time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048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84225">
                        <a:lnSpc>
                          <a:spcPct val="117200"/>
                        </a:lnSpc>
                        <a:spcBef>
                          <a:spcPts val="18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LASSO</a:t>
                      </a: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applied</a:t>
                      </a:r>
                      <a:r>
                        <a:rPr sz="2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2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batches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9015">
                <a:tc>
                  <a:txBody>
                    <a:bodyPr/>
                    <a:lstStyle/>
                    <a:p>
                      <a:pPr marL="75565" marR="689610">
                        <a:lnSpc>
                          <a:spcPct val="117200"/>
                        </a:lnSpc>
                        <a:spcBef>
                          <a:spcPts val="18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Meinshausen</a:t>
                      </a:r>
                      <a:r>
                        <a:rPr sz="2400" b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24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Bühlmann (2010)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0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Stability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selection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048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0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Random resampling 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only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048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556260">
                        <a:lnSpc>
                          <a:spcPct val="117200"/>
                        </a:lnSpc>
                        <a:spcBef>
                          <a:spcPts val="18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Stability</a:t>
                      </a: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chronological batches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170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Gama et al. </a:t>
                      </a: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(2014)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476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Concept drift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survey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476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selection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476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Applies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drift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stability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476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0901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0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He</a:t>
                      </a: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Garcia</a:t>
                      </a:r>
                      <a:r>
                        <a:rPr sz="24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(2009)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048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0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Imbalanced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learning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048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0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General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methods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048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1010285">
                        <a:lnSpc>
                          <a:spcPct val="117200"/>
                        </a:lnSpc>
                        <a:spcBef>
                          <a:spcPts val="18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SMOTE</a:t>
                      </a:r>
                      <a:r>
                        <a:rPr sz="2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2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class-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weighted learning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0170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Chambers</a:t>
                      </a:r>
                      <a:r>
                        <a:rPr sz="2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(2026)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476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Practical</a:t>
                      </a:r>
                      <a:r>
                        <a:rPr sz="2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SECOM</a:t>
                      </a:r>
                      <a:r>
                        <a:rPr sz="2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analysis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476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Informal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methodology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476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Formal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Tripwire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Audit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476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244998" y="316710"/>
            <a:ext cx="11166475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spc="-180" dirty="0"/>
              <a:t> </a:t>
            </a:r>
            <a:r>
              <a:rPr dirty="0"/>
              <a:t>Review</a:t>
            </a:r>
            <a:r>
              <a:rPr spc="-175" dirty="0"/>
              <a:t> </a:t>
            </a:r>
            <a:r>
              <a:rPr dirty="0"/>
              <a:t>&amp;</a:t>
            </a:r>
            <a:r>
              <a:rPr spc="-175" dirty="0"/>
              <a:t> </a:t>
            </a:r>
            <a:r>
              <a:rPr dirty="0"/>
              <a:t>Research</a:t>
            </a:r>
            <a:r>
              <a:rPr spc="-175" dirty="0"/>
              <a:t> </a:t>
            </a:r>
            <a:r>
              <a:rPr spc="-25" dirty="0"/>
              <a:t>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85003" y="258040"/>
            <a:ext cx="571817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Models </a:t>
            </a:r>
            <a:r>
              <a:rPr sz="6000" spc="-10" dirty="0"/>
              <a:t>Overview</a:t>
            </a:r>
            <a:endParaRPr sz="6000"/>
          </a:p>
        </p:txBody>
      </p:sp>
      <p:grpSp>
        <p:nvGrpSpPr>
          <p:cNvPr id="3" name="object 3"/>
          <p:cNvGrpSpPr/>
          <p:nvPr/>
        </p:nvGrpSpPr>
        <p:grpSpPr>
          <a:xfrm>
            <a:off x="755076" y="1641459"/>
            <a:ext cx="8417560" cy="7997841"/>
            <a:chOff x="755076" y="1641459"/>
            <a:chExt cx="8417560" cy="8029575"/>
          </a:xfrm>
        </p:grpSpPr>
        <p:sp>
          <p:nvSpPr>
            <p:cNvPr id="4" name="object 4"/>
            <p:cNvSpPr/>
            <p:nvPr/>
          </p:nvSpPr>
          <p:spPr>
            <a:xfrm>
              <a:off x="783652" y="1670037"/>
              <a:ext cx="8351520" cy="7977505"/>
            </a:xfrm>
            <a:custGeom>
              <a:avLst/>
              <a:gdLst/>
              <a:ahLst/>
              <a:cxnLst/>
              <a:rect l="l" t="t" r="r" b="b"/>
              <a:pathLst>
                <a:path w="8351520" h="7977505">
                  <a:moveTo>
                    <a:pt x="8217329" y="7977011"/>
                  </a:moveTo>
                  <a:lnTo>
                    <a:pt x="142875" y="7977011"/>
                  </a:lnTo>
                  <a:lnTo>
                    <a:pt x="97715" y="7969727"/>
                  </a:lnTo>
                  <a:lnTo>
                    <a:pt x="58494" y="7949444"/>
                  </a:lnTo>
                  <a:lnTo>
                    <a:pt x="27566" y="7918516"/>
                  </a:lnTo>
                  <a:lnTo>
                    <a:pt x="7283" y="7879295"/>
                  </a:lnTo>
                  <a:lnTo>
                    <a:pt x="0" y="7834136"/>
                  </a:lnTo>
                  <a:lnTo>
                    <a:pt x="0" y="142875"/>
                  </a:ln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5" y="0"/>
                  </a:lnTo>
                  <a:lnTo>
                    <a:pt x="8217329" y="0"/>
                  </a:lnTo>
                  <a:lnTo>
                    <a:pt x="8262489" y="7283"/>
                  </a:lnTo>
                  <a:lnTo>
                    <a:pt x="8301709" y="27566"/>
                  </a:lnTo>
                  <a:lnTo>
                    <a:pt x="8332638" y="58494"/>
                  </a:lnTo>
                  <a:lnTo>
                    <a:pt x="8350933" y="93872"/>
                  </a:lnTo>
                  <a:lnTo>
                    <a:pt x="8350933" y="7883138"/>
                  </a:lnTo>
                  <a:lnTo>
                    <a:pt x="8332638" y="7918516"/>
                  </a:lnTo>
                  <a:lnTo>
                    <a:pt x="8301709" y="7949444"/>
                  </a:lnTo>
                  <a:lnTo>
                    <a:pt x="8262489" y="7969727"/>
                  </a:lnTo>
                  <a:lnTo>
                    <a:pt x="8217329" y="7977011"/>
                  </a:lnTo>
                  <a:close/>
                </a:path>
              </a:pathLst>
            </a:custGeom>
            <a:solidFill>
              <a:srgbClr val="FFFF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3651" y="1670034"/>
              <a:ext cx="8360409" cy="7972425"/>
            </a:xfrm>
            <a:custGeom>
              <a:avLst/>
              <a:gdLst/>
              <a:ahLst/>
              <a:cxnLst/>
              <a:rect l="l" t="t" r="r" b="b"/>
              <a:pathLst>
                <a:path w="8360409" h="7972425">
                  <a:moveTo>
                    <a:pt x="114448" y="7972382"/>
                  </a:moveTo>
                  <a:lnTo>
                    <a:pt x="58445" y="7949397"/>
                  </a:lnTo>
                  <a:lnTo>
                    <a:pt x="27517" y="7918469"/>
                  </a:lnTo>
                  <a:lnTo>
                    <a:pt x="7265" y="7879184"/>
                  </a:lnTo>
                  <a:lnTo>
                    <a:pt x="0" y="7834019"/>
                  </a:lnTo>
                  <a:lnTo>
                    <a:pt x="0" y="142872"/>
                  </a:lnTo>
                  <a:lnTo>
                    <a:pt x="7289" y="97708"/>
                  </a:lnTo>
                  <a:lnTo>
                    <a:pt x="27578" y="58486"/>
                  </a:lnTo>
                  <a:lnTo>
                    <a:pt x="58512" y="27560"/>
                  </a:lnTo>
                  <a:lnTo>
                    <a:pt x="97736" y="7283"/>
                  </a:lnTo>
                  <a:lnTo>
                    <a:pt x="142895" y="0"/>
                  </a:lnTo>
                  <a:lnTo>
                    <a:pt x="8217225" y="3"/>
                  </a:lnTo>
                  <a:lnTo>
                    <a:pt x="8262406" y="7244"/>
                  </a:lnTo>
                  <a:lnTo>
                    <a:pt x="8301656" y="27517"/>
                  </a:lnTo>
                  <a:lnTo>
                    <a:pt x="8332614" y="58454"/>
                  </a:lnTo>
                  <a:lnTo>
                    <a:pt x="8352917" y="97700"/>
                  </a:lnTo>
                  <a:lnTo>
                    <a:pt x="8360203" y="142876"/>
                  </a:lnTo>
                  <a:lnTo>
                    <a:pt x="8360219" y="7834038"/>
                  </a:lnTo>
                  <a:lnTo>
                    <a:pt x="8352798" y="7879278"/>
                  </a:lnTo>
                  <a:lnTo>
                    <a:pt x="8332645" y="7918511"/>
                  </a:lnTo>
                  <a:lnTo>
                    <a:pt x="8301709" y="7949446"/>
                  </a:lnTo>
                  <a:lnTo>
                    <a:pt x="8262384" y="7969608"/>
                  </a:lnTo>
                  <a:lnTo>
                    <a:pt x="8244904" y="7972427"/>
                  </a:lnTo>
                </a:path>
              </a:pathLst>
            </a:custGeom>
            <a:ln w="57149">
              <a:solidFill>
                <a:srgbClr val="360F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2220" y="4056670"/>
              <a:ext cx="76200" cy="761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2220" y="4390045"/>
              <a:ext cx="76200" cy="761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2220" y="6390295"/>
              <a:ext cx="76200" cy="761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2220" y="6723670"/>
              <a:ext cx="76200" cy="761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2220" y="7057044"/>
              <a:ext cx="76200" cy="761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2220" y="7723794"/>
              <a:ext cx="76200" cy="761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2220" y="8057169"/>
              <a:ext cx="76200" cy="761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2220" y="8390545"/>
              <a:ext cx="76200" cy="76199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2630"/>
              </a:lnSpc>
              <a:spcBef>
                <a:spcPts val="195"/>
              </a:spcBef>
            </a:pPr>
            <a:r>
              <a:rPr b="1" dirty="0">
                <a:latin typeface="Times New Roman"/>
                <a:cs typeface="Times New Roman"/>
              </a:rPr>
              <a:t>What: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spc="-10" dirty="0"/>
              <a:t>Gradient-</a:t>
            </a:r>
            <a:r>
              <a:rPr dirty="0"/>
              <a:t>boosted</a:t>
            </a:r>
            <a:r>
              <a:rPr spc="-35" dirty="0"/>
              <a:t> </a:t>
            </a:r>
            <a:r>
              <a:rPr dirty="0"/>
              <a:t>decision</a:t>
            </a:r>
            <a:r>
              <a:rPr spc="-35" dirty="0"/>
              <a:t> </a:t>
            </a:r>
            <a:r>
              <a:rPr dirty="0"/>
              <a:t>tree</a:t>
            </a:r>
            <a:r>
              <a:rPr spc="-35" dirty="0"/>
              <a:t> </a:t>
            </a:r>
            <a:r>
              <a:rPr dirty="0"/>
              <a:t>ensemble</a:t>
            </a:r>
            <a:r>
              <a:rPr spc="-35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supervised</a:t>
            </a:r>
            <a:r>
              <a:rPr spc="-35" dirty="0"/>
              <a:t> </a:t>
            </a:r>
            <a:r>
              <a:rPr spc="-10" dirty="0"/>
              <a:t>binary </a:t>
            </a:r>
            <a:r>
              <a:rPr dirty="0"/>
              <a:t>classification</a:t>
            </a:r>
            <a:r>
              <a:rPr spc="-80" dirty="0"/>
              <a:t> </a:t>
            </a:r>
            <a:r>
              <a:rPr spc="-10" dirty="0"/>
              <a:t>(pass/fail)</a:t>
            </a:r>
          </a:p>
          <a:p>
            <a:pPr marL="12700">
              <a:lnSpc>
                <a:spcPts val="2525"/>
              </a:lnSpc>
            </a:pPr>
            <a:r>
              <a:rPr b="1" spc="-10" dirty="0">
                <a:latin typeface="Times New Roman"/>
                <a:cs typeface="Times New Roman"/>
              </a:rPr>
              <a:t>Architecture:</a:t>
            </a:r>
          </a:p>
          <a:p>
            <a:pPr marL="557530" marR="442595" indent="-70485">
              <a:lnSpc>
                <a:spcPts val="2620"/>
              </a:lnSpc>
              <a:spcBef>
                <a:spcPts val="95"/>
              </a:spcBef>
            </a:pPr>
            <a:r>
              <a:rPr dirty="0"/>
              <a:t>Trees</a:t>
            </a:r>
            <a:r>
              <a:rPr spc="-50" dirty="0"/>
              <a:t> </a:t>
            </a:r>
            <a:r>
              <a:rPr dirty="0"/>
              <a:t>built</a:t>
            </a:r>
            <a:r>
              <a:rPr spc="-45" dirty="0"/>
              <a:t> </a:t>
            </a:r>
            <a:r>
              <a:rPr spc="-10" dirty="0"/>
              <a:t>sequentially,</a:t>
            </a:r>
            <a:r>
              <a:rPr spc="-50" dirty="0"/>
              <a:t> </a:t>
            </a:r>
            <a:r>
              <a:rPr dirty="0"/>
              <a:t>each</a:t>
            </a:r>
            <a:r>
              <a:rPr spc="-45" dirty="0"/>
              <a:t> </a:t>
            </a:r>
            <a:r>
              <a:rPr dirty="0"/>
              <a:t>correcting</a:t>
            </a:r>
            <a:r>
              <a:rPr spc="-50" dirty="0"/>
              <a:t> </a:t>
            </a:r>
            <a:r>
              <a:rPr dirty="0"/>
              <a:t>errors</a:t>
            </a:r>
            <a:r>
              <a:rPr spc="-4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spc="-10" dirty="0"/>
              <a:t>previous </a:t>
            </a:r>
            <a:r>
              <a:rPr dirty="0"/>
              <a:t>Class</a:t>
            </a:r>
            <a:r>
              <a:rPr spc="-40" dirty="0"/>
              <a:t> </a:t>
            </a:r>
            <a:r>
              <a:rPr dirty="0"/>
              <a:t>imbalance</a:t>
            </a:r>
            <a:r>
              <a:rPr spc="-40" dirty="0"/>
              <a:t> </a:t>
            </a:r>
            <a:r>
              <a:rPr dirty="0"/>
              <a:t>handled</a:t>
            </a:r>
            <a:r>
              <a:rPr spc="-35" dirty="0"/>
              <a:t> </a:t>
            </a:r>
            <a:r>
              <a:rPr dirty="0"/>
              <a:t>via</a:t>
            </a:r>
            <a:r>
              <a:rPr spc="-40" dirty="0"/>
              <a:t> </a:t>
            </a:r>
            <a:r>
              <a:rPr dirty="0"/>
              <a:t>SMOTE</a:t>
            </a:r>
            <a:r>
              <a:rPr spc="-35" dirty="0"/>
              <a:t> </a:t>
            </a:r>
            <a:r>
              <a:rPr dirty="0"/>
              <a:t>(train</a:t>
            </a:r>
            <a:r>
              <a:rPr spc="-40" dirty="0"/>
              <a:t> </a:t>
            </a:r>
            <a:r>
              <a:rPr dirty="0"/>
              <a:t>set</a:t>
            </a:r>
            <a:r>
              <a:rPr spc="-40" dirty="0"/>
              <a:t> </a:t>
            </a:r>
            <a:r>
              <a:rPr spc="-10" dirty="0"/>
              <a:t>only)</a:t>
            </a:r>
          </a:p>
          <a:p>
            <a:pPr marL="12700" marR="571500">
              <a:lnSpc>
                <a:spcPts val="2630"/>
              </a:lnSpc>
              <a:spcBef>
                <a:spcPts val="5"/>
              </a:spcBef>
            </a:pPr>
            <a:r>
              <a:rPr b="1" dirty="0">
                <a:latin typeface="Times New Roman"/>
                <a:cs typeface="Times New Roman"/>
              </a:rPr>
              <a:t>How: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dirty="0"/>
              <a:t>Each</a:t>
            </a:r>
            <a:r>
              <a:rPr spc="-30" dirty="0"/>
              <a:t> </a:t>
            </a:r>
            <a:r>
              <a:rPr dirty="0"/>
              <a:t>new</a:t>
            </a:r>
            <a:r>
              <a:rPr spc="-25" dirty="0"/>
              <a:t> </a:t>
            </a:r>
            <a:r>
              <a:rPr dirty="0"/>
              <a:t>tree</a:t>
            </a:r>
            <a:r>
              <a:rPr spc="-30" dirty="0"/>
              <a:t> </a:t>
            </a:r>
            <a:r>
              <a:rPr dirty="0"/>
              <a:t>fits</a:t>
            </a:r>
            <a:r>
              <a:rPr spc="-2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residual</a:t>
            </a:r>
            <a:r>
              <a:rPr spc="-25" dirty="0"/>
              <a:t> </a:t>
            </a:r>
            <a:r>
              <a:rPr dirty="0"/>
              <a:t>errors</a:t>
            </a:r>
            <a:r>
              <a:rPr spc="-3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prior</a:t>
            </a:r>
            <a:r>
              <a:rPr spc="-30" dirty="0"/>
              <a:t> </a:t>
            </a:r>
            <a:r>
              <a:rPr dirty="0"/>
              <a:t>trees</a:t>
            </a:r>
            <a:r>
              <a:rPr spc="-25" dirty="0"/>
              <a:t> </a:t>
            </a:r>
            <a:r>
              <a:rPr dirty="0"/>
              <a:t>→</a:t>
            </a:r>
            <a:r>
              <a:rPr spc="-30" dirty="0"/>
              <a:t> </a:t>
            </a:r>
            <a:r>
              <a:rPr spc="-10" dirty="0"/>
              <a:t>final </a:t>
            </a:r>
            <a:r>
              <a:rPr dirty="0"/>
              <a:t>prediction</a:t>
            </a:r>
            <a:r>
              <a:rPr spc="-35" dirty="0"/>
              <a:t> </a:t>
            </a:r>
            <a:r>
              <a:rPr dirty="0"/>
              <a:t>=</a:t>
            </a:r>
            <a:r>
              <a:rPr spc="-30" dirty="0"/>
              <a:t> </a:t>
            </a:r>
            <a:r>
              <a:rPr dirty="0"/>
              <a:t>weighted</a:t>
            </a:r>
            <a:r>
              <a:rPr spc="-30" dirty="0"/>
              <a:t> </a:t>
            </a:r>
            <a:r>
              <a:rPr dirty="0"/>
              <a:t>sum</a:t>
            </a:r>
            <a:r>
              <a:rPr spc="-35" dirty="0"/>
              <a:t> </a:t>
            </a:r>
            <a:r>
              <a:rPr dirty="0"/>
              <a:t>across</a:t>
            </a:r>
            <a:r>
              <a:rPr spc="-30" dirty="0"/>
              <a:t> </a:t>
            </a:r>
            <a:r>
              <a:rPr dirty="0"/>
              <a:t>all</a:t>
            </a:r>
            <a:r>
              <a:rPr spc="-30" dirty="0"/>
              <a:t> </a:t>
            </a:r>
            <a:r>
              <a:rPr spc="-10" dirty="0"/>
              <a:t>trees</a:t>
            </a:r>
          </a:p>
          <a:p>
            <a:pPr marL="12700">
              <a:lnSpc>
                <a:spcPts val="2525"/>
              </a:lnSpc>
            </a:pPr>
            <a:r>
              <a:rPr b="1" dirty="0">
                <a:latin typeface="Times New Roman"/>
                <a:cs typeface="Times New Roman"/>
              </a:rPr>
              <a:t>Why: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dirty="0"/>
              <a:t>Handles</a:t>
            </a:r>
            <a:r>
              <a:rPr spc="-35" dirty="0"/>
              <a:t> </a:t>
            </a:r>
            <a:r>
              <a:rPr spc="-10" dirty="0"/>
              <a:t>high-</a:t>
            </a:r>
            <a:r>
              <a:rPr dirty="0"/>
              <a:t>dimensional,</a:t>
            </a:r>
            <a:r>
              <a:rPr spc="-35" dirty="0"/>
              <a:t> </a:t>
            </a:r>
            <a:r>
              <a:rPr dirty="0"/>
              <a:t>noisy</a:t>
            </a:r>
            <a:r>
              <a:rPr spc="-40" dirty="0"/>
              <a:t> </a:t>
            </a:r>
            <a:r>
              <a:rPr dirty="0"/>
              <a:t>sensor</a:t>
            </a:r>
            <a:r>
              <a:rPr spc="-35" dirty="0"/>
              <a:t> </a:t>
            </a: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well;</a:t>
            </a:r>
            <a:r>
              <a:rPr spc="-35" dirty="0"/>
              <a:t> </a:t>
            </a:r>
            <a:r>
              <a:rPr dirty="0"/>
              <a:t>robust</a:t>
            </a:r>
            <a:r>
              <a:rPr spc="-40" dirty="0"/>
              <a:t> </a:t>
            </a:r>
            <a:r>
              <a:rPr spc="-25" dirty="0"/>
              <a:t>to</a:t>
            </a:r>
          </a:p>
          <a:p>
            <a:pPr marL="12700">
              <a:lnSpc>
                <a:spcPts val="2625"/>
              </a:lnSpc>
            </a:pPr>
            <a:r>
              <a:rPr dirty="0"/>
              <a:t>redundant</a:t>
            </a:r>
            <a:r>
              <a:rPr spc="-55" dirty="0"/>
              <a:t> </a:t>
            </a:r>
            <a:r>
              <a:rPr spc="-10" dirty="0"/>
              <a:t>features.</a:t>
            </a:r>
          </a:p>
          <a:p>
            <a:pPr marL="12700">
              <a:lnSpc>
                <a:spcPts val="2625"/>
              </a:lnSpc>
            </a:pPr>
            <a:r>
              <a:rPr b="1" dirty="0">
                <a:latin typeface="Times New Roman"/>
                <a:cs typeface="Times New Roman"/>
              </a:rPr>
              <a:t>Key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Insight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—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Full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Sensor</a:t>
            </a:r>
            <a:r>
              <a:rPr b="1" spc="-7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Set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(590):</a:t>
            </a:r>
          </a:p>
          <a:p>
            <a:pPr marL="487045">
              <a:lnSpc>
                <a:spcPts val="2625"/>
              </a:lnSpc>
            </a:pPr>
            <a:r>
              <a:rPr dirty="0"/>
              <a:t>AUC:</a:t>
            </a:r>
            <a:r>
              <a:rPr spc="-25" dirty="0"/>
              <a:t> </a:t>
            </a:r>
            <a:r>
              <a:rPr spc="-20" dirty="0"/>
              <a:t>0.605</a:t>
            </a:r>
          </a:p>
          <a:p>
            <a:pPr marL="487045">
              <a:lnSpc>
                <a:spcPts val="2625"/>
              </a:lnSpc>
            </a:pPr>
            <a:r>
              <a:rPr dirty="0"/>
              <a:t>Precision@30:</a:t>
            </a:r>
            <a:r>
              <a:rPr spc="-90" dirty="0"/>
              <a:t> </a:t>
            </a:r>
            <a:r>
              <a:rPr spc="-20" dirty="0"/>
              <a:t>0.133</a:t>
            </a:r>
          </a:p>
          <a:p>
            <a:pPr marL="487045">
              <a:lnSpc>
                <a:spcPts val="2625"/>
              </a:lnSpc>
            </a:pPr>
            <a:r>
              <a:rPr dirty="0"/>
              <a:t>Recall@30:</a:t>
            </a:r>
            <a:r>
              <a:rPr spc="-60" dirty="0"/>
              <a:t> </a:t>
            </a:r>
            <a:r>
              <a:rPr spc="-20" dirty="0"/>
              <a:t>0.235</a:t>
            </a:r>
          </a:p>
          <a:p>
            <a:pPr marL="12700">
              <a:lnSpc>
                <a:spcPts val="2625"/>
              </a:lnSpc>
            </a:pPr>
            <a:r>
              <a:rPr b="1" dirty="0">
                <a:latin typeface="Times New Roman"/>
                <a:cs typeface="Times New Roman"/>
              </a:rPr>
              <a:t>Key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Insight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—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Reduced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Shortlist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(17):</a:t>
            </a:r>
          </a:p>
          <a:p>
            <a:pPr marL="487045">
              <a:lnSpc>
                <a:spcPts val="2625"/>
              </a:lnSpc>
            </a:pPr>
            <a:r>
              <a:rPr dirty="0"/>
              <a:t>AUC:</a:t>
            </a:r>
            <a:r>
              <a:rPr spc="-20" dirty="0"/>
              <a:t> </a:t>
            </a:r>
            <a:r>
              <a:rPr dirty="0"/>
              <a:t>0.692</a:t>
            </a:r>
            <a:r>
              <a:rPr spc="-20" dirty="0"/>
              <a:t> </a:t>
            </a:r>
            <a:r>
              <a:rPr dirty="0"/>
              <a:t>(↑</a:t>
            </a:r>
            <a:r>
              <a:rPr spc="-20" dirty="0"/>
              <a:t> </a:t>
            </a:r>
            <a:r>
              <a:rPr spc="-10" dirty="0"/>
              <a:t>0.087)</a:t>
            </a:r>
          </a:p>
          <a:p>
            <a:pPr marL="487045">
              <a:lnSpc>
                <a:spcPts val="2625"/>
              </a:lnSpc>
            </a:pPr>
            <a:r>
              <a:rPr dirty="0"/>
              <a:t>Precision@30:</a:t>
            </a:r>
            <a:r>
              <a:rPr spc="-45" dirty="0"/>
              <a:t> </a:t>
            </a:r>
            <a:r>
              <a:rPr dirty="0"/>
              <a:t>0.167</a:t>
            </a:r>
            <a:r>
              <a:rPr spc="-40" dirty="0"/>
              <a:t> </a:t>
            </a:r>
            <a:r>
              <a:rPr dirty="0"/>
              <a:t>(↑</a:t>
            </a:r>
            <a:r>
              <a:rPr spc="-40" dirty="0"/>
              <a:t> </a:t>
            </a:r>
            <a:r>
              <a:rPr spc="-10" dirty="0"/>
              <a:t>0.034)</a:t>
            </a:r>
          </a:p>
          <a:p>
            <a:pPr marL="487045">
              <a:lnSpc>
                <a:spcPts val="2635"/>
              </a:lnSpc>
            </a:pPr>
            <a:r>
              <a:rPr dirty="0"/>
              <a:t>Recall@30:</a:t>
            </a:r>
            <a:r>
              <a:rPr spc="-35" dirty="0"/>
              <a:t> </a:t>
            </a:r>
            <a:r>
              <a:rPr dirty="0"/>
              <a:t>0.294</a:t>
            </a:r>
            <a:r>
              <a:rPr spc="-30" dirty="0"/>
              <a:t> </a:t>
            </a:r>
            <a:r>
              <a:rPr dirty="0"/>
              <a:t>(↑</a:t>
            </a:r>
            <a:r>
              <a:rPr spc="-30" dirty="0"/>
              <a:t> </a:t>
            </a:r>
            <a:r>
              <a:rPr spc="-20" dirty="0"/>
              <a:t>25%)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543906" y="1964914"/>
            <a:ext cx="222694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b="1" spc="-10" dirty="0">
                <a:solidFill>
                  <a:srgbClr val="3704B5"/>
                </a:solidFill>
                <a:latin typeface="Times New Roman"/>
                <a:cs typeface="Times New Roman"/>
              </a:rPr>
              <a:t>XGBOOST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83651" y="2732679"/>
            <a:ext cx="8360409" cy="24130"/>
          </a:xfrm>
          <a:custGeom>
            <a:avLst/>
            <a:gdLst/>
            <a:ahLst/>
            <a:cxnLst/>
            <a:rect l="l" t="t" r="r" b="b"/>
            <a:pathLst>
              <a:path w="8360409" h="24130">
                <a:moveTo>
                  <a:pt x="0" y="0"/>
                </a:moveTo>
                <a:lnTo>
                  <a:pt x="8360204" y="23755"/>
                </a:lnTo>
              </a:path>
            </a:pathLst>
          </a:custGeom>
          <a:ln w="28574">
            <a:solidFill>
              <a:srgbClr val="360F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715010">
              <a:lnSpc>
                <a:spcPts val="2630"/>
              </a:lnSpc>
              <a:spcBef>
                <a:spcPts val="195"/>
              </a:spcBef>
            </a:pPr>
            <a:r>
              <a:rPr b="1" dirty="0">
                <a:latin typeface="Times New Roman"/>
                <a:cs typeface="Times New Roman"/>
              </a:rPr>
              <a:t>What: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dirty="0"/>
              <a:t>Bagged</a:t>
            </a:r>
            <a:r>
              <a:rPr spc="-40" dirty="0"/>
              <a:t> </a:t>
            </a:r>
            <a:r>
              <a:rPr dirty="0"/>
              <a:t>ensemble</a:t>
            </a:r>
            <a:r>
              <a:rPr spc="-3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decision</a:t>
            </a:r>
            <a:r>
              <a:rPr spc="-35" dirty="0"/>
              <a:t> </a:t>
            </a:r>
            <a:r>
              <a:rPr dirty="0"/>
              <a:t>trees</a:t>
            </a:r>
            <a:r>
              <a:rPr spc="-40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supervised</a:t>
            </a:r>
            <a:r>
              <a:rPr spc="-40" dirty="0"/>
              <a:t> </a:t>
            </a:r>
            <a:r>
              <a:rPr spc="-10" dirty="0"/>
              <a:t>binary </a:t>
            </a:r>
            <a:r>
              <a:rPr dirty="0"/>
              <a:t>classification</a:t>
            </a:r>
            <a:r>
              <a:rPr spc="-80" dirty="0"/>
              <a:t> </a:t>
            </a:r>
            <a:r>
              <a:rPr spc="-10" dirty="0"/>
              <a:t>(pass/fail).</a:t>
            </a:r>
          </a:p>
          <a:p>
            <a:pPr marL="12700">
              <a:lnSpc>
                <a:spcPts val="2525"/>
              </a:lnSpc>
            </a:pPr>
            <a:r>
              <a:rPr b="1" spc="-10" dirty="0">
                <a:latin typeface="Times New Roman"/>
                <a:cs typeface="Times New Roman"/>
              </a:rPr>
              <a:t>Architecture:</a:t>
            </a:r>
          </a:p>
          <a:p>
            <a:pPr marL="487045" marR="100330">
              <a:lnSpc>
                <a:spcPts val="2630"/>
              </a:lnSpc>
              <a:spcBef>
                <a:spcPts val="90"/>
              </a:spcBef>
            </a:pPr>
            <a:r>
              <a:rPr dirty="0"/>
              <a:t>Many</a:t>
            </a:r>
            <a:r>
              <a:rPr spc="-40" dirty="0"/>
              <a:t> </a:t>
            </a:r>
            <a:r>
              <a:rPr dirty="0"/>
              <a:t>trees</a:t>
            </a:r>
            <a:r>
              <a:rPr spc="-40" dirty="0"/>
              <a:t> </a:t>
            </a:r>
            <a:r>
              <a:rPr dirty="0"/>
              <a:t>trained</a:t>
            </a:r>
            <a:r>
              <a:rPr spc="-35" dirty="0"/>
              <a:t> </a:t>
            </a:r>
            <a:r>
              <a:rPr dirty="0"/>
              <a:t>independently</a:t>
            </a:r>
            <a:r>
              <a:rPr spc="-40" dirty="0"/>
              <a:t> </a:t>
            </a:r>
            <a:r>
              <a:rPr dirty="0"/>
              <a:t>on</a:t>
            </a:r>
            <a:r>
              <a:rPr spc="-35" dirty="0"/>
              <a:t> </a:t>
            </a:r>
            <a:r>
              <a:rPr dirty="0"/>
              <a:t>bootstrapped</a:t>
            </a:r>
            <a:r>
              <a:rPr spc="-40" dirty="0"/>
              <a:t> </a:t>
            </a:r>
            <a:r>
              <a:rPr dirty="0"/>
              <a:t>samples</a:t>
            </a:r>
            <a:r>
              <a:rPr spc="-3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25" dirty="0"/>
              <a:t>the </a:t>
            </a:r>
            <a:r>
              <a:rPr spc="-20" dirty="0"/>
              <a:t>data</a:t>
            </a:r>
          </a:p>
          <a:p>
            <a:pPr marL="487045">
              <a:lnSpc>
                <a:spcPts val="2525"/>
              </a:lnSpc>
            </a:pPr>
            <a:r>
              <a:rPr dirty="0"/>
              <a:t>Final</a:t>
            </a:r>
            <a:r>
              <a:rPr spc="-35" dirty="0"/>
              <a:t> </a:t>
            </a:r>
            <a:r>
              <a:rPr dirty="0"/>
              <a:t>prediction</a:t>
            </a:r>
            <a:r>
              <a:rPr spc="-35" dirty="0"/>
              <a:t> </a:t>
            </a:r>
            <a:r>
              <a:rPr dirty="0"/>
              <a:t>=</a:t>
            </a:r>
            <a:r>
              <a:rPr spc="-35" dirty="0"/>
              <a:t> </a:t>
            </a:r>
            <a:r>
              <a:rPr dirty="0"/>
              <a:t>majority</a:t>
            </a:r>
            <a:r>
              <a:rPr spc="-35" dirty="0"/>
              <a:t> </a:t>
            </a:r>
            <a:r>
              <a:rPr dirty="0"/>
              <a:t>vote</a:t>
            </a:r>
            <a:r>
              <a:rPr spc="-35" dirty="0"/>
              <a:t> </a:t>
            </a:r>
            <a:r>
              <a:rPr dirty="0"/>
              <a:t>/</a:t>
            </a:r>
            <a:r>
              <a:rPr spc="-35" dirty="0"/>
              <a:t> </a:t>
            </a:r>
            <a:r>
              <a:rPr dirty="0"/>
              <a:t>averaged</a:t>
            </a:r>
            <a:r>
              <a:rPr spc="-35" dirty="0"/>
              <a:t> </a:t>
            </a:r>
            <a:r>
              <a:rPr dirty="0"/>
              <a:t>output</a:t>
            </a:r>
            <a:r>
              <a:rPr spc="-35" dirty="0"/>
              <a:t> </a:t>
            </a:r>
            <a:r>
              <a:rPr dirty="0"/>
              <a:t>across</a:t>
            </a:r>
            <a:r>
              <a:rPr spc="-35" dirty="0"/>
              <a:t> </a:t>
            </a:r>
            <a:r>
              <a:rPr spc="-10" dirty="0"/>
              <a:t>trees</a:t>
            </a:r>
          </a:p>
          <a:p>
            <a:pPr marL="12700" marR="139700">
              <a:lnSpc>
                <a:spcPts val="2630"/>
              </a:lnSpc>
              <a:spcBef>
                <a:spcPts val="85"/>
              </a:spcBef>
            </a:pPr>
            <a:r>
              <a:rPr b="1" dirty="0">
                <a:latin typeface="Times New Roman"/>
                <a:cs typeface="Times New Roman"/>
              </a:rPr>
              <a:t>How: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dirty="0"/>
              <a:t>Each</a:t>
            </a:r>
            <a:r>
              <a:rPr spc="-25" dirty="0"/>
              <a:t> </a:t>
            </a:r>
            <a:r>
              <a:rPr dirty="0"/>
              <a:t>tree</a:t>
            </a:r>
            <a:r>
              <a:rPr spc="-25" dirty="0"/>
              <a:t> </a:t>
            </a:r>
            <a:r>
              <a:rPr dirty="0"/>
              <a:t>sees</a:t>
            </a:r>
            <a:r>
              <a:rPr spc="-2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random</a:t>
            </a:r>
            <a:r>
              <a:rPr spc="-25" dirty="0"/>
              <a:t> </a:t>
            </a:r>
            <a:r>
              <a:rPr dirty="0"/>
              <a:t>subset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dirty="0"/>
              <a:t>+</a:t>
            </a:r>
            <a:r>
              <a:rPr spc="-30" dirty="0"/>
              <a:t> </a:t>
            </a:r>
            <a:r>
              <a:rPr dirty="0"/>
              <a:t>features</a:t>
            </a:r>
            <a:r>
              <a:rPr spc="-25" dirty="0"/>
              <a:t> </a:t>
            </a:r>
            <a:r>
              <a:rPr dirty="0"/>
              <a:t>→</a:t>
            </a:r>
            <a:r>
              <a:rPr spc="-25" dirty="0"/>
              <a:t> </a:t>
            </a:r>
            <a:r>
              <a:rPr spc="-10" dirty="0"/>
              <a:t>averaging </a:t>
            </a:r>
            <a:r>
              <a:rPr dirty="0"/>
              <a:t>reduces</a:t>
            </a:r>
            <a:r>
              <a:rPr spc="-35" dirty="0"/>
              <a:t> </a:t>
            </a:r>
            <a:r>
              <a:rPr dirty="0"/>
              <a:t>variance</a:t>
            </a:r>
            <a:r>
              <a:rPr spc="-3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overfitting.</a:t>
            </a:r>
          </a:p>
          <a:p>
            <a:pPr marL="12700">
              <a:lnSpc>
                <a:spcPts val="2525"/>
              </a:lnSpc>
            </a:pPr>
            <a:r>
              <a:rPr b="1" dirty="0">
                <a:latin typeface="Times New Roman"/>
                <a:cs typeface="Times New Roman"/>
              </a:rPr>
              <a:t>Why: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dirty="0"/>
              <a:t>Different</a:t>
            </a:r>
            <a:r>
              <a:rPr spc="-50" dirty="0"/>
              <a:t> </a:t>
            </a:r>
            <a:r>
              <a:rPr dirty="0"/>
              <a:t>training</a:t>
            </a:r>
            <a:r>
              <a:rPr spc="-45" dirty="0"/>
              <a:t> </a:t>
            </a:r>
            <a:r>
              <a:rPr dirty="0"/>
              <a:t>strategy</a:t>
            </a:r>
            <a:r>
              <a:rPr spc="-50" dirty="0"/>
              <a:t> </a:t>
            </a:r>
            <a:r>
              <a:rPr dirty="0"/>
              <a:t>than</a:t>
            </a:r>
            <a:r>
              <a:rPr spc="-50" dirty="0"/>
              <a:t> </a:t>
            </a:r>
            <a:r>
              <a:rPr dirty="0"/>
              <a:t>XGBoost</a:t>
            </a:r>
            <a:r>
              <a:rPr spc="-45" dirty="0"/>
              <a:t> </a:t>
            </a:r>
            <a:r>
              <a:rPr dirty="0"/>
              <a:t>(parallel</a:t>
            </a:r>
            <a:r>
              <a:rPr spc="-50" dirty="0"/>
              <a:t> </a:t>
            </a:r>
            <a:r>
              <a:rPr dirty="0"/>
              <a:t>bagging</a:t>
            </a:r>
            <a:r>
              <a:rPr spc="-50" dirty="0"/>
              <a:t> </a:t>
            </a:r>
            <a:r>
              <a:rPr spc="-25" dirty="0"/>
              <a:t>vs.</a:t>
            </a:r>
          </a:p>
          <a:p>
            <a:pPr marL="12700" marR="5080">
              <a:lnSpc>
                <a:spcPts val="2630"/>
              </a:lnSpc>
              <a:spcBef>
                <a:spcPts val="90"/>
              </a:spcBef>
            </a:pPr>
            <a:r>
              <a:rPr dirty="0"/>
              <a:t>sequential</a:t>
            </a:r>
            <a:r>
              <a:rPr spc="-45" dirty="0"/>
              <a:t> </a:t>
            </a:r>
            <a:r>
              <a:rPr dirty="0"/>
              <a:t>boosting)</a:t>
            </a:r>
            <a:r>
              <a:rPr spc="-45" dirty="0"/>
              <a:t> </a:t>
            </a:r>
            <a:r>
              <a:rPr dirty="0"/>
              <a:t>—</a:t>
            </a:r>
            <a:r>
              <a:rPr spc="-40" dirty="0"/>
              <a:t> </a:t>
            </a:r>
            <a:r>
              <a:rPr dirty="0"/>
              <a:t>confirms</a:t>
            </a:r>
            <a:r>
              <a:rPr spc="-4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improvement</a:t>
            </a:r>
            <a:r>
              <a:rPr spc="-45" dirty="0"/>
              <a:t> </a:t>
            </a:r>
            <a:r>
              <a:rPr dirty="0"/>
              <a:t>isn't</a:t>
            </a:r>
            <a:r>
              <a:rPr spc="-40" dirty="0"/>
              <a:t> </a:t>
            </a:r>
            <a:r>
              <a:rPr dirty="0"/>
              <a:t>specific</a:t>
            </a:r>
            <a:r>
              <a:rPr spc="-4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spc="-25" dirty="0"/>
              <a:t>one </a:t>
            </a:r>
            <a:r>
              <a:rPr spc="-10" dirty="0"/>
              <a:t>algorithm.</a:t>
            </a:r>
          </a:p>
          <a:p>
            <a:pPr marL="12700">
              <a:lnSpc>
                <a:spcPts val="2525"/>
              </a:lnSpc>
            </a:pPr>
            <a:r>
              <a:rPr b="1" dirty="0">
                <a:latin typeface="Times New Roman"/>
                <a:cs typeface="Times New Roman"/>
              </a:rPr>
              <a:t>Key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Insight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—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Full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Sensor</a:t>
            </a:r>
            <a:r>
              <a:rPr b="1" spc="-7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Set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(590):</a:t>
            </a:r>
          </a:p>
          <a:p>
            <a:pPr marL="487045">
              <a:lnSpc>
                <a:spcPts val="2625"/>
              </a:lnSpc>
            </a:pPr>
            <a:r>
              <a:rPr dirty="0"/>
              <a:t>AUC:</a:t>
            </a:r>
            <a:r>
              <a:rPr spc="-30" dirty="0"/>
              <a:t> </a:t>
            </a:r>
            <a:r>
              <a:rPr spc="-10" dirty="0"/>
              <a:t>0.593</a:t>
            </a:r>
          </a:p>
          <a:p>
            <a:pPr marL="487045">
              <a:lnSpc>
                <a:spcPts val="2625"/>
              </a:lnSpc>
            </a:pPr>
            <a:r>
              <a:rPr dirty="0"/>
              <a:t>Precision@30:</a:t>
            </a:r>
            <a:r>
              <a:rPr spc="-90" dirty="0"/>
              <a:t> </a:t>
            </a:r>
            <a:r>
              <a:rPr spc="-20" dirty="0"/>
              <a:t>0.100</a:t>
            </a:r>
          </a:p>
          <a:p>
            <a:pPr marL="487045">
              <a:lnSpc>
                <a:spcPts val="2625"/>
              </a:lnSpc>
            </a:pPr>
            <a:r>
              <a:rPr dirty="0"/>
              <a:t>Recall@30:</a:t>
            </a:r>
            <a:r>
              <a:rPr spc="-60" dirty="0"/>
              <a:t> </a:t>
            </a:r>
            <a:r>
              <a:rPr spc="-20" dirty="0"/>
              <a:t>0.176</a:t>
            </a:r>
          </a:p>
          <a:p>
            <a:pPr marL="12700">
              <a:lnSpc>
                <a:spcPts val="2625"/>
              </a:lnSpc>
            </a:pPr>
            <a:r>
              <a:rPr b="1" dirty="0">
                <a:latin typeface="Times New Roman"/>
                <a:cs typeface="Times New Roman"/>
              </a:rPr>
              <a:t>Key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Insight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—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Reduced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Shortlist</a:t>
            </a:r>
            <a:r>
              <a:rPr b="1" spc="-5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(17):</a:t>
            </a:r>
          </a:p>
          <a:p>
            <a:pPr marL="487045">
              <a:lnSpc>
                <a:spcPts val="2625"/>
              </a:lnSpc>
            </a:pPr>
            <a:r>
              <a:rPr dirty="0"/>
              <a:t>AUC:</a:t>
            </a:r>
            <a:r>
              <a:rPr spc="-20" dirty="0"/>
              <a:t> </a:t>
            </a:r>
            <a:r>
              <a:rPr dirty="0"/>
              <a:t>0.655</a:t>
            </a:r>
            <a:r>
              <a:rPr spc="-20" dirty="0"/>
              <a:t> </a:t>
            </a:r>
            <a:r>
              <a:rPr dirty="0"/>
              <a:t>(↑</a:t>
            </a:r>
            <a:r>
              <a:rPr spc="-20" dirty="0"/>
              <a:t> </a:t>
            </a:r>
            <a:r>
              <a:rPr spc="-10" dirty="0"/>
              <a:t>0.062)</a:t>
            </a:r>
          </a:p>
          <a:p>
            <a:pPr marL="487045">
              <a:lnSpc>
                <a:spcPts val="2625"/>
              </a:lnSpc>
            </a:pPr>
            <a:r>
              <a:rPr dirty="0"/>
              <a:t>Precision@30:</a:t>
            </a:r>
            <a:r>
              <a:rPr spc="-45" dirty="0"/>
              <a:t> </a:t>
            </a:r>
            <a:r>
              <a:rPr dirty="0"/>
              <a:t>0.200</a:t>
            </a:r>
            <a:r>
              <a:rPr spc="-40" dirty="0"/>
              <a:t> </a:t>
            </a:r>
            <a:r>
              <a:rPr dirty="0"/>
              <a:t>(↑</a:t>
            </a:r>
            <a:r>
              <a:rPr spc="-40" dirty="0"/>
              <a:t> </a:t>
            </a:r>
            <a:r>
              <a:rPr spc="-10" dirty="0"/>
              <a:t>100%)</a:t>
            </a:r>
          </a:p>
          <a:p>
            <a:pPr marL="487045">
              <a:lnSpc>
                <a:spcPts val="2635"/>
              </a:lnSpc>
            </a:pPr>
            <a:r>
              <a:rPr dirty="0"/>
              <a:t>Recall@30:</a:t>
            </a:r>
            <a:r>
              <a:rPr spc="-35" dirty="0"/>
              <a:t> </a:t>
            </a:r>
            <a:r>
              <a:rPr dirty="0"/>
              <a:t>0.353</a:t>
            </a:r>
            <a:r>
              <a:rPr spc="-30" dirty="0"/>
              <a:t> </a:t>
            </a:r>
            <a:r>
              <a:rPr dirty="0"/>
              <a:t>(↑</a:t>
            </a:r>
            <a:r>
              <a:rPr spc="-30" dirty="0"/>
              <a:t> </a:t>
            </a:r>
            <a:r>
              <a:rPr spc="-10" dirty="0"/>
              <a:t>100%)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1421061" y="1954082"/>
            <a:ext cx="3934460" cy="554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50" b="1" dirty="0">
                <a:solidFill>
                  <a:srgbClr val="3704B5"/>
                </a:solidFill>
                <a:latin typeface="Times New Roman"/>
                <a:cs typeface="Times New Roman"/>
              </a:rPr>
              <a:t>RANDOM</a:t>
            </a:r>
            <a:r>
              <a:rPr sz="3450" b="1" spc="-30" dirty="0">
                <a:solidFill>
                  <a:srgbClr val="3704B5"/>
                </a:solidFill>
                <a:latin typeface="Times New Roman"/>
                <a:cs typeface="Times New Roman"/>
              </a:rPr>
              <a:t> </a:t>
            </a:r>
            <a:r>
              <a:rPr sz="3450" b="1" spc="-10" dirty="0">
                <a:solidFill>
                  <a:srgbClr val="3704B5"/>
                </a:solidFill>
                <a:latin typeface="Times New Roman"/>
                <a:cs typeface="Times New Roman"/>
              </a:rPr>
              <a:t>FOREST</a:t>
            </a:r>
            <a:endParaRPr sz="3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69208" y="8604176"/>
            <a:ext cx="3818791" cy="168282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121" y="0"/>
            <a:ext cx="10837545" cy="7132320"/>
            <a:chOff x="1121" y="0"/>
            <a:chExt cx="10837545" cy="7132320"/>
          </a:xfrm>
        </p:grpSpPr>
        <p:sp>
          <p:nvSpPr>
            <p:cNvPr id="4" name="object 4"/>
            <p:cNvSpPr/>
            <p:nvPr/>
          </p:nvSpPr>
          <p:spPr>
            <a:xfrm>
              <a:off x="1121" y="0"/>
              <a:ext cx="1694814" cy="1158875"/>
            </a:xfrm>
            <a:custGeom>
              <a:avLst/>
              <a:gdLst/>
              <a:ahLst/>
              <a:cxnLst/>
              <a:rect l="l" t="t" r="r" b="b"/>
              <a:pathLst>
                <a:path w="1694814" h="1158875">
                  <a:moveTo>
                    <a:pt x="1694328" y="1158753"/>
                  </a:moveTo>
                  <a:lnTo>
                    <a:pt x="0" y="1158753"/>
                  </a:lnTo>
                  <a:lnTo>
                    <a:pt x="1286" y="1113329"/>
                  </a:lnTo>
                  <a:lnTo>
                    <a:pt x="5385" y="1065209"/>
                  </a:lnTo>
                  <a:lnTo>
                    <a:pt x="12125" y="1017891"/>
                  </a:lnTo>
                  <a:lnTo>
                    <a:pt x="21405" y="971580"/>
                  </a:lnTo>
                  <a:lnTo>
                    <a:pt x="33188" y="926117"/>
                  </a:lnTo>
                  <a:lnTo>
                    <a:pt x="47386" y="881678"/>
                  </a:lnTo>
                  <a:lnTo>
                    <a:pt x="63923" y="838338"/>
                  </a:lnTo>
                  <a:lnTo>
                    <a:pt x="82724" y="796171"/>
                  </a:lnTo>
                  <a:lnTo>
                    <a:pt x="103716" y="755253"/>
                  </a:lnTo>
                  <a:lnTo>
                    <a:pt x="126963" y="715419"/>
                  </a:lnTo>
                  <a:lnTo>
                    <a:pt x="152135" y="677214"/>
                  </a:lnTo>
                  <a:lnTo>
                    <a:pt x="179274" y="640484"/>
                  </a:lnTo>
                  <a:lnTo>
                    <a:pt x="208304" y="605305"/>
                  </a:lnTo>
                  <a:lnTo>
                    <a:pt x="239151" y="571752"/>
                  </a:lnTo>
                  <a:lnTo>
                    <a:pt x="271741" y="539898"/>
                  </a:lnTo>
                  <a:lnTo>
                    <a:pt x="305998" y="509820"/>
                  </a:lnTo>
                  <a:lnTo>
                    <a:pt x="341847" y="481591"/>
                  </a:lnTo>
                  <a:lnTo>
                    <a:pt x="379213" y="455287"/>
                  </a:lnTo>
                  <a:lnTo>
                    <a:pt x="418021" y="430982"/>
                  </a:lnTo>
                  <a:lnTo>
                    <a:pt x="458197" y="408752"/>
                  </a:lnTo>
                  <a:lnTo>
                    <a:pt x="499666" y="388670"/>
                  </a:lnTo>
                  <a:lnTo>
                    <a:pt x="542352" y="370813"/>
                  </a:lnTo>
                  <a:lnTo>
                    <a:pt x="586180" y="355254"/>
                  </a:lnTo>
                  <a:lnTo>
                    <a:pt x="631077" y="342069"/>
                  </a:lnTo>
                  <a:lnTo>
                    <a:pt x="676966" y="331332"/>
                  </a:lnTo>
                  <a:lnTo>
                    <a:pt x="723774" y="323118"/>
                  </a:lnTo>
                  <a:lnTo>
                    <a:pt x="771424" y="317502"/>
                  </a:lnTo>
                  <a:lnTo>
                    <a:pt x="723774" y="311886"/>
                  </a:lnTo>
                  <a:lnTo>
                    <a:pt x="676966" y="303672"/>
                  </a:lnTo>
                  <a:lnTo>
                    <a:pt x="631077" y="292935"/>
                  </a:lnTo>
                  <a:lnTo>
                    <a:pt x="586180" y="279750"/>
                  </a:lnTo>
                  <a:lnTo>
                    <a:pt x="542352" y="264191"/>
                  </a:lnTo>
                  <a:lnTo>
                    <a:pt x="499666" y="246334"/>
                  </a:lnTo>
                  <a:lnTo>
                    <a:pt x="458197" y="226252"/>
                  </a:lnTo>
                  <a:lnTo>
                    <a:pt x="418021" y="204022"/>
                  </a:lnTo>
                  <a:lnTo>
                    <a:pt x="379213" y="179717"/>
                  </a:lnTo>
                  <a:lnTo>
                    <a:pt x="341847" y="153413"/>
                  </a:lnTo>
                  <a:lnTo>
                    <a:pt x="305998" y="125184"/>
                  </a:lnTo>
                  <a:lnTo>
                    <a:pt x="271741" y="95106"/>
                  </a:lnTo>
                  <a:lnTo>
                    <a:pt x="239151" y="63252"/>
                  </a:lnTo>
                  <a:lnTo>
                    <a:pt x="208304" y="29699"/>
                  </a:lnTo>
                  <a:lnTo>
                    <a:pt x="183796" y="0"/>
                  </a:lnTo>
                  <a:lnTo>
                    <a:pt x="1512536" y="0"/>
                  </a:lnTo>
                  <a:lnTo>
                    <a:pt x="1488027" y="29699"/>
                  </a:lnTo>
                  <a:lnTo>
                    <a:pt x="1457180" y="63252"/>
                  </a:lnTo>
                  <a:lnTo>
                    <a:pt x="1424590" y="95106"/>
                  </a:lnTo>
                  <a:lnTo>
                    <a:pt x="1390334" y="125184"/>
                  </a:lnTo>
                  <a:lnTo>
                    <a:pt x="1354485" y="153413"/>
                  </a:lnTo>
                  <a:lnTo>
                    <a:pt x="1317119" y="179717"/>
                  </a:lnTo>
                  <a:lnTo>
                    <a:pt x="1278310" y="204022"/>
                  </a:lnTo>
                  <a:lnTo>
                    <a:pt x="1238134" y="226252"/>
                  </a:lnTo>
                  <a:lnTo>
                    <a:pt x="1196666" y="246334"/>
                  </a:lnTo>
                  <a:lnTo>
                    <a:pt x="1153980" y="264191"/>
                  </a:lnTo>
                  <a:lnTo>
                    <a:pt x="1110151" y="279750"/>
                  </a:lnTo>
                  <a:lnTo>
                    <a:pt x="1065255" y="292935"/>
                  </a:lnTo>
                  <a:lnTo>
                    <a:pt x="1019365" y="303672"/>
                  </a:lnTo>
                  <a:lnTo>
                    <a:pt x="972558" y="311886"/>
                  </a:lnTo>
                  <a:lnTo>
                    <a:pt x="924908" y="317502"/>
                  </a:lnTo>
                  <a:lnTo>
                    <a:pt x="972250" y="323118"/>
                  </a:lnTo>
                  <a:lnTo>
                    <a:pt x="1018966" y="331332"/>
                  </a:lnTo>
                  <a:lnTo>
                    <a:pt x="1064823" y="342069"/>
                  </a:lnTo>
                  <a:lnTo>
                    <a:pt x="1110151" y="355383"/>
                  </a:lnTo>
                  <a:lnTo>
                    <a:pt x="1153980" y="370968"/>
                  </a:lnTo>
                  <a:lnTo>
                    <a:pt x="1196666" y="388848"/>
                  </a:lnTo>
                  <a:lnTo>
                    <a:pt x="1238134" y="408949"/>
                  </a:lnTo>
                  <a:lnTo>
                    <a:pt x="1278310" y="431196"/>
                  </a:lnTo>
                  <a:lnTo>
                    <a:pt x="1317119" y="455515"/>
                  </a:lnTo>
                  <a:lnTo>
                    <a:pt x="1354485" y="481830"/>
                  </a:lnTo>
                  <a:lnTo>
                    <a:pt x="1390334" y="510067"/>
                  </a:lnTo>
                  <a:lnTo>
                    <a:pt x="1424591" y="540151"/>
                  </a:lnTo>
                  <a:lnTo>
                    <a:pt x="1457180" y="572008"/>
                  </a:lnTo>
                  <a:lnTo>
                    <a:pt x="1488028" y="605561"/>
                  </a:lnTo>
                  <a:lnTo>
                    <a:pt x="1517058" y="640738"/>
                  </a:lnTo>
                  <a:lnTo>
                    <a:pt x="1544197" y="677461"/>
                  </a:lnTo>
                  <a:lnTo>
                    <a:pt x="1569368" y="715658"/>
                  </a:lnTo>
                  <a:lnTo>
                    <a:pt x="1592498" y="755253"/>
                  </a:lnTo>
                  <a:lnTo>
                    <a:pt x="1613402" y="795958"/>
                  </a:lnTo>
                  <a:lnTo>
                    <a:pt x="1613512" y="796171"/>
                  </a:lnTo>
                  <a:lnTo>
                    <a:pt x="1632246" y="838141"/>
                  </a:lnTo>
                  <a:lnTo>
                    <a:pt x="1648821" y="881501"/>
                  </a:lnTo>
                  <a:lnTo>
                    <a:pt x="1663053" y="925962"/>
                  </a:lnTo>
                  <a:lnTo>
                    <a:pt x="1674867" y="971451"/>
                  </a:lnTo>
                  <a:lnTo>
                    <a:pt x="1684186" y="1017891"/>
                  </a:lnTo>
                  <a:lnTo>
                    <a:pt x="1690937" y="1065209"/>
                  </a:lnTo>
                  <a:lnTo>
                    <a:pt x="1694328" y="1104943"/>
                  </a:lnTo>
                  <a:lnTo>
                    <a:pt x="1694328" y="1158753"/>
                  </a:lnTo>
                  <a:close/>
                </a:path>
              </a:pathLst>
            </a:custGeom>
            <a:solidFill>
              <a:srgbClr val="DEE7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239" y="721564"/>
              <a:ext cx="10667999" cy="6410324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1294822" y="219946"/>
            <a:ext cx="6400800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System</a:t>
            </a:r>
            <a:r>
              <a:rPr spc="-315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2354" y="8089279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2354" y="8527429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2354" y="8965579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2354" y="9403729"/>
            <a:ext cx="95250" cy="952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94379" y="7397122"/>
            <a:ext cx="7787640" cy="221615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500" b="1" dirty="0">
                <a:solidFill>
                  <a:srgbClr val="3704B5"/>
                </a:solidFill>
                <a:latin typeface="Times New Roman"/>
                <a:cs typeface="Times New Roman"/>
              </a:rPr>
              <a:t>Key</a:t>
            </a:r>
            <a:r>
              <a:rPr sz="2500" b="1" spc="-95" dirty="0">
                <a:solidFill>
                  <a:srgbClr val="3704B5"/>
                </a:solidFill>
                <a:latin typeface="Times New Roman"/>
                <a:cs typeface="Times New Roman"/>
              </a:rPr>
              <a:t> </a:t>
            </a:r>
            <a:r>
              <a:rPr sz="2500" b="1" spc="-10" dirty="0">
                <a:solidFill>
                  <a:srgbClr val="3704B5"/>
                </a:solidFill>
                <a:latin typeface="Times New Roman"/>
                <a:cs typeface="Times New Roman"/>
              </a:rPr>
              <a:t>Techniques</a:t>
            </a:r>
            <a:endParaRPr sz="2500">
              <a:latin typeface="Times New Roman"/>
              <a:cs typeface="Times New Roman"/>
            </a:endParaRPr>
          </a:p>
          <a:p>
            <a:pPr marL="551815" marR="5080">
              <a:lnSpc>
                <a:spcPct val="114999"/>
              </a:lnSpc>
            </a:pPr>
            <a:r>
              <a:rPr sz="2500" b="1" dirty="0">
                <a:latin typeface="Times New Roman"/>
                <a:cs typeface="Times New Roman"/>
              </a:rPr>
              <a:t>Chronological</a:t>
            </a:r>
            <a:r>
              <a:rPr sz="2500" b="1" spc="-7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Batching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–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Prevents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data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leakage. </a:t>
            </a:r>
            <a:r>
              <a:rPr sz="2500" b="1" dirty="0">
                <a:latin typeface="Times New Roman"/>
                <a:cs typeface="Times New Roman"/>
              </a:rPr>
              <a:t>LASSO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Stability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Selection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–</a:t>
            </a:r>
            <a:r>
              <a:rPr sz="2500" b="1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Selects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consistent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sensors. </a:t>
            </a:r>
            <a:r>
              <a:rPr sz="2500" b="1" spc="-45" dirty="0">
                <a:latin typeface="Times New Roman"/>
                <a:cs typeface="Times New Roman"/>
              </a:rPr>
              <a:t>Tripwire</a:t>
            </a:r>
            <a:r>
              <a:rPr sz="2500" b="1" spc="-14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Audit</a:t>
            </a:r>
            <a:r>
              <a:rPr sz="2500" b="1" spc="-7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–</a:t>
            </a:r>
            <a:r>
              <a:rPr sz="2500" b="1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Preserves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critical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rare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sensors.</a:t>
            </a:r>
            <a:endParaRPr sz="2500">
              <a:latin typeface="Times New Roman"/>
              <a:cs typeface="Times New Roman"/>
            </a:endParaRPr>
          </a:p>
          <a:p>
            <a:pPr marL="551815">
              <a:lnSpc>
                <a:spcPct val="100000"/>
              </a:lnSpc>
              <a:spcBef>
                <a:spcPts val="450"/>
              </a:spcBef>
            </a:pPr>
            <a:r>
              <a:rPr sz="2500" b="1" spc="-10" dirty="0">
                <a:latin typeface="Times New Roman"/>
                <a:cs typeface="Times New Roman"/>
              </a:rPr>
              <a:t>SHAP</a:t>
            </a:r>
            <a:r>
              <a:rPr sz="2500" b="1" spc="-28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Analysis</a:t>
            </a:r>
            <a:r>
              <a:rPr sz="2500" b="1" spc="-6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–</a:t>
            </a:r>
            <a:r>
              <a:rPr sz="2500" b="1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Explains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model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predictions.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14345" y="1955179"/>
            <a:ext cx="95250" cy="952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14345" y="2393329"/>
            <a:ext cx="95250" cy="952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14345" y="3269629"/>
            <a:ext cx="95250" cy="9524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14345" y="3707779"/>
            <a:ext cx="95250" cy="952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14345" y="4145929"/>
            <a:ext cx="95250" cy="952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14345" y="5022229"/>
            <a:ext cx="95250" cy="9524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14345" y="5460379"/>
            <a:ext cx="95250" cy="9524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14345" y="5898529"/>
            <a:ext cx="95250" cy="9524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14345" y="6336679"/>
            <a:ext cx="95250" cy="9524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14345" y="7212979"/>
            <a:ext cx="95250" cy="9524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14345" y="7651129"/>
            <a:ext cx="95250" cy="9524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14345" y="8089279"/>
            <a:ext cx="95250" cy="9524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14345" y="8965579"/>
            <a:ext cx="95250" cy="9524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14345" y="9403729"/>
            <a:ext cx="95250" cy="95249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11006370" y="1263023"/>
            <a:ext cx="4429760" cy="835025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500" b="1" spc="-10" dirty="0">
                <a:latin typeface="Times New Roman"/>
                <a:cs typeface="Times New Roman"/>
              </a:rPr>
              <a:t>Input</a:t>
            </a:r>
            <a:endParaRPr sz="2500">
              <a:latin typeface="Times New Roman"/>
              <a:cs typeface="Times New Roman"/>
            </a:endParaRPr>
          </a:p>
          <a:p>
            <a:pPr marL="551815" marR="5080">
              <a:lnSpc>
                <a:spcPct val="114999"/>
              </a:lnSpc>
            </a:pPr>
            <a:r>
              <a:rPr sz="2500" dirty="0">
                <a:latin typeface="Times New Roman"/>
                <a:cs typeface="Times New Roman"/>
              </a:rPr>
              <a:t>590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Sensor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Readings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+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Labels </a:t>
            </a:r>
            <a:r>
              <a:rPr sz="2500" dirty="0">
                <a:latin typeface="Times New Roman"/>
                <a:cs typeface="Times New Roman"/>
              </a:rPr>
              <a:t>Chronologically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Sorted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Data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2500" b="1" dirty="0">
                <a:latin typeface="Times New Roman"/>
                <a:cs typeface="Times New Roman"/>
              </a:rPr>
              <a:t>Data</a:t>
            </a:r>
            <a:r>
              <a:rPr sz="2500" b="1" spc="-20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Processing</a:t>
            </a:r>
            <a:endParaRPr sz="2500">
              <a:latin typeface="Times New Roman"/>
              <a:cs typeface="Times New Roman"/>
            </a:endParaRPr>
          </a:p>
          <a:p>
            <a:pPr marL="551815" marR="378460">
              <a:lnSpc>
                <a:spcPct val="114999"/>
              </a:lnSpc>
            </a:pPr>
            <a:r>
              <a:rPr sz="2500" dirty="0">
                <a:latin typeface="Times New Roman"/>
                <a:cs typeface="Times New Roman"/>
              </a:rPr>
              <a:t>Median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Imputation </a:t>
            </a:r>
            <a:r>
              <a:rPr sz="2500" dirty="0">
                <a:latin typeface="Times New Roman"/>
                <a:cs typeface="Times New Roman"/>
              </a:rPr>
              <a:t>Tripwire</a:t>
            </a:r>
            <a:r>
              <a:rPr sz="2500" spc="-13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Sensor</a:t>
            </a:r>
            <a:r>
              <a:rPr sz="2500" spc="-15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Audit </a:t>
            </a:r>
            <a:r>
              <a:rPr sz="2500" dirty="0">
                <a:latin typeface="Times New Roman"/>
                <a:cs typeface="Times New Roman"/>
              </a:rPr>
              <a:t>Chronological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Batching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(5)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2500" b="1" dirty="0">
                <a:latin typeface="Times New Roman"/>
                <a:cs typeface="Times New Roman"/>
              </a:rPr>
              <a:t>Sensor</a:t>
            </a:r>
            <a:r>
              <a:rPr sz="2500" b="1" spc="-110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Selection</a:t>
            </a:r>
            <a:endParaRPr sz="2500">
              <a:latin typeface="Times New Roman"/>
              <a:cs typeface="Times New Roman"/>
            </a:endParaRPr>
          </a:p>
          <a:p>
            <a:pPr marL="551815" marR="448309">
              <a:lnSpc>
                <a:spcPct val="114999"/>
              </a:lnSpc>
            </a:pPr>
            <a:r>
              <a:rPr sz="2500" dirty="0">
                <a:latin typeface="Times New Roman"/>
                <a:cs typeface="Times New Roman"/>
              </a:rPr>
              <a:t>LASSO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Feature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Selection </a:t>
            </a:r>
            <a:r>
              <a:rPr sz="2500" dirty="0">
                <a:latin typeface="Times New Roman"/>
                <a:cs typeface="Times New Roman"/>
              </a:rPr>
              <a:t>Stability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Score</a:t>
            </a:r>
            <a:r>
              <a:rPr sz="2500" spc="-6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Calculation </a:t>
            </a:r>
            <a:r>
              <a:rPr sz="2500" dirty="0">
                <a:latin typeface="Times New Roman"/>
                <a:cs typeface="Times New Roman"/>
              </a:rPr>
              <a:t>Drift</a:t>
            </a:r>
            <a:r>
              <a:rPr sz="2500" spc="-8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Validation</a:t>
            </a:r>
            <a:endParaRPr sz="2500">
              <a:latin typeface="Times New Roman"/>
              <a:cs typeface="Times New Roman"/>
            </a:endParaRPr>
          </a:p>
          <a:p>
            <a:pPr marL="551815">
              <a:lnSpc>
                <a:spcPct val="100000"/>
              </a:lnSpc>
              <a:spcBef>
                <a:spcPts val="450"/>
              </a:spcBef>
            </a:pPr>
            <a:r>
              <a:rPr sz="2500" spc="-10" dirty="0">
                <a:latin typeface="Times New Roman"/>
                <a:cs typeface="Times New Roman"/>
              </a:rPr>
              <a:t>17-</a:t>
            </a:r>
            <a:r>
              <a:rPr sz="2500" dirty="0">
                <a:latin typeface="Times New Roman"/>
                <a:cs typeface="Times New Roman"/>
              </a:rPr>
              <a:t>Sensor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Shortlist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2500" b="1" dirty="0">
                <a:latin typeface="Times New Roman"/>
                <a:cs typeface="Times New Roman"/>
              </a:rPr>
              <a:t>Model</a:t>
            </a:r>
            <a:r>
              <a:rPr sz="2500" b="1" spc="-114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Training</a:t>
            </a:r>
            <a:endParaRPr sz="2500">
              <a:latin typeface="Times New Roman"/>
              <a:cs typeface="Times New Roman"/>
            </a:endParaRPr>
          </a:p>
          <a:p>
            <a:pPr marL="551815" marR="11430">
              <a:lnSpc>
                <a:spcPct val="114999"/>
              </a:lnSpc>
            </a:pPr>
            <a:r>
              <a:rPr sz="2500" dirty="0">
                <a:latin typeface="Times New Roman"/>
                <a:cs typeface="Times New Roman"/>
              </a:rPr>
              <a:t>XGBoost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&amp;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Random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Forest </a:t>
            </a:r>
            <a:r>
              <a:rPr sz="2500" dirty="0">
                <a:latin typeface="Times New Roman"/>
                <a:cs typeface="Times New Roman"/>
              </a:rPr>
              <a:t>SMOTE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(Training</a:t>
            </a:r>
            <a:r>
              <a:rPr sz="2500" spc="-10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Only) </a:t>
            </a:r>
            <a:r>
              <a:rPr sz="2500" dirty="0">
                <a:latin typeface="Times New Roman"/>
                <a:cs typeface="Times New Roman"/>
              </a:rPr>
              <a:t>Chronological</a:t>
            </a:r>
            <a:r>
              <a:rPr sz="2500" spc="-14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Train/Test</a:t>
            </a:r>
            <a:r>
              <a:rPr sz="2500" spc="-10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Split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2500" b="1" spc="-10" dirty="0">
                <a:latin typeface="Times New Roman"/>
                <a:cs typeface="Times New Roman"/>
              </a:rPr>
              <a:t>Explainability</a:t>
            </a:r>
            <a:endParaRPr sz="2500">
              <a:latin typeface="Times New Roman"/>
              <a:cs typeface="Times New Roman"/>
            </a:endParaRPr>
          </a:p>
          <a:p>
            <a:pPr marL="551815" marR="513080">
              <a:lnSpc>
                <a:spcPct val="114999"/>
              </a:lnSpc>
            </a:pPr>
            <a:r>
              <a:rPr sz="2500" dirty="0">
                <a:latin typeface="Times New Roman"/>
                <a:cs typeface="Times New Roman"/>
              </a:rPr>
              <a:t>SHAP</a:t>
            </a:r>
            <a:r>
              <a:rPr sz="2500" spc="-1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Feature</a:t>
            </a:r>
            <a:r>
              <a:rPr sz="2500" spc="-5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Importance </a:t>
            </a:r>
            <a:r>
              <a:rPr sz="2500" dirty="0">
                <a:latin typeface="Times New Roman"/>
                <a:cs typeface="Times New Roman"/>
              </a:rPr>
              <a:t>Risk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Bin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Generation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3852" y="0"/>
            <a:ext cx="1694814" cy="1466215"/>
          </a:xfrm>
          <a:custGeom>
            <a:avLst/>
            <a:gdLst/>
            <a:ahLst/>
            <a:cxnLst/>
            <a:rect l="l" t="t" r="r" b="b"/>
            <a:pathLst>
              <a:path w="1694814" h="1466215">
                <a:moveTo>
                  <a:pt x="1694328" y="1465888"/>
                </a:moveTo>
                <a:lnTo>
                  <a:pt x="0" y="1465888"/>
                </a:lnTo>
                <a:lnTo>
                  <a:pt x="1286" y="1420464"/>
                </a:lnTo>
                <a:lnTo>
                  <a:pt x="5385" y="1372344"/>
                </a:lnTo>
                <a:lnTo>
                  <a:pt x="12125" y="1325026"/>
                </a:lnTo>
                <a:lnTo>
                  <a:pt x="21405" y="1278715"/>
                </a:lnTo>
                <a:lnTo>
                  <a:pt x="33188" y="1233252"/>
                </a:lnTo>
                <a:lnTo>
                  <a:pt x="47386" y="1188813"/>
                </a:lnTo>
                <a:lnTo>
                  <a:pt x="63923" y="1145473"/>
                </a:lnTo>
                <a:lnTo>
                  <a:pt x="82724" y="1103307"/>
                </a:lnTo>
                <a:lnTo>
                  <a:pt x="103716" y="1062388"/>
                </a:lnTo>
                <a:lnTo>
                  <a:pt x="103833" y="1062161"/>
                </a:lnTo>
                <a:lnTo>
                  <a:pt x="126963" y="1022554"/>
                </a:lnTo>
                <a:lnTo>
                  <a:pt x="152135" y="984349"/>
                </a:lnTo>
                <a:lnTo>
                  <a:pt x="179274" y="947620"/>
                </a:lnTo>
                <a:lnTo>
                  <a:pt x="208304" y="912441"/>
                </a:lnTo>
                <a:lnTo>
                  <a:pt x="239151" y="878887"/>
                </a:lnTo>
                <a:lnTo>
                  <a:pt x="271741" y="847033"/>
                </a:lnTo>
                <a:lnTo>
                  <a:pt x="305998" y="816955"/>
                </a:lnTo>
                <a:lnTo>
                  <a:pt x="341847" y="788726"/>
                </a:lnTo>
                <a:lnTo>
                  <a:pt x="379213" y="762422"/>
                </a:lnTo>
                <a:lnTo>
                  <a:pt x="418021" y="738117"/>
                </a:lnTo>
                <a:lnTo>
                  <a:pt x="458197" y="715887"/>
                </a:lnTo>
                <a:lnTo>
                  <a:pt x="499666" y="695806"/>
                </a:lnTo>
                <a:lnTo>
                  <a:pt x="542352" y="677948"/>
                </a:lnTo>
                <a:lnTo>
                  <a:pt x="586180" y="662389"/>
                </a:lnTo>
                <a:lnTo>
                  <a:pt x="631077" y="649204"/>
                </a:lnTo>
                <a:lnTo>
                  <a:pt x="676966" y="638467"/>
                </a:lnTo>
                <a:lnTo>
                  <a:pt x="723774" y="630253"/>
                </a:lnTo>
                <a:lnTo>
                  <a:pt x="771424" y="624637"/>
                </a:lnTo>
                <a:lnTo>
                  <a:pt x="723774" y="619021"/>
                </a:lnTo>
                <a:lnTo>
                  <a:pt x="676966" y="610808"/>
                </a:lnTo>
                <a:lnTo>
                  <a:pt x="631077" y="600071"/>
                </a:lnTo>
                <a:lnTo>
                  <a:pt x="586180" y="586885"/>
                </a:lnTo>
                <a:lnTo>
                  <a:pt x="542352" y="571327"/>
                </a:lnTo>
                <a:lnTo>
                  <a:pt x="499666" y="553469"/>
                </a:lnTo>
                <a:lnTo>
                  <a:pt x="458197" y="533388"/>
                </a:lnTo>
                <a:lnTo>
                  <a:pt x="418021" y="511157"/>
                </a:lnTo>
                <a:lnTo>
                  <a:pt x="379213" y="486853"/>
                </a:lnTo>
                <a:lnTo>
                  <a:pt x="341847" y="460548"/>
                </a:lnTo>
                <a:lnTo>
                  <a:pt x="305998" y="432320"/>
                </a:lnTo>
                <a:lnTo>
                  <a:pt x="271741" y="402241"/>
                </a:lnTo>
                <a:lnTo>
                  <a:pt x="239151" y="370388"/>
                </a:lnTo>
                <a:lnTo>
                  <a:pt x="208304" y="336834"/>
                </a:lnTo>
                <a:lnTo>
                  <a:pt x="179274" y="301655"/>
                </a:lnTo>
                <a:lnTo>
                  <a:pt x="152135" y="264925"/>
                </a:lnTo>
                <a:lnTo>
                  <a:pt x="126963" y="226720"/>
                </a:lnTo>
                <a:lnTo>
                  <a:pt x="103833" y="187114"/>
                </a:lnTo>
                <a:lnTo>
                  <a:pt x="82820" y="146182"/>
                </a:lnTo>
                <a:lnTo>
                  <a:pt x="63998" y="103998"/>
                </a:lnTo>
                <a:lnTo>
                  <a:pt x="47442" y="60638"/>
                </a:lnTo>
                <a:lnTo>
                  <a:pt x="33229" y="16177"/>
                </a:lnTo>
                <a:lnTo>
                  <a:pt x="29033" y="0"/>
                </a:lnTo>
                <a:lnTo>
                  <a:pt x="1667299" y="0"/>
                </a:lnTo>
                <a:lnTo>
                  <a:pt x="1648889" y="60638"/>
                </a:lnTo>
                <a:lnTo>
                  <a:pt x="1632334" y="103998"/>
                </a:lnTo>
                <a:lnTo>
                  <a:pt x="1613512" y="146182"/>
                </a:lnTo>
                <a:lnTo>
                  <a:pt x="1592498" y="187114"/>
                </a:lnTo>
                <a:lnTo>
                  <a:pt x="1569368" y="226720"/>
                </a:lnTo>
                <a:lnTo>
                  <a:pt x="1544197" y="264925"/>
                </a:lnTo>
                <a:lnTo>
                  <a:pt x="1517058" y="301655"/>
                </a:lnTo>
                <a:lnTo>
                  <a:pt x="1488027" y="336834"/>
                </a:lnTo>
                <a:lnTo>
                  <a:pt x="1457180" y="370388"/>
                </a:lnTo>
                <a:lnTo>
                  <a:pt x="1424590" y="402241"/>
                </a:lnTo>
                <a:lnTo>
                  <a:pt x="1390334" y="432320"/>
                </a:lnTo>
                <a:lnTo>
                  <a:pt x="1354485" y="460548"/>
                </a:lnTo>
                <a:lnTo>
                  <a:pt x="1317119" y="486853"/>
                </a:lnTo>
                <a:lnTo>
                  <a:pt x="1278310" y="511157"/>
                </a:lnTo>
                <a:lnTo>
                  <a:pt x="1238134" y="533388"/>
                </a:lnTo>
                <a:lnTo>
                  <a:pt x="1196666" y="553469"/>
                </a:lnTo>
                <a:lnTo>
                  <a:pt x="1153980" y="571327"/>
                </a:lnTo>
                <a:lnTo>
                  <a:pt x="1110151" y="586885"/>
                </a:lnTo>
                <a:lnTo>
                  <a:pt x="1065255" y="600071"/>
                </a:lnTo>
                <a:lnTo>
                  <a:pt x="1019365" y="610808"/>
                </a:lnTo>
                <a:lnTo>
                  <a:pt x="972558" y="619021"/>
                </a:lnTo>
                <a:lnTo>
                  <a:pt x="924908" y="624637"/>
                </a:lnTo>
                <a:lnTo>
                  <a:pt x="972250" y="630253"/>
                </a:lnTo>
                <a:lnTo>
                  <a:pt x="1018966" y="638467"/>
                </a:lnTo>
                <a:lnTo>
                  <a:pt x="1064823" y="649204"/>
                </a:lnTo>
                <a:lnTo>
                  <a:pt x="1110151" y="662519"/>
                </a:lnTo>
                <a:lnTo>
                  <a:pt x="1153980" y="678103"/>
                </a:lnTo>
                <a:lnTo>
                  <a:pt x="1196666" y="695983"/>
                </a:lnTo>
                <a:lnTo>
                  <a:pt x="1238134" y="716084"/>
                </a:lnTo>
                <a:lnTo>
                  <a:pt x="1278310" y="738331"/>
                </a:lnTo>
                <a:lnTo>
                  <a:pt x="1317119" y="762650"/>
                </a:lnTo>
                <a:lnTo>
                  <a:pt x="1354485" y="788965"/>
                </a:lnTo>
                <a:lnTo>
                  <a:pt x="1390334" y="817202"/>
                </a:lnTo>
                <a:lnTo>
                  <a:pt x="1424591" y="847287"/>
                </a:lnTo>
                <a:lnTo>
                  <a:pt x="1457180" y="879143"/>
                </a:lnTo>
                <a:lnTo>
                  <a:pt x="1488028" y="912697"/>
                </a:lnTo>
                <a:lnTo>
                  <a:pt x="1517058" y="947873"/>
                </a:lnTo>
                <a:lnTo>
                  <a:pt x="1544197" y="984597"/>
                </a:lnTo>
                <a:lnTo>
                  <a:pt x="1569368" y="1022794"/>
                </a:lnTo>
                <a:lnTo>
                  <a:pt x="1592498" y="1062388"/>
                </a:lnTo>
                <a:lnTo>
                  <a:pt x="1613402" y="1103093"/>
                </a:lnTo>
                <a:lnTo>
                  <a:pt x="1613512" y="1103307"/>
                </a:lnTo>
                <a:lnTo>
                  <a:pt x="1632246" y="1145276"/>
                </a:lnTo>
                <a:lnTo>
                  <a:pt x="1648821" y="1188636"/>
                </a:lnTo>
                <a:lnTo>
                  <a:pt x="1663053" y="1233098"/>
                </a:lnTo>
                <a:lnTo>
                  <a:pt x="1674867" y="1278586"/>
                </a:lnTo>
                <a:lnTo>
                  <a:pt x="1684186" y="1325026"/>
                </a:lnTo>
                <a:lnTo>
                  <a:pt x="1690937" y="1372344"/>
                </a:lnTo>
                <a:lnTo>
                  <a:pt x="1694328" y="1412079"/>
                </a:lnTo>
                <a:lnTo>
                  <a:pt x="1694328" y="1465888"/>
                </a:lnTo>
                <a:close/>
              </a:path>
            </a:pathLst>
          </a:custGeom>
          <a:solidFill>
            <a:srgbClr val="DEE77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86006" y="1135668"/>
          <a:ext cx="14338298" cy="3876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7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7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7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76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76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533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2500" b="1" spc="-10" dirty="0">
                          <a:latin typeface="Times New Roman"/>
                          <a:cs typeface="Times New Roman"/>
                        </a:rPr>
                        <a:t>Model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2500" b="1" dirty="0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25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5" dirty="0">
                          <a:latin typeface="Times New Roman"/>
                          <a:cs typeface="Times New Roman"/>
                        </a:rPr>
                        <a:t>Set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2500" b="1" spc="-25" dirty="0">
                          <a:latin typeface="Times New Roman"/>
                          <a:cs typeface="Times New Roman"/>
                        </a:rPr>
                        <a:t>AUC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2500" b="1" spc="-10" dirty="0">
                          <a:latin typeface="Times New Roman"/>
                          <a:cs typeface="Times New Roman"/>
                        </a:rPr>
                        <a:t>Precision@30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2500" b="1" spc="-10" dirty="0">
                          <a:latin typeface="Times New Roman"/>
                          <a:cs typeface="Times New Roman"/>
                        </a:rPr>
                        <a:t>Recall@30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533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2500" b="1" spc="-10" dirty="0">
                          <a:latin typeface="Times New Roman"/>
                          <a:cs typeface="Times New Roman"/>
                        </a:rPr>
                        <a:t>XGBoost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2500" spc="-25" dirty="0">
                          <a:latin typeface="Times New Roman"/>
                          <a:cs typeface="Times New Roman"/>
                        </a:rPr>
                        <a:t>590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2500" spc="-10" dirty="0">
                          <a:latin typeface="Times New Roman"/>
                          <a:cs typeface="Times New Roman"/>
                        </a:rPr>
                        <a:t>0.605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2500" spc="-10" dirty="0">
                          <a:latin typeface="Times New Roman"/>
                          <a:cs typeface="Times New Roman"/>
                        </a:rPr>
                        <a:t>0.133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2500" spc="-10" dirty="0">
                          <a:latin typeface="Times New Roman"/>
                          <a:cs typeface="Times New Roman"/>
                        </a:rPr>
                        <a:t>0.235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533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2500" b="1" spc="-10" dirty="0">
                          <a:latin typeface="Times New Roman"/>
                          <a:cs typeface="Times New Roman"/>
                        </a:rPr>
                        <a:t>XGBoost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2500" spc="-25" dirty="0">
                          <a:latin typeface="Times New Roman"/>
                          <a:cs typeface="Times New Roman"/>
                        </a:rPr>
                        <a:t>17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2500" spc="-10" dirty="0">
                          <a:latin typeface="Times New Roman"/>
                          <a:cs typeface="Times New Roman"/>
                        </a:rPr>
                        <a:t>0.692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2500" spc="-10" dirty="0">
                          <a:latin typeface="Times New Roman"/>
                          <a:cs typeface="Times New Roman"/>
                        </a:rPr>
                        <a:t>0.167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2500" spc="-10" dirty="0">
                          <a:latin typeface="Times New Roman"/>
                          <a:cs typeface="Times New Roman"/>
                        </a:rPr>
                        <a:t>0.294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533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2500" b="1" dirty="0"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sz="25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latin typeface="Times New Roman"/>
                          <a:cs typeface="Times New Roman"/>
                        </a:rPr>
                        <a:t>Forest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2500" spc="-25" dirty="0">
                          <a:latin typeface="Times New Roman"/>
                          <a:cs typeface="Times New Roman"/>
                        </a:rPr>
                        <a:t>590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2500" spc="-10" dirty="0">
                          <a:latin typeface="Times New Roman"/>
                          <a:cs typeface="Times New Roman"/>
                        </a:rPr>
                        <a:t>0.593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2500" spc="-25" dirty="0">
                          <a:latin typeface="Times New Roman"/>
                          <a:cs typeface="Times New Roman"/>
                        </a:rPr>
                        <a:t>0.1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2500" spc="-10" dirty="0">
                          <a:latin typeface="Times New Roman"/>
                          <a:cs typeface="Times New Roman"/>
                        </a:rPr>
                        <a:t>0.176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533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2500" b="1" dirty="0"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sz="25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latin typeface="Times New Roman"/>
                          <a:cs typeface="Times New Roman"/>
                        </a:rPr>
                        <a:t>Forest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2500" spc="-25" dirty="0">
                          <a:latin typeface="Times New Roman"/>
                          <a:cs typeface="Times New Roman"/>
                        </a:rPr>
                        <a:t>17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2500" spc="-10" dirty="0">
                          <a:latin typeface="Times New Roman"/>
                          <a:cs typeface="Times New Roman"/>
                        </a:rPr>
                        <a:t>0.655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2500" spc="-25" dirty="0">
                          <a:latin typeface="Times New Roman"/>
                          <a:cs typeface="Times New Roman"/>
                        </a:rPr>
                        <a:t>0.2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2500" spc="-10" dirty="0">
                          <a:latin typeface="Times New Roman"/>
                          <a:cs typeface="Times New Roman"/>
                        </a:rPr>
                        <a:t>0.353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513" y="176583"/>
            <a:ext cx="2230598" cy="14882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92266" y="5143500"/>
            <a:ext cx="7505699" cy="50101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658145" y="1923772"/>
            <a:ext cx="770890" cy="30930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5880"/>
              </a:lnSpc>
            </a:pPr>
            <a:r>
              <a:rPr sz="5300" b="1" spc="-10" dirty="0">
                <a:solidFill>
                  <a:srgbClr val="3704B5"/>
                </a:solidFill>
                <a:latin typeface="Times New Roman"/>
                <a:cs typeface="Times New Roman"/>
              </a:rPr>
              <a:t>RESULTS</a:t>
            </a:r>
            <a:endParaRPr sz="5300">
              <a:latin typeface="Times New Roman"/>
              <a:cs typeface="Times New Roman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646605" y="183546"/>
            <a:ext cx="565467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dirty="0"/>
              <a:t>Model</a:t>
            </a:r>
            <a:r>
              <a:rPr sz="5200" spc="-114" dirty="0"/>
              <a:t> </a:t>
            </a:r>
            <a:r>
              <a:rPr sz="5200" spc="-10" dirty="0"/>
              <a:t>Performance</a:t>
            </a:r>
            <a:endParaRPr sz="5200"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7537" y="6100203"/>
            <a:ext cx="114300" cy="1142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32412" y="5268772"/>
            <a:ext cx="9518015" cy="109220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3000" b="1" spc="-10" dirty="0">
                <a:solidFill>
                  <a:srgbClr val="3704B5"/>
                </a:solidFill>
                <a:latin typeface="Times New Roman"/>
                <a:cs typeface="Times New Roman"/>
              </a:rPr>
              <a:t>Highlight</a:t>
            </a:r>
            <a:endParaRPr sz="3000">
              <a:latin typeface="Times New Roman"/>
              <a:cs typeface="Times New Roman"/>
            </a:endParaRPr>
          </a:p>
          <a:p>
            <a:pPr marL="663575">
              <a:lnSpc>
                <a:spcPct val="100000"/>
              </a:lnSpc>
              <a:spcBef>
                <a:spcPts val="600"/>
              </a:spcBef>
            </a:pPr>
            <a:r>
              <a:rPr sz="3000" dirty="0">
                <a:solidFill>
                  <a:srgbClr val="040404"/>
                </a:solidFill>
                <a:latin typeface="Times New Roman"/>
                <a:cs typeface="Times New Roman"/>
              </a:rPr>
              <a:t>17-sensor</a:t>
            </a:r>
            <a:r>
              <a:rPr sz="3000" spc="-15" dirty="0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40404"/>
                </a:solidFill>
                <a:latin typeface="Times New Roman"/>
                <a:cs typeface="Times New Roman"/>
              </a:rPr>
              <a:t>model outperformed the</a:t>
            </a:r>
            <a:r>
              <a:rPr sz="3000" spc="-5" dirty="0">
                <a:solidFill>
                  <a:srgbClr val="040404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40404"/>
                </a:solidFill>
                <a:latin typeface="Times New Roman"/>
                <a:cs typeface="Times New Roman"/>
              </a:rPr>
              <a:t>full 590-sensor </a:t>
            </a:r>
            <a:r>
              <a:rPr sz="3000" spc="-10" dirty="0">
                <a:solidFill>
                  <a:srgbClr val="040404"/>
                </a:solidFill>
                <a:latin typeface="Times New Roman"/>
                <a:cs typeface="Times New Roman"/>
              </a:rPr>
              <a:t>model.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41328" y="6480390"/>
            <a:ext cx="4200525" cy="16859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03852" y="0"/>
            <a:ext cx="1694814" cy="1466215"/>
          </a:xfrm>
          <a:custGeom>
            <a:avLst/>
            <a:gdLst/>
            <a:ahLst/>
            <a:cxnLst/>
            <a:rect l="l" t="t" r="r" b="b"/>
            <a:pathLst>
              <a:path w="1694814" h="1466215">
                <a:moveTo>
                  <a:pt x="1694328" y="1465888"/>
                </a:moveTo>
                <a:lnTo>
                  <a:pt x="0" y="1465888"/>
                </a:lnTo>
                <a:lnTo>
                  <a:pt x="1286" y="1420464"/>
                </a:lnTo>
                <a:lnTo>
                  <a:pt x="5385" y="1372344"/>
                </a:lnTo>
                <a:lnTo>
                  <a:pt x="12125" y="1325026"/>
                </a:lnTo>
                <a:lnTo>
                  <a:pt x="21405" y="1278715"/>
                </a:lnTo>
                <a:lnTo>
                  <a:pt x="33188" y="1233252"/>
                </a:lnTo>
                <a:lnTo>
                  <a:pt x="47386" y="1188813"/>
                </a:lnTo>
                <a:lnTo>
                  <a:pt x="63923" y="1145473"/>
                </a:lnTo>
                <a:lnTo>
                  <a:pt x="82724" y="1103307"/>
                </a:lnTo>
                <a:lnTo>
                  <a:pt x="103716" y="1062388"/>
                </a:lnTo>
                <a:lnTo>
                  <a:pt x="103833" y="1062161"/>
                </a:lnTo>
                <a:lnTo>
                  <a:pt x="126963" y="1022554"/>
                </a:lnTo>
                <a:lnTo>
                  <a:pt x="152135" y="984349"/>
                </a:lnTo>
                <a:lnTo>
                  <a:pt x="179274" y="947620"/>
                </a:lnTo>
                <a:lnTo>
                  <a:pt x="208304" y="912441"/>
                </a:lnTo>
                <a:lnTo>
                  <a:pt x="239151" y="878887"/>
                </a:lnTo>
                <a:lnTo>
                  <a:pt x="271741" y="847033"/>
                </a:lnTo>
                <a:lnTo>
                  <a:pt x="305998" y="816955"/>
                </a:lnTo>
                <a:lnTo>
                  <a:pt x="341847" y="788726"/>
                </a:lnTo>
                <a:lnTo>
                  <a:pt x="379213" y="762422"/>
                </a:lnTo>
                <a:lnTo>
                  <a:pt x="418021" y="738117"/>
                </a:lnTo>
                <a:lnTo>
                  <a:pt x="458197" y="715887"/>
                </a:lnTo>
                <a:lnTo>
                  <a:pt x="499666" y="695806"/>
                </a:lnTo>
                <a:lnTo>
                  <a:pt x="542352" y="677948"/>
                </a:lnTo>
                <a:lnTo>
                  <a:pt x="586180" y="662389"/>
                </a:lnTo>
                <a:lnTo>
                  <a:pt x="631077" y="649204"/>
                </a:lnTo>
                <a:lnTo>
                  <a:pt x="676966" y="638467"/>
                </a:lnTo>
                <a:lnTo>
                  <a:pt x="723774" y="630253"/>
                </a:lnTo>
                <a:lnTo>
                  <a:pt x="771424" y="624637"/>
                </a:lnTo>
                <a:lnTo>
                  <a:pt x="723774" y="619021"/>
                </a:lnTo>
                <a:lnTo>
                  <a:pt x="676966" y="610808"/>
                </a:lnTo>
                <a:lnTo>
                  <a:pt x="631077" y="600071"/>
                </a:lnTo>
                <a:lnTo>
                  <a:pt x="586180" y="586885"/>
                </a:lnTo>
                <a:lnTo>
                  <a:pt x="542352" y="571327"/>
                </a:lnTo>
                <a:lnTo>
                  <a:pt x="499666" y="553469"/>
                </a:lnTo>
                <a:lnTo>
                  <a:pt x="458197" y="533388"/>
                </a:lnTo>
                <a:lnTo>
                  <a:pt x="418021" y="511157"/>
                </a:lnTo>
                <a:lnTo>
                  <a:pt x="379213" y="486853"/>
                </a:lnTo>
                <a:lnTo>
                  <a:pt x="341847" y="460548"/>
                </a:lnTo>
                <a:lnTo>
                  <a:pt x="305998" y="432320"/>
                </a:lnTo>
                <a:lnTo>
                  <a:pt x="271741" y="402241"/>
                </a:lnTo>
                <a:lnTo>
                  <a:pt x="239151" y="370388"/>
                </a:lnTo>
                <a:lnTo>
                  <a:pt x="208304" y="336834"/>
                </a:lnTo>
                <a:lnTo>
                  <a:pt x="179274" y="301655"/>
                </a:lnTo>
                <a:lnTo>
                  <a:pt x="152135" y="264925"/>
                </a:lnTo>
                <a:lnTo>
                  <a:pt x="126963" y="226720"/>
                </a:lnTo>
                <a:lnTo>
                  <a:pt x="103833" y="187114"/>
                </a:lnTo>
                <a:lnTo>
                  <a:pt x="82820" y="146182"/>
                </a:lnTo>
                <a:lnTo>
                  <a:pt x="63998" y="103998"/>
                </a:lnTo>
                <a:lnTo>
                  <a:pt x="47442" y="60638"/>
                </a:lnTo>
                <a:lnTo>
                  <a:pt x="33229" y="16177"/>
                </a:lnTo>
                <a:lnTo>
                  <a:pt x="29033" y="0"/>
                </a:lnTo>
                <a:lnTo>
                  <a:pt x="1667299" y="0"/>
                </a:lnTo>
                <a:lnTo>
                  <a:pt x="1648889" y="60638"/>
                </a:lnTo>
                <a:lnTo>
                  <a:pt x="1632334" y="103998"/>
                </a:lnTo>
                <a:lnTo>
                  <a:pt x="1613512" y="146182"/>
                </a:lnTo>
                <a:lnTo>
                  <a:pt x="1592498" y="187114"/>
                </a:lnTo>
                <a:lnTo>
                  <a:pt x="1569368" y="226720"/>
                </a:lnTo>
                <a:lnTo>
                  <a:pt x="1544197" y="264925"/>
                </a:lnTo>
                <a:lnTo>
                  <a:pt x="1517058" y="301655"/>
                </a:lnTo>
                <a:lnTo>
                  <a:pt x="1488027" y="336834"/>
                </a:lnTo>
                <a:lnTo>
                  <a:pt x="1457180" y="370388"/>
                </a:lnTo>
                <a:lnTo>
                  <a:pt x="1424590" y="402241"/>
                </a:lnTo>
                <a:lnTo>
                  <a:pt x="1390334" y="432320"/>
                </a:lnTo>
                <a:lnTo>
                  <a:pt x="1354485" y="460548"/>
                </a:lnTo>
                <a:lnTo>
                  <a:pt x="1317119" y="486853"/>
                </a:lnTo>
                <a:lnTo>
                  <a:pt x="1278310" y="511157"/>
                </a:lnTo>
                <a:lnTo>
                  <a:pt x="1238134" y="533388"/>
                </a:lnTo>
                <a:lnTo>
                  <a:pt x="1196666" y="553469"/>
                </a:lnTo>
                <a:lnTo>
                  <a:pt x="1153980" y="571327"/>
                </a:lnTo>
                <a:lnTo>
                  <a:pt x="1110151" y="586885"/>
                </a:lnTo>
                <a:lnTo>
                  <a:pt x="1065255" y="600071"/>
                </a:lnTo>
                <a:lnTo>
                  <a:pt x="1019365" y="610808"/>
                </a:lnTo>
                <a:lnTo>
                  <a:pt x="972558" y="619021"/>
                </a:lnTo>
                <a:lnTo>
                  <a:pt x="924908" y="624637"/>
                </a:lnTo>
                <a:lnTo>
                  <a:pt x="972250" y="630253"/>
                </a:lnTo>
                <a:lnTo>
                  <a:pt x="1018966" y="638467"/>
                </a:lnTo>
                <a:lnTo>
                  <a:pt x="1064823" y="649204"/>
                </a:lnTo>
                <a:lnTo>
                  <a:pt x="1110151" y="662519"/>
                </a:lnTo>
                <a:lnTo>
                  <a:pt x="1153980" y="678103"/>
                </a:lnTo>
                <a:lnTo>
                  <a:pt x="1196666" y="695983"/>
                </a:lnTo>
                <a:lnTo>
                  <a:pt x="1238134" y="716084"/>
                </a:lnTo>
                <a:lnTo>
                  <a:pt x="1278310" y="738331"/>
                </a:lnTo>
                <a:lnTo>
                  <a:pt x="1317119" y="762650"/>
                </a:lnTo>
                <a:lnTo>
                  <a:pt x="1354485" y="788965"/>
                </a:lnTo>
                <a:lnTo>
                  <a:pt x="1390334" y="817202"/>
                </a:lnTo>
                <a:lnTo>
                  <a:pt x="1424591" y="847287"/>
                </a:lnTo>
                <a:lnTo>
                  <a:pt x="1457180" y="879143"/>
                </a:lnTo>
                <a:lnTo>
                  <a:pt x="1488028" y="912697"/>
                </a:lnTo>
                <a:lnTo>
                  <a:pt x="1517058" y="947873"/>
                </a:lnTo>
                <a:lnTo>
                  <a:pt x="1544197" y="984597"/>
                </a:lnTo>
                <a:lnTo>
                  <a:pt x="1569368" y="1022794"/>
                </a:lnTo>
                <a:lnTo>
                  <a:pt x="1592498" y="1062388"/>
                </a:lnTo>
                <a:lnTo>
                  <a:pt x="1613402" y="1103093"/>
                </a:lnTo>
                <a:lnTo>
                  <a:pt x="1613512" y="1103307"/>
                </a:lnTo>
                <a:lnTo>
                  <a:pt x="1632246" y="1145276"/>
                </a:lnTo>
                <a:lnTo>
                  <a:pt x="1648821" y="1188636"/>
                </a:lnTo>
                <a:lnTo>
                  <a:pt x="1663053" y="1233098"/>
                </a:lnTo>
                <a:lnTo>
                  <a:pt x="1674867" y="1278586"/>
                </a:lnTo>
                <a:lnTo>
                  <a:pt x="1684186" y="1325026"/>
                </a:lnTo>
                <a:lnTo>
                  <a:pt x="1690937" y="1372344"/>
                </a:lnTo>
                <a:lnTo>
                  <a:pt x="1694328" y="1412079"/>
                </a:lnTo>
                <a:lnTo>
                  <a:pt x="1694328" y="1465888"/>
                </a:lnTo>
                <a:close/>
              </a:path>
            </a:pathLst>
          </a:custGeom>
          <a:solidFill>
            <a:srgbClr val="DEE77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97398" y="3907369"/>
          <a:ext cx="9217659" cy="5109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4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4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153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Batch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Rows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Failures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Fail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Rate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1535"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314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44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14.00%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1535"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313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21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6.70%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1535"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313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3.50%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1535"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313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11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3.50%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1535"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20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314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17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1975"/>
                        </a:spcBef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5.40%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08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93879" y="3912132"/>
            <a:ext cx="8181974" cy="511492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52009" y="248848"/>
            <a:ext cx="4123054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Process</a:t>
            </a:r>
            <a:r>
              <a:rPr spc="-260" dirty="0"/>
              <a:t> </a:t>
            </a:r>
            <a:r>
              <a:rPr spc="-10" dirty="0"/>
              <a:t>Drift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7412" y="2515132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7412" y="2953282"/>
            <a:ext cx="95250" cy="952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89437" y="1149876"/>
            <a:ext cx="10156190" cy="2012950"/>
          </a:xfrm>
          <a:prstGeom prst="rect">
            <a:avLst/>
          </a:prstGeom>
        </p:spPr>
        <p:txBody>
          <a:bodyPr vert="horz" wrap="square" lIns="0" tIns="187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2500" b="1" dirty="0">
                <a:latin typeface="Times New Roman"/>
                <a:cs typeface="Times New Roman"/>
              </a:rPr>
              <a:t>Purpose:</a:t>
            </a:r>
            <a:r>
              <a:rPr sz="2500" b="1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Show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why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drift-</a:t>
            </a:r>
            <a:r>
              <a:rPr sz="2500" dirty="0">
                <a:latin typeface="Times New Roman"/>
                <a:cs typeface="Times New Roman"/>
              </a:rPr>
              <a:t>aware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approach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is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needed.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2500" b="1" spc="-10" dirty="0">
                <a:latin typeface="Times New Roman"/>
                <a:cs typeface="Times New Roman"/>
              </a:rPr>
              <a:t>Content</a:t>
            </a:r>
            <a:endParaRPr sz="2500">
              <a:latin typeface="Times New Roman"/>
              <a:cs typeface="Times New Roman"/>
            </a:endParaRPr>
          </a:p>
          <a:p>
            <a:pPr marL="551815" marR="5080">
              <a:lnSpc>
                <a:spcPct val="114999"/>
              </a:lnSpc>
            </a:pPr>
            <a:r>
              <a:rPr sz="2500" dirty="0">
                <a:latin typeface="Times New Roman"/>
                <a:cs typeface="Times New Roman"/>
              </a:rPr>
              <a:t>Failure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rate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changes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across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chronological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batches,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confirming</a:t>
            </a:r>
            <a:r>
              <a:rPr sz="2500" spc="-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process</a:t>
            </a:r>
            <a:r>
              <a:rPr sz="2500" spc="-7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drift. </a:t>
            </a:r>
            <a:r>
              <a:rPr sz="2500" dirty="0">
                <a:latin typeface="Times New Roman"/>
                <a:cs typeface="Times New Roman"/>
              </a:rPr>
              <a:t>Mention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that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failure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rate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drops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from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14.0%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3.5%,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then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rises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to</a:t>
            </a:r>
            <a:r>
              <a:rPr sz="2500" spc="-4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5.4%.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41328" y="6480390"/>
            <a:ext cx="4200525" cy="16859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03852" y="0"/>
            <a:ext cx="1694814" cy="1466215"/>
          </a:xfrm>
          <a:custGeom>
            <a:avLst/>
            <a:gdLst/>
            <a:ahLst/>
            <a:cxnLst/>
            <a:rect l="l" t="t" r="r" b="b"/>
            <a:pathLst>
              <a:path w="1694814" h="1466215">
                <a:moveTo>
                  <a:pt x="1694328" y="1465888"/>
                </a:moveTo>
                <a:lnTo>
                  <a:pt x="0" y="1465888"/>
                </a:lnTo>
                <a:lnTo>
                  <a:pt x="1286" y="1420464"/>
                </a:lnTo>
                <a:lnTo>
                  <a:pt x="5385" y="1372344"/>
                </a:lnTo>
                <a:lnTo>
                  <a:pt x="12125" y="1325026"/>
                </a:lnTo>
                <a:lnTo>
                  <a:pt x="21405" y="1278715"/>
                </a:lnTo>
                <a:lnTo>
                  <a:pt x="33188" y="1233252"/>
                </a:lnTo>
                <a:lnTo>
                  <a:pt x="47386" y="1188813"/>
                </a:lnTo>
                <a:lnTo>
                  <a:pt x="63923" y="1145473"/>
                </a:lnTo>
                <a:lnTo>
                  <a:pt x="82724" y="1103307"/>
                </a:lnTo>
                <a:lnTo>
                  <a:pt x="103716" y="1062388"/>
                </a:lnTo>
                <a:lnTo>
                  <a:pt x="103833" y="1062161"/>
                </a:lnTo>
                <a:lnTo>
                  <a:pt x="126963" y="1022554"/>
                </a:lnTo>
                <a:lnTo>
                  <a:pt x="152135" y="984349"/>
                </a:lnTo>
                <a:lnTo>
                  <a:pt x="179274" y="947620"/>
                </a:lnTo>
                <a:lnTo>
                  <a:pt x="208304" y="912441"/>
                </a:lnTo>
                <a:lnTo>
                  <a:pt x="239151" y="878887"/>
                </a:lnTo>
                <a:lnTo>
                  <a:pt x="271741" y="847033"/>
                </a:lnTo>
                <a:lnTo>
                  <a:pt x="305998" y="816955"/>
                </a:lnTo>
                <a:lnTo>
                  <a:pt x="341847" y="788726"/>
                </a:lnTo>
                <a:lnTo>
                  <a:pt x="379213" y="762422"/>
                </a:lnTo>
                <a:lnTo>
                  <a:pt x="418021" y="738117"/>
                </a:lnTo>
                <a:lnTo>
                  <a:pt x="458197" y="715887"/>
                </a:lnTo>
                <a:lnTo>
                  <a:pt x="499666" y="695806"/>
                </a:lnTo>
                <a:lnTo>
                  <a:pt x="542352" y="677948"/>
                </a:lnTo>
                <a:lnTo>
                  <a:pt x="586180" y="662389"/>
                </a:lnTo>
                <a:lnTo>
                  <a:pt x="631077" y="649204"/>
                </a:lnTo>
                <a:lnTo>
                  <a:pt x="676966" y="638467"/>
                </a:lnTo>
                <a:lnTo>
                  <a:pt x="723774" y="630253"/>
                </a:lnTo>
                <a:lnTo>
                  <a:pt x="771424" y="624637"/>
                </a:lnTo>
                <a:lnTo>
                  <a:pt x="723774" y="619021"/>
                </a:lnTo>
                <a:lnTo>
                  <a:pt x="676966" y="610808"/>
                </a:lnTo>
                <a:lnTo>
                  <a:pt x="631077" y="600071"/>
                </a:lnTo>
                <a:lnTo>
                  <a:pt x="586180" y="586885"/>
                </a:lnTo>
                <a:lnTo>
                  <a:pt x="542352" y="571327"/>
                </a:lnTo>
                <a:lnTo>
                  <a:pt x="499666" y="553469"/>
                </a:lnTo>
                <a:lnTo>
                  <a:pt x="458197" y="533388"/>
                </a:lnTo>
                <a:lnTo>
                  <a:pt x="418021" y="511157"/>
                </a:lnTo>
                <a:lnTo>
                  <a:pt x="379213" y="486853"/>
                </a:lnTo>
                <a:lnTo>
                  <a:pt x="341847" y="460548"/>
                </a:lnTo>
                <a:lnTo>
                  <a:pt x="305998" y="432320"/>
                </a:lnTo>
                <a:lnTo>
                  <a:pt x="271741" y="402241"/>
                </a:lnTo>
                <a:lnTo>
                  <a:pt x="239151" y="370388"/>
                </a:lnTo>
                <a:lnTo>
                  <a:pt x="208304" y="336834"/>
                </a:lnTo>
                <a:lnTo>
                  <a:pt x="179274" y="301655"/>
                </a:lnTo>
                <a:lnTo>
                  <a:pt x="152135" y="264925"/>
                </a:lnTo>
                <a:lnTo>
                  <a:pt x="126963" y="226720"/>
                </a:lnTo>
                <a:lnTo>
                  <a:pt x="103833" y="187114"/>
                </a:lnTo>
                <a:lnTo>
                  <a:pt x="82820" y="146182"/>
                </a:lnTo>
                <a:lnTo>
                  <a:pt x="63998" y="103998"/>
                </a:lnTo>
                <a:lnTo>
                  <a:pt x="47442" y="60638"/>
                </a:lnTo>
                <a:lnTo>
                  <a:pt x="33229" y="16177"/>
                </a:lnTo>
                <a:lnTo>
                  <a:pt x="29033" y="0"/>
                </a:lnTo>
                <a:lnTo>
                  <a:pt x="1667299" y="0"/>
                </a:lnTo>
                <a:lnTo>
                  <a:pt x="1648889" y="60638"/>
                </a:lnTo>
                <a:lnTo>
                  <a:pt x="1632334" y="103998"/>
                </a:lnTo>
                <a:lnTo>
                  <a:pt x="1613512" y="146182"/>
                </a:lnTo>
                <a:lnTo>
                  <a:pt x="1592498" y="187114"/>
                </a:lnTo>
                <a:lnTo>
                  <a:pt x="1569368" y="226720"/>
                </a:lnTo>
                <a:lnTo>
                  <a:pt x="1544197" y="264925"/>
                </a:lnTo>
                <a:lnTo>
                  <a:pt x="1517058" y="301655"/>
                </a:lnTo>
                <a:lnTo>
                  <a:pt x="1488027" y="336834"/>
                </a:lnTo>
                <a:lnTo>
                  <a:pt x="1457180" y="370388"/>
                </a:lnTo>
                <a:lnTo>
                  <a:pt x="1424590" y="402241"/>
                </a:lnTo>
                <a:lnTo>
                  <a:pt x="1390334" y="432320"/>
                </a:lnTo>
                <a:lnTo>
                  <a:pt x="1354485" y="460548"/>
                </a:lnTo>
                <a:lnTo>
                  <a:pt x="1317119" y="486853"/>
                </a:lnTo>
                <a:lnTo>
                  <a:pt x="1278310" y="511157"/>
                </a:lnTo>
                <a:lnTo>
                  <a:pt x="1238134" y="533388"/>
                </a:lnTo>
                <a:lnTo>
                  <a:pt x="1196666" y="553469"/>
                </a:lnTo>
                <a:lnTo>
                  <a:pt x="1153980" y="571327"/>
                </a:lnTo>
                <a:lnTo>
                  <a:pt x="1110151" y="586885"/>
                </a:lnTo>
                <a:lnTo>
                  <a:pt x="1065255" y="600071"/>
                </a:lnTo>
                <a:lnTo>
                  <a:pt x="1019365" y="610808"/>
                </a:lnTo>
                <a:lnTo>
                  <a:pt x="972558" y="619021"/>
                </a:lnTo>
                <a:lnTo>
                  <a:pt x="924908" y="624637"/>
                </a:lnTo>
                <a:lnTo>
                  <a:pt x="972250" y="630253"/>
                </a:lnTo>
                <a:lnTo>
                  <a:pt x="1018966" y="638467"/>
                </a:lnTo>
                <a:lnTo>
                  <a:pt x="1064823" y="649204"/>
                </a:lnTo>
                <a:lnTo>
                  <a:pt x="1110151" y="662519"/>
                </a:lnTo>
                <a:lnTo>
                  <a:pt x="1153980" y="678103"/>
                </a:lnTo>
                <a:lnTo>
                  <a:pt x="1196666" y="695983"/>
                </a:lnTo>
                <a:lnTo>
                  <a:pt x="1238134" y="716084"/>
                </a:lnTo>
                <a:lnTo>
                  <a:pt x="1278310" y="738331"/>
                </a:lnTo>
                <a:lnTo>
                  <a:pt x="1317119" y="762650"/>
                </a:lnTo>
                <a:lnTo>
                  <a:pt x="1354485" y="788965"/>
                </a:lnTo>
                <a:lnTo>
                  <a:pt x="1390334" y="817202"/>
                </a:lnTo>
                <a:lnTo>
                  <a:pt x="1424591" y="847287"/>
                </a:lnTo>
                <a:lnTo>
                  <a:pt x="1457180" y="879143"/>
                </a:lnTo>
                <a:lnTo>
                  <a:pt x="1488028" y="912697"/>
                </a:lnTo>
                <a:lnTo>
                  <a:pt x="1517058" y="947873"/>
                </a:lnTo>
                <a:lnTo>
                  <a:pt x="1544197" y="984597"/>
                </a:lnTo>
                <a:lnTo>
                  <a:pt x="1569368" y="1022794"/>
                </a:lnTo>
                <a:lnTo>
                  <a:pt x="1592498" y="1062388"/>
                </a:lnTo>
                <a:lnTo>
                  <a:pt x="1613402" y="1103093"/>
                </a:lnTo>
                <a:lnTo>
                  <a:pt x="1613512" y="1103307"/>
                </a:lnTo>
                <a:lnTo>
                  <a:pt x="1632246" y="1145276"/>
                </a:lnTo>
                <a:lnTo>
                  <a:pt x="1648821" y="1188636"/>
                </a:lnTo>
                <a:lnTo>
                  <a:pt x="1663053" y="1233098"/>
                </a:lnTo>
                <a:lnTo>
                  <a:pt x="1674867" y="1278586"/>
                </a:lnTo>
                <a:lnTo>
                  <a:pt x="1684186" y="1325026"/>
                </a:lnTo>
                <a:lnTo>
                  <a:pt x="1690937" y="1372344"/>
                </a:lnTo>
                <a:lnTo>
                  <a:pt x="1694328" y="1412079"/>
                </a:lnTo>
                <a:lnTo>
                  <a:pt x="1694328" y="1465888"/>
                </a:lnTo>
                <a:close/>
              </a:path>
            </a:pathLst>
          </a:custGeom>
          <a:solidFill>
            <a:srgbClr val="DEE77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53909" y="1926388"/>
            <a:ext cx="8277224" cy="621029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Sensor</a:t>
            </a:r>
            <a:r>
              <a:rPr spc="-204" dirty="0"/>
              <a:t> </a:t>
            </a:r>
            <a:r>
              <a:rPr spc="-10" dirty="0"/>
              <a:t>Stability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0762" y="2759607"/>
            <a:ext cx="133349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0762" y="3378732"/>
            <a:ext cx="133349" cy="133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87999" y="3993094"/>
            <a:ext cx="142875" cy="1428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89437" y="1290487"/>
            <a:ext cx="8911590" cy="485711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3400" b="1" dirty="0">
                <a:latin typeface="Times New Roman"/>
                <a:cs typeface="Times New Roman"/>
              </a:rPr>
              <a:t>Purpose:</a:t>
            </a:r>
            <a:r>
              <a:rPr sz="3400" b="1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Show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how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your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method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selected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sensors.</a:t>
            </a:r>
            <a:endParaRPr sz="3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3500" b="1" spc="-10" dirty="0">
                <a:latin typeface="Times New Roman"/>
                <a:cs typeface="Times New Roman"/>
              </a:rPr>
              <a:t>Content</a:t>
            </a:r>
            <a:endParaRPr sz="3500" dirty="0">
              <a:latin typeface="Times New Roman"/>
              <a:cs typeface="Times New Roman"/>
            </a:endParaRPr>
          </a:p>
          <a:p>
            <a:pPr marL="767715">
              <a:lnSpc>
                <a:spcPct val="100000"/>
              </a:lnSpc>
              <a:spcBef>
                <a:spcPts val="675"/>
              </a:spcBef>
            </a:pPr>
            <a:r>
              <a:rPr sz="3500" dirty="0">
                <a:latin typeface="Times New Roman"/>
                <a:cs typeface="Times New Roman"/>
              </a:rPr>
              <a:t>No</a:t>
            </a:r>
            <a:r>
              <a:rPr sz="3500" spc="-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sensor</a:t>
            </a:r>
            <a:r>
              <a:rPr sz="3500" spc="-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exceeded</a:t>
            </a:r>
            <a:r>
              <a:rPr sz="3500" spc="-3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</a:t>
            </a:r>
            <a:r>
              <a:rPr sz="3500" spc="-4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stability</a:t>
            </a:r>
            <a:r>
              <a:rPr sz="3500" spc="-3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score</a:t>
            </a:r>
            <a:r>
              <a:rPr sz="3500" spc="-3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of</a:t>
            </a:r>
            <a:r>
              <a:rPr sz="3500" spc="-40" dirty="0">
                <a:latin typeface="Times New Roman"/>
                <a:cs typeface="Times New Roman"/>
              </a:rPr>
              <a:t> </a:t>
            </a:r>
            <a:r>
              <a:rPr sz="3500" spc="-20" dirty="0">
                <a:latin typeface="Times New Roman"/>
                <a:cs typeface="Times New Roman"/>
              </a:rPr>
              <a:t>0.4.</a:t>
            </a:r>
            <a:endParaRPr sz="3500" dirty="0">
              <a:latin typeface="Times New Roman"/>
              <a:cs typeface="Times New Roman"/>
            </a:endParaRPr>
          </a:p>
          <a:p>
            <a:pPr marL="767715">
              <a:lnSpc>
                <a:spcPct val="100000"/>
              </a:lnSpc>
              <a:spcBef>
                <a:spcPts val="675"/>
              </a:spcBef>
            </a:pPr>
            <a:r>
              <a:rPr sz="3500" b="1" spc="-85" dirty="0">
                <a:latin typeface="Times New Roman"/>
                <a:cs typeface="Times New Roman"/>
              </a:rPr>
              <a:t>Top</a:t>
            </a:r>
            <a:r>
              <a:rPr sz="3500" b="1" spc="-100" dirty="0">
                <a:latin typeface="Times New Roman"/>
                <a:cs typeface="Times New Roman"/>
              </a:rPr>
              <a:t> </a:t>
            </a:r>
            <a:r>
              <a:rPr sz="3500" b="1" dirty="0">
                <a:latin typeface="Times New Roman"/>
                <a:cs typeface="Times New Roman"/>
              </a:rPr>
              <a:t>stable</a:t>
            </a:r>
            <a:r>
              <a:rPr sz="3500" b="1" spc="-100" dirty="0">
                <a:latin typeface="Times New Roman"/>
                <a:cs typeface="Times New Roman"/>
              </a:rPr>
              <a:t> </a:t>
            </a:r>
            <a:r>
              <a:rPr sz="3500" b="1" spc="-10" dirty="0">
                <a:latin typeface="Times New Roman"/>
                <a:cs typeface="Times New Roman"/>
              </a:rPr>
              <a:t>sensors:</a:t>
            </a:r>
            <a:endParaRPr sz="3500" dirty="0">
              <a:latin typeface="Times New Roman"/>
              <a:cs typeface="Times New Roman"/>
            </a:endParaRPr>
          </a:p>
          <a:p>
            <a:pPr marL="1523365" marR="923925">
              <a:lnSpc>
                <a:spcPts val="4880"/>
              </a:lnSpc>
              <a:spcBef>
                <a:spcPts val="80"/>
              </a:spcBef>
            </a:pPr>
            <a:r>
              <a:rPr sz="3500" dirty="0">
                <a:latin typeface="Times New Roman"/>
                <a:cs typeface="Times New Roman"/>
              </a:rPr>
              <a:t>sensor_0,</a:t>
            </a:r>
            <a:r>
              <a:rPr sz="3500" spc="-7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sensor_21,</a:t>
            </a:r>
            <a:r>
              <a:rPr sz="3500" spc="-75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sensor_225, </a:t>
            </a:r>
            <a:r>
              <a:rPr sz="3500" dirty="0">
                <a:latin typeface="Times New Roman"/>
                <a:cs typeface="Times New Roman"/>
              </a:rPr>
              <a:t>sensor_285,</a:t>
            </a:r>
            <a:r>
              <a:rPr sz="3500" spc="-6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sensor_95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was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spc="-10" dirty="0">
                <a:latin typeface="Times New Roman"/>
                <a:cs typeface="Times New Roman"/>
              </a:rPr>
              <a:t>retained </a:t>
            </a:r>
            <a:r>
              <a:rPr sz="3500" dirty="0">
                <a:latin typeface="Times New Roman"/>
                <a:cs typeface="Times New Roman"/>
              </a:rPr>
              <a:t>through</a:t>
            </a:r>
            <a:r>
              <a:rPr sz="3500" spc="-6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the</a:t>
            </a:r>
            <a:r>
              <a:rPr sz="3500" spc="-90" dirty="0">
                <a:latin typeface="Times New Roman"/>
                <a:cs typeface="Times New Roman"/>
              </a:rPr>
              <a:t> </a:t>
            </a:r>
            <a:r>
              <a:rPr sz="3500" spc="-25" dirty="0">
                <a:latin typeface="Times New Roman"/>
                <a:cs typeface="Times New Roman"/>
              </a:rPr>
              <a:t>Tripwire</a:t>
            </a:r>
            <a:r>
              <a:rPr sz="3500" spc="-19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Audit</a:t>
            </a:r>
            <a:r>
              <a:rPr sz="3500" spc="-3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despite</a:t>
            </a:r>
            <a:r>
              <a:rPr sz="3500" spc="-35" dirty="0">
                <a:latin typeface="Times New Roman"/>
                <a:cs typeface="Times New Roman"/>
              </a:rPr>
              <a:t> </a:t>
            </a:r>
            <a:r>
              <a:rPr sz="3500" spc="-50" dirty="0">
                <a:latin typeface="Times New Roman"/>
                <a:cs typeface="Times New Roman"/>
              </a:rPr>
              <a:t>a </a:t>
            </a:r>
            <a:r>
              <a:rPr sz="3500" dirty="0">
                <a:latin typeface="Times New Roman"/>
                <a:cs typeface="Times New Roman"/>
              </a:rPr>
              <a:t>stability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score</a:t>
            </a:r>
            <a:r>
              <a:rPr sz="3500" spc="-50" dirty="0">
                <a:latin typeface="Times New Roman"/>
                <a:cs typeface="Times New Roman"/>
              </a:rPr>
              <a:t> </a:t>
            </a:r>
            <a:r>
              <a:rPr sz="3500" dirty="0">
                <a:latin typeface="Times New Roman"/>
                <a:cs typeface="Times New Roman"/>
              </a:rPr>
              <a:t>of</a:t>
            </a:r>
            <a:r>
              <a:rPr sz="3500" spc="-55" dirty="0">
                <a:latin typeface="Times New Roman"/>
                <a:cs typeface="Times New Roman"/>
              </a:rPr>
              <a:t> </a:t>
            </a:r>
            <a:r>
              <a:rPr sz="3500" spc="-20" dirty="0">
                <a:latin typeface="Times New Roman"/>
                <a:cs typeface="Times New Roman"/>
              </a:rPr>
              <a:t>0.0.</a:t>
            </a:r>
            <a:endParaRPr sz="35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41328" y="6480390"/>
            <a:ext cx="4200525" cy="16859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03852" y="0"/>
            <a:ext cx="1694814" cy="1466215"/>
          </a:xfrm>
          <a:custGeom>
            <a:avLst/>
            <a:gdLst/>
            <a:ahLst/>
            <a:cxnLst/>
            <a:rect l="l" t="t" r="r" b="b"/>
            <a:pathLst>
              <a:path w="1694814" h="1466215">
                <a:moveTo>
                  <a:pt x="1694328" y="1465888"/>
                </a:moveTo>
                <a:lnTo>
                  <a:pt x="0" y="1465888"/>
                </a:lnTo>
                <a:lnTo>
                  <a:pt x="1286" y="1420464"/>
                </a:lnTo>
                <a:lnTo>
                  <a:pt x="5385" y="1372344"/>
                </a:lnTo>
                <a:lnTo>
                  <a:pt x="12125" y="1325026"/>
                </a:lnTo>
                <a:lnTo>
                  <a:pt x="21405" y="1278715"/>
                </a:lnTo>
                <a:lnTo>
                  <a:pt x="33188" y="1233252"/>
                </a:lnTo>
                <a:lnTo>
                  <a:pt x="47386" y="1188813"/>
                </a:lnTo>
                <a:lnTo>
                  <a:pt x="63923" y="1145473"/>
                </a:lnTo>
                <a:lnTo>
                  <a:pt x="82724" y="1103307"/>
                </a:lnTo>
                <a:lnTo>
                  <a:pt x="103716" y="1062388"/>
                </a:lnTo>
                <a:lnTo>
                  <a:pt x="103833" y="1062161"/>
                </a:lnTo>
                <a:lnTo>
                  <a:pt x="126963" y="1022554"/>
                </a:lnTo>
                <a:lnTo>
                  <a:pt x="152135" y="984349"/>
                </a:lnTo>
                <a:lnTo>
                  <a:pt x="179274" y="947620"/>
                </a:lnTo>
                <a:lnTo>
                  <a:pt x="208304" y="912441"/>
                </a:lnTo>
                <a:lnTo>
                  <a:pt x="239151" y="878887"/>
                </a:lnTo>
                <a:lnTo>
                  <a:pt x="271741" y="847033"/>
                </a:lnTo>
                <a:lnTo>
                  <a:pt x="305998" y="816955"/>
                </a:lnTo>
                <a:lnTo>
                  <a:pt x="341847" y="788726"/>
                </a:lnTo>
                <a:lnTo>
                  <a:pt x="379213" y="762422"/>
                </a:lnTo>
                <a:lnTo>
                  <a:pt x="418021" y="738117"/>
                </a:lnTo>
                <a:lnTo>
                  <a:pt x="458197" y="715887"/>
                </a:lnTo>
                <a:lnTo>
                  <a:pt x="499666" y="695806"/>
                </a:lnTo>
                <a:lnTo>
                  <a:pt x="542352" y="677948"/>
                </a:lnTo>
                <a:lnTo>
                  <a:pt x="586180" y="662389"/>
                </a:lnTo>
                <a:lnTo>
                  <a:pt x="631077" y="649204"/>
                </a:lnTo>
                <a:lnTo>
                  <a:pt x="676966" y="638467"/>
                </a:lnTo>
                <a:lnTo>
                  <a:pt x="723774" y="630253"/>
                </a:lnTo>
                <a:lnTo>
                  <a:pt x="771424" y="624637"/>
                </a:lnTo>
                <a:lnTo>
                  <a:pt x="723774" y="619021"/>
                </a:lnTo>
                <a:lnTo>
                  <a:pt x="676966" y="610808"/>
                </a:lnTo>
                <a:lnTo>
                  <a:pt x="631077" y="600071"/>
                </a:lnTo>
                <a:lnTo>
                  <a:pt x="586180" y="586885"/>
                </a:lnTo>
                <a:lnTo>
                  <a:pt x="542352" y="571327"/>
                </a:lnTo>
                <a:lnTo>
                  <a:pt x="499666" y="553469"/>
                </a:lnTo>
                <a:lnTo>
                  <a:pt x="458197" y="533388"/>
                </a:lnTo>
                <a:lnTo>
                  <a:pt x="418021" y="511157"/>
                </a:lnTo>
                <a:lnTo>
                  <a:pt x="379213" y="486853"/>
                </a:lnTo>
                <a:lnTo>
                  <a:pt x="341847" y="460548"/>
                </a:lnTo>
                <a:lnTo>
                  <a:pt x="305998" y="432320"/>
                </a:lnTo>
                <a:lnTo>
                  <a:pt x="271741" y="402241"/>
                </a:lnTo>
                <a:lnTo>
                  <a:pt x="239151" y="370388"/>
                </a:lnTo>
                <a:lnTo>
                  <a:pt x="208304" y="336834"/>
                </a:lnTo>
                <a:lnTo>
                  <a:pt x="179274" y="301655"/>
                </a:lnTo>
                <a:lnTo>
                  <a:pt x="152135" y="264925"/>
                </a:lnTo>
                <a:lnTo>
                  <a:pt x="126963" y="226720"/>
                </a:lnTo>
                <a:lnTo>
                  <a:pt x="103833" y="187114"/>
                </a:lnTo>
                <a:lnTo>
                  <a:pt x="82820" y="146182"/>
                </a:lnTo>
                <a:lnTo>
                  <a:pt x="63998" y="103998"/>
                </a:lnTo>
                <a:lnTo>
                  <a:pt x="47442" y="60638"/>
                </a:lnTo>
                <a:lnTo>
                  <a:pt x="33229" y="16177"/>
                </a:lnTo>
                <a:lnTo>
                  <a:pt x="29033" y="0"/>
                </a:lnTo>
                <a:lnTo>
                  <a:pt x="1667299" y="0"/>
                </a:lnTo>
                <a:lnTo>
                  <a:pt x="1648889" y="60638"/>
                </a:lnTo>
                <a:lnTo>
                  <a:pt x="1632334" y="103998"/>
                </a:lnTo>
                <a:lnTo>
                  <a:pt x="1613512" y="146182"/>
                </a:lnTo>
                <a:lnTo>
                  <a:pt x="1592498" y="187114"/>
                </a:lnTo>
                <a:lnTo>
                  <a:pt x="1569368" y="226720"/>
                </a:lnTo>
                <a:lnTo>
                  <a:pt x="1544197" y="264925"/>
                </a:lnTo>
                <a:lnTo>
                  <a:pt x="1517058" y="301655"/>
                </a:lnTo>
                <a:lnTo>
                  <a:pt x="1488027" y="336834"/>
                </a:lnTo>
                <a:lnTo>
                  <a:pt x="1457180" y="370388"/>
                </a:lnTo>
                <a:lnTo>
                  <a:pt x="1424590" y="402241"/>
                </a:lnTo>
                <a:lnTo>
                  <a:pt x="1390334" y="432320"/>
                </a:lnTo>
                <a:lnTo>
                  <a:pt x="1354485" y="460548"/>
                </a:lnTo>
                <a:lnTo>
                  <a:pt x="1317119" y="486853"/>
                </a:lnTo>
                <a:lnTo>
                  <a:pt x="1278310" y="511157"/>
                </a:lnTo>
                <a:lnTo>
                  <a:pt x="1238134" y="533388"/>
                </a:lnTo>
                <a:lnTo>
                  <a:pt x="1196666" y="553469"/>
                </a:lnTo>
                <a:lnTo>
                  <a:pt x="1153980" y="571327"/>
                </a:lnTo>
                <a:lnTo>
                  <a:pt x="1110151" y="586885"/>
                </a:lnTo>
                <a:lnTo>
                  <a:pt x="1065255" y="600071"/>
                </a:lnTo>
                <a:lnTo>
                  <a:pt x="1019365" y="610808"/>
                </a:lnTo>
                <a:lnTo>
                  <a:pt x="972558" y="619021"/>
                </a:lnTo>
                <a:lnTo>
                  <a:pt x="924908" y="624637"/>
                </a:lnTo>
                <a:lnTo>
                  <a:pt x="972250" y="630253"/>
                </a:lnTo>
                <a:lnTo>
                  <a:pt x="1018966" y="638467"/>
                </a:lnTo>
                <a:lnTo>
                  <a:pt x="1064823" y="649204"/>
                </a:lnTo>
                <a:lnTo>
                  <a:pt x="1110151" y="662519"/>
                </a:lnTo>
                <a:lnTo>
                  <a:pt x="1153980" y="678103"/>
                </a:lnTo>
                <a:lnTo>
                  <a:pt x="1196666" y="695983"/>
                </a:lnTo>
                <a:lnTo>
                  <a:pt x="1238134" y="716084"/>
                </a:lnTo>
                <a:lnTo>
                  <a:pt x="1278310" y="738331"/>
                </a:lnTo>
                <a:lnTo>
                  <a:pt x="1317119" y="762650"/>
                </a:lnTo>
                <a:lnTo>
                  <a:pt x="1354485" y="788965"/>
                </a:lnTo>
                <a:lnTo>
                  <a:pt x="1390334" y="817202"/>
                </a:lnTo>
                <a:lnTo>
                  <a:pt x="1424591" y="847287"/>
                </a:lnTo>
                <a:lnTo>
                  <a:pt x="1457180" y="879143"/>
                </a:lnTo>
                <a:lnTo>
                  <a:pt x="1488028" y="912697"/>
                </a:lnTo>
                <a:lnTo>
                  <a:pt x="1517058" y="947873"/>
                </a:lnTo>
                <a:lnTo>
                  <a:pt x="1544197" y="984597"/>
                </a:lnTo>
                <a:lnTo>
                  <a:pt x="1569368" y="1022794"/>
                </a:lnTo>
                <a:lnTo>
                  <a:pt x="1592498" y="1062388"/>
                </a:lnTo>
                <a:lnTo>
                  <a:pt x="1613402" y="1103093"/>
                </a:lnTo>
                <a:lnTo>
                  <a:pt x="1613512" y="1103307"/>
                </a:lnTo>
                <a:lnTo>
                  <a:pt x="1632246" y="1145276"/>
                </a:lnTo>
                <a:lnTo>
                  <a:pt x="1648821" y="1188636"/>
                </a:lnTo>
                <a:lnTo>
                  <a:pt x="1663053" y="1233098"/>
                </a:lnTo>
                <a:lnTo>
                  <a:pt x="1674867" y="1278586"/>
                </a:lnTo>
                <a:lnTo>
                  <a:pt x="1684186" y="1325026"/>
                </a:lnTo>
                <a:lnTo>
                  <a:pt x="1690937" y="1372344"/>
                </a:lnTo>
                <a:lnTo>
                  <a:pt x="1694328" y="1412079"/>
                </a:lnTo>
                <a:lnTo>
                  <a:pt x="1694328" y="1465888"/>
                </a:lnTo>
                <a:close/>
              </a:path>
            </a:pathLst>
          </a:custGeom>
          <a:solidFill>
            <a:srgbClr val="DEE77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902641"/>
              </p:ext>
            </p:extLst>
          </p:nvPr>
        </p:nvGraphicFramePr>
        <p:xfrm>
          <a:off x="596516" y="2899538"/>
          <a:ext cx="17141189" cy="3672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13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3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3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3347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75"/>
                        </a:spcBef>
                      </a:pPr>
                      <a:r>
                        <a:rPr sz="3000" b="1" spc="-10" dirty="0">
                          <a:latin typeface="Times New Roman"/>
                          <a:cs typeface="Times New Roman"/>
                        </a:rPr>
                        <a:t>Condition</a:t>
                      </a:r>
                      <a:r>
                        <a:rPr lang="en-US" sz="3000" b="1" spc="-10" dirty="0">
                          <a:latin typeface="Times New Roman"/>
                          <a:cs typeface="Times New Roman"/>
                        </a:rPr>
                        <a:t> (sensor_21)</a:t>
                      </a:r>
                      <a:endParaRPr sz="3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43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75"/>
                        </a:spcBef>
                      </a:pPr>
                      <a:r>
                        <a:rPr sz="3000" b="1" dirty="0">
                          <a:latin typeface="Times New Roman"/>
                          <a:cs typeface="Times New Roman"/>
                        </a:rPr>
                        <a:t>Stability</a:t>
                      </a:r>
                      <a:r>
                        <a:rPr sz="30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b="1" spc="-10" dirty="0">
                          <a:latin typeface="Times New Roman"/>
                          <a:cs typeface="Times New Roman"/>
                        </a:rPr>
                        <a:t>Score</a:t>
                      </a:r>
                      <a:endParaRPr sz="3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43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75"/>
                        </a:spcBef>
                      </a:pPr>
                      <a:r>
                        <a:rPr sz="3000" b="1" spc="-10" dirty="0">
                          <a:latin typeface="Times New Roman"/>
                          <a:cs typeface="Times New Roman"/>
                        </a:rPr>
                        <a:t>Selected?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3143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347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75"/>
                        </a:spcBef>
                      </a:pPr>
                      <a:r>
                        <a:rPr sz="3000" b="1" dirty="0">
                          <a:latin typeface="Times New Roman"/>
                          <a:cs typeface="Times New Roman"/>
                        </a:rPr>
                        <a:t>Before</a:t>
                      </a:r>
                      <a:r>
                        <a:rPr sz="3000" b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b="1" spc="-10" dirty="0">
                          <a:latin typeface="Times New Roman"/>
                          <a:cs typeface="Times New Roman"/>
                        </a:rPr>
                        <a:t>injection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3143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2475"/>
                        </a:spcBef>
                      </a:pPr>
                      <a:r>
                        <a:rPr sz="3000" spc="-25" dirty="0">
                          <a:latin typeface="Times New Roman"/>
                          <a:cs typeface="Times New Roman"/>
                        </a:rPr>
                        <a:t>0.4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3143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475"/>
                        </a:spcBef>
                      </a:pPr>
                      <a:r>
                        <a:rPr sz="3000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3143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52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3000" b="1" dirty="0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sz="30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b="1" dirty="0">
                          <a:latin typeface="Times New Roman"/>
                          <a:cs typeface="Times New Roman"/>
                        </a:rPr>
                        <a:t>noise</a:t>
                      </a:r>
                      <a:r>
                        <a:rPr sz="30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b="1" spc="-10" dirty="0">
                          <a:latin typeface="Times New Roman"/>
                          <a:cs typeface="Times New Roman"/>
                        </a:rPr>
                        <a:t>injection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  <a:p>
                      <a:pPr marR="68580" algn="r">
                        <a:lnSpc>
                          <a:spcPct val="100000"/>
                        </a:lnSpc>
                      </a:pPr>
                      <a:r>
                        <a:rPr sz="3000" spc="-25" dirty="0">
                          <a:latin typeface="Times New Roman"/>
                          <a:cs typeface="Times New Roman"/>
                        </a:rPr>
                        <a:t>0.2</a:t>
                      </a: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3000" dirty="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3000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3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886792" y="567863"/>
            <a:ext cx="4998085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Drift</a:t>
            </a:r>
            <a:r>
              <a:rPr spc="-200" dirty="0"/>
              <a:t> </a:t>
            </a:r>
            <a:r>
              <a:rPr spc="-530" dirty="0"/>
              <a:t>V</a:t>
            </a:r>
            <a:r>
              <a:rPr dirty="0"/>
              <a:t>a</a:t>
            </a:r>
            <a:r>
              <a:rPr spc="5" dirty="0"/>
              <a:t>li</a:t>
            </a:r>
            <a:r>
              <a:rPr dirty="0"/>
              <a:t>da</a:t>
            </a:r>
            <a:r>
              <a:rPr spc="5" dirty="0"/>
              <a:t>ti</a:t>
            </a:r>
            <a:r>
              <a:rPr dirty="0"/>
              <a:t>o</a:t>
            </a:r>
            <a:r>
              <a:rPr spc="5" dirty="0"/>
              <a:t>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8541" y="1898823"/>
            <a:ext cx="1122489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dirty="0">
                <a:latin typeface="Times New Roman"/>
                <a:cs typeface="Times New Roman"/>
              </a:rPr>
              <a:t>Purpose:</a:t>
            </a:r>
            <a:r>
              <a:rPr sz="3400" b="1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Prove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that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stability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score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actually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responds</a:t>
            </a:r>
            <a:r>
              <a:rPr sz="3400" spc="-7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to</a:t>
            </a:r>
            <a:r>
              <a:rPr sz="3400" spc="-6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drift.</a:t>
            </a:r>
            <a:endParaRPr sz="3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41328" y="6480390"/>
            <a:ext cx="4200525" cy="16859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03852" y="0"/>
            <a:ext cx="1694814" cy="1466215"/>
          </a:xfrm>
          <a:custGeom>
            <a:avLst/>
            <a:gdLst/>
            <a:ahLst/>
            <a:cxnLst/>
            <a:rect l="l" t="t" r="r" b="b"/>
            <a:pathLst>
              <a:path w="1694814" h="1466215">
                <a:moveTo>
                  <a:pt x="1694328" y="1465888"/>
                </a:moveTo>
                <a:lnTo>
                  <a:pt x="0" y="1465888"/>
                </a:lnTo>
                <a:lnTo>
                  <a:pt x="1286" y="1420464"/>
                </a:lnTo>
                <a:lnTo>
                  <a:pt x="5385" y="1372344"/>
                </a:lnTo>
                <a:lnTo>
                  <a:pt x="12125" y="1325026"/>
                </a:lnTo>
                <a:lnTo>
                  <a:pt x="21405" y="1278715"/>
                </a:lnTo>
                <a:lnTo>
                  <a:pt x="33188" y="1233252"/>
                </a:lnTo>
                <a:lnTo>
                  <a:pt x="47386" y="1188813"/>
                </a:lnTo>
                <a:lnTo>
                  <a:pt x="63923" y="1145473"/>
                </a:lnTo>
                <a:lnTo>
                  <a:pt x="82724" y="1103307"/>
                </a:lnTo>
                <a:lnTo>
                  <a:pt x="103716" y="1062388"/>
                </a:lnTo>
                <a:lnTo>
                  <a:pt x="103833" y="1062161"/>
                </a:lnTo>
                <a:lnTo>
                  <a:pt x="126963" y="1022554"/>
                </a:lnTo>
                <a:lnTo>
                  <a:pt x="152135" y="984349"/>
                </a:lnTo>
                <a:lnTo>
                  <a:pt x="179274" y="947620"/>
                </a:lnTo>
                <a:lnTo>
                  <a:pt x="208304" y="912441"/>
                </a:lnTo>
                <a:lnTo>
                  <a:pt x="239151" y="878887"/>
                </a:lnTo>
                <a:lnTo>
                  <a:pt x="271741" y="847033"/>
                </a:lnTo>
                <a:lnTo>
                  <a:pt x="305998" y="816955"/>
                </a:lnTo>
                <a:lnTo>
                  <a:pt x="341847" y="788726"/>
                </a:lnTo>
                <a:lnTo>
                  <a:pt x="379213" y="762422"/>
                </a:lnTo>
                <a:lnTo>
                  <a:pt x="418021" y="738117"/>
                </a:lnTo>
                <a:lnTo>
                  <a:pt x="458197" y="715887"/>
                </a:lnTo>
                <a:lnTo>
                  <a:pt x="499666" y="695806"/>
                </a:lnTo>
                <a:lnTo>
                  <a:pt x="542352" y="677948"/>
                </a:lnTo>
                <a:lnTo>
                  <a:pt x="586180" y="662389"/>
                </a:lnTo>
                <a:lnTo>
                  <a:pt x="631077" y="649204"/>
                </a:lnTo>
                <a:lnTo>
                  <a:pt x="676966" y="638467"/>
                </a:lnTo>
                <a:lnTo>
                  <a:pt x="723774" y="630253"/>
                </a:lnTo>
                <a:lnTo>
                  <a:pt x="771424" y="624637"/>
                </a:lnTo>
                <a:lnTo>
                  <a:pt x="723774" y="619021"/>
                </a:lnTo>
                <a:lnTo>
                  <a:pt x="676966" y="610808"/>
                </a:lnTo>
                <a:lnTo>
                  <a:pt x="631077" y="600071"/>
                </a:lnTo>
                <a:lnTo>
                  <a:pt x="586180" y="586885"/>
                </a:lnTo>
                <a:lnTo>
                  <a:pt x="542352" y="571327"/>
                </a:lnTo>
                <a:lnTo>
                  <a:pt x="499666" y="553469"/>
                </a:lnTo>
                <a:lnTo>
                  <a:pt x="458197" y="533388"/>
                </a:lnTo>
                <a:lnTo>
                  <a:pt x="418021" y="511157"/>
                </a:lnTo>
                <a:lnTo>
                  <a:pt x="379213" y="486853"/>
                </a:lnTo>
                <a:lnTo>
                  <a:pt x="341847" y="460548"/>
                </a:lnTo>
                <a:lnTo>
                  <a:pt x="305998" y="432320"/>
                </a:lnTo>
                <a:lnTo>
                  <a:pt x="271741" y="402241"/>
                </a:lnTo>
                <a:lnTo>
                  <a:pt x="239151" y="370388"/>
                </a:lnTo>
                <a:lnTo>
                  <a:pt x="208304" y="336834"/>
                </a:lnTo>
                <a:lnTo>
                  <a:pt x="179274" y="301655"/>
                </a:lnTo>
                <a:lnTo>
                  <a:pt x="152135" y="264925"/>
                </a:lnTo>
                <a:lnTo>
                  <a:pt x="126963" y="226720"/>
                </a:lnTo>
                <a:lnTo>
                  <a:pt x="103833" y="187114"/>
                </a:lnTo>
                <a:lnTo>
                  <a:pt x="82820" y="146182"/>
                </a:lnTo>
                <a:lnTo>
                  <a:pt x="63998" y="103998"/>
                </a:lnTo>
                <a:lnTo>
                  <a:pt x="47442" y="60638"/>
                </a:lnTo>
                <a:lnTo>
                  <a:pt x="33229" y="16177"/>
                </a:lnTo>
                <a:lnTo>
                  <a:pt x="29033" y="0"/>
                </a:lnTo>
                <a:lnTo>
                  <a:pt x="1667299" y="0"/>
                </a:lnTo>
                <a:lnTo>
                  <a:pt x="1648889" y="60638"/>
                </a:lnTo>
                <a:lnTo>
                  <a:pt x="1632334" y="103998"/>
                </a:lnTo>
                <a:lnTo>
                  <a:pt x="1613512" y="146182"/>
                </a:lnTo>
                <a:lnTo>
                  <a:pt x="1592498" y="187114"/>
                </a:lnTo>
                <a:lnTo>
                  <a:pt x="1569368" y="226720"/>
                </a:lnTo>
                <a:lnTo>
                  <a:pt x="1544197" y="264925"/>
                </a:lnTo>
                <a:lnTo>
                  <a:pt x="1517058" y="301655"/>
                </a:lnTo>
                <a:lnTo>
                  <a:pt x="1488027" y="336834"/>
                </a:lnTo>
                <a:lnTo>
                  <a:pt x="1457180" y="370388"/>
                </a:lnTo>
                <a:lnTo>
                  <a:pt x="1424590" y="402241"/>
                </a:lnTo>
                <a:lnTo>
                  <a:pt x="1390334" y="432320"/>
                </a:lnTo>
                <a:lnTo>
                  <a:pt x="1354485" y="460548"/>
                </a:lnTo>
                <a:lnTo>
                  <a:pt x="1317119" y="486853"/>
                </a:lnTo>
                <a:lnTo>
                  <a:pt x="1278310" y="511157"/>
                </a:lnTo>
                <a:lnTo>
                  <a:pt x="1238134" y="533388"/>
                </a:lnTo>
                <a:lnTo>
                  <a:pt x="1196666" y="553469"/>
                </a:lnTo>
                <a:lnTo>
                  <a:pt x="1153980" y="571327"/>
                </a:lnTo>
                <a:lnTo>
                  <a:pt x="1110151" y="586885"/>
                </a:lnTo>
                <a:lnTo>
                  <a:pt x="1065255" y="600071"/>
                </a:lnTo>
                <a:lnTo>
                  <a:pt x="1019365" y="610808"/>
                </a:lnTo>
                <a:lnTo>
                  <a:pt x="972558" y="619021"/>
                </a:lnTo>
                <a:lnTo>
                  <a:pt x="924908" y="624637"/>
                </a:lnTo>
                <a:lnTo>
                  <a:pt x="972250" y="630253"/>
                </a:lnTo>
                <a:lnTo>
                  <a:pt x="1018966" y="638467"/>
                </a:lnTo>
                <a:lnTo>
                  <a:pt x="1064823" y="649204"/>
                </a:lnTo>
                <a:lnTo>
                  <a:pt x="1110151" y="662519"/>
                </a:lnTo>
                <a:lnTo>
                  <a:pt x="1153980" y="678103"/>
                </a:lnTo>
                <a:lnTo>
                  <a:pt x="1196666" y="695983"/>
                </a:lnTo>
                <a:lnTo>
                  <a:pt x="1238134" y="716084"/>
                </a:lnTo>
                <a:lnTo>
                  <a:pt x="1278310" y="738331"/>
                </a:lnTo>
                <a:lnTo>
                  <a:pt x="1317119" y="762650"/>
                </a:lnTo>
                <a:lnTo>
                  <a:pt x="1354485" y="788965"/>
                </a:lnTo>
                <a:lnTo>
                  <a:pt x="1390334" y="817202"/>
                </a:lnTo>
                <a:lnTo>
                  <a:pt x="1424591" y="847287"/>
                </a:lnTo>
                <a:lnTo>
                  <a:pt x="1457180" y="879143"/>
                </a:lnTo>
                <a:lnTo>
                  <a:pt x="1488028" y="912697"/>
                </a:lnTo>
                <a:lnTo>
                  <a:pt x="1517058" y="947873"/>
                </a:lnTo>
                <a:lnTo>
                  <a:pt x="1544197" y="984597"/>
                </a:lnTo>
                <a:lnTo>
                  <a:pt x="1569368" y="1022794"/>
                </a:lnTo>
                <a:lnTo>
                  <a:pt x="1592498" y="1062388"/>
                </a:lnTo>
                <a:lnTo>
                  <a:pt x="1613402" y="1103093"/>
                </a:lnTo>
                <a:lnTo>
                  <a:pt x="1613512" y="1103307"/>
                </a:lnTo>
                <a:lnTo>
                  <a:pt x="1632246" y="1145276"/>
                </a:lnTo>
                <a:lnTo>
                  <a:pt x="1648821" y="1188636"/>
                </a:lnTo>
                <a:lnTo>
                  <a:pt x="1663053" y="1233098"/>
                </a:lnTo>
                <a:lnTo>
                  <a:pt x="1674867" y="1278586"/>
                </a:lnTo>
                <a:lnTo>
                  <a:pt x="1684186" y="1325026"/>
                </a:lnTo>
                <a:lnTo>
                  <a:pt x="1690937" y="1372344"/>
                </a:lnTo>
                <a:lnTo>
                  <a:pt x="1694328" y="1412079"/>
                </a:lnTo>
                <a:lnTo>
                  <a:pt x="1694328" y="1465888"/>
                </a:lnTo>
                <a:close/>
              </a:path>
            </a:pathLst>
          </a:custGeom>
          <a:solidFill>
            <a:srgbClr val="DEE77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32486" y="1987206"/>
          <a:ext cx="15613380" cy="3815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04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4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4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090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2500" b="1" spc="-20" dirty="0">
                          <a:latin typeface="Times New Roman"/>
                          <a:cs typeface="Times New Roman"/>
                        </a:rPr>
                        <a:t>Rank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21590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2500" b="1" spc="-10" dirty="0">
                          <a:latin typeface="Times New Roman"/>
                          <a:cs typeface="Times New Roman"/>
                        </a:rPr>
                        <a:t>Sensor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21590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2500" b="1" dirty="0">
                          <a:latin typeface="Times New Roman"/>
                          <a:cs typeface="Times New Roman"/>
                        </a:rPr>
                        <a:t>Mean</a:t>
                      </a:r>
                      <a:r>
                        <a:rPr sz="25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latin typeface="Times New Roman"/>
                          <a:cs typeface="Times New Roman"/>
                        </a:rPr>
                        <a:t>|SHAP|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215900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835"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5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500" spc="-10" dirty="0">
                          <a:latin typeface="Times New Roman"/>
                          <a:cs typeface="Times New Roman"/>
                        </a:rPr>
                        <a:t>sensor_59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500" spc="-10" dirty="0">
                          <a:latin typeface="Times New Roman"/>
                          <a:cs typeface="Times New Roman"/>
                        </a:rPr>
                        <a:t>0.143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835"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5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500" spc="-10" dirty="0">
                          <a:latin typeface="Times New Roman"/>
                          <a:cs typeface="Times New Roman"/>
                        </a:rPr>
                        <a:t>sensor_290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500" spc="-10" dirty="0">
                          <a:latin typeface="Times New Roman"/>
                          <a:cs typeface="Times New Roman"/>
                        </a:rPr>
                        <a:t>0.051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835"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5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500" spc="-10" dirty="0">
                          <a:latin typeface="Times New Roman"/>
                          <a:cs typeface="Times New Roman"/>
                        </a:rPr>
                        <a:t>sensor_287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500" spc="-10" dirty="0">
                          <a:latin typeface="Times New Roman"/>
                          <a:cs typeface="Times New Roman"/>
                        </a:rPr>
                        <a:t>0.051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835"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5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500" spc="-10" dirty="0">
                          <a:latin typeface="Times New Roman"/>
                          <a:cs typeface="Times New Roman"/>
                        </a:rPr>
                        <a:t>sensor_103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500" spc="-20" dirty="0">
                          <a:latin typeface="Times New Roman"/>
                          <a:cs typeface="Times New Roman"/>
                        </a:rPr>
                        <a:t>0.04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835"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5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500" spc="-10" dirty="0">
                          <a:latin typeface="Times New Roman"/>
                          <a:cs typeface="Times New Roman"/>
                        </a:rPr>
                        <a:t>sensor_95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500" spc="-10" dirty="0">
                          <a:latin typeface="Times New Roman"/>
                          <a:cs typeface="Times New Roman"/>
                        </a:rPr>
                        <a:t>0.039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40404"/>
                      </a:solidFill>
                      <a:prstDash val="solid"/>
                    </a:lnL>
                    <a:lnR w="9525">
                      <a:solidFill>
                        <a:srgbClr val="040404"/>
                      </a:solidFill>
                      <a:prstDash val="solid"/>
                    </a:lnR>
                    <a:lnT w="9525">
                      <a:solidFill>
                        <a:srgbClr val="040404"/>
                      </a:solidFill>
                      <a:prstDash val="solid"/>
                    </a:lnT>
                    <a:lnB w="9525">
                      <a:solidFill>
                        <a:srgbClr val="04040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9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Explainability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89437" y="1322633"/>
            <a:ext cx="814387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dirty="0">
                <a:latin typeface="Times New Roman"/>
                <a:cs typeface="Times New Roman"/>
              </a:rPr>
              <a:t>Purpose:</a:t>
            </a:r>
            <a:r>
              <a:rPr sz="3400" b="1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Show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that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model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is</a:t>
            </a:r>
            <a:r>
              <a:rPr sz="3400" spc="-5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interpretable.</a:t>
            </a:r>
            <a:endParaRPr sz="34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7389" y="6922818"/>
            <a:ext cx="123825" cy="1238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85589" y="5977297"/>
            <a:ext cx="9212580" cy="122555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3400" b="1" dirty="0">
                <a:latin typeface="Times New Roman"/>
                <a:cs typeface="Times New Roman"/>
              </a:rPr>
              <a:t>Key</a:t>
            </a:r>
            <a:r>
              <a:rPr sz="3400" b="1" spc="-55" dirty="0">
                <a:latin typeface="Times New Roman"/>
                <a:cs typeface="Times New Roman"/>
              </a:rPr>
              <a:t> </a:t>
            </a:r>
            <a:r>
              <a:rPr sz="3400" b="1" spc="-10" dirty="0">
                <a:latin typeface="Times New Roman"/>
                <a:cs typeface="Times New Roman"/>
              </a:rPr>
              <a:t>Finding</a:t>
            </a:r>
            <a:endParaRPr sz="3400">
              <a:latin typeface="Times New Roman"/>
              <a:cs typeface="Times New Roman"/>
            </a:endParaRPr>
          </a:p>
          <a:p>
            <a:pPr marL="746125">
              <a:lnSpc>
                <a:spcPct val="100000"/>
              </a:lnSpc>
              <a:spcBef>
                <a:spcPts val="645"/>
              </a:spcBef>
            </a:pPr>
            <a:r>
              <a:rPr sz="3400" dirty="0">
                <a:latin typeface="Times New Roman"/>
                <a:cs typeface="Times New Roman"/>
              </a:rPr>
              <a:t>sensor_59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risk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range: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0.9%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→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19.0%</a:t>
            </a:r>
            <a:r>
              <a:rPr sz="3400" spc="-6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failure</a:t>
            </a:r>
            <a:r>
              <a:rPr sz="3400" spc="-55" dirty="0">
                <a:latin typeface="Times New Roman"/>
                <a:cs typeface="Times New Roman"/>
              </a:rPr>
              <a:t> </a:t>
            </a:r>
            <a:r>
              <a:rPr sz="3400" spc="-20" dirty="0">
                <a:latin typeface="Times New Roman"/>
                <a:cs typeface="Times New Roman"/>
              </a:rPr>
              <a:t>rate</a:t>
            </a:r>
            <a:endParaRPr sz="3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41328" y="6480390"/>
            <a:ext cx="4200525" cy="16859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03852" y="0"/>
            <a:ext cx="1694814" cy="1466215"/>
          </a:xfrm>
          <a:custGeom>
            <a:avLst/>
            <a:gdLst/>
            <a:ahLst/>
            <a:cxnLst/>
            <a:rect l="l" t="t" r="r" b="b"/>
            <a:pathLst>
              <a:path w="1694814" h="1466215">
                <a:moveTo>
                  <a:pt x="1694328" y="1465888"/>
                </a:moveTo>
                <a:lnTo>
                  <a:pt x="0" y="1465888"/>
                </a:lnTo>
                <a:lnTo>
                  <a:pt x="1286" y="1420464"/>
                </a:lnTo>
                <a:lnTo>
                  <a:pt x="5385" y="1372344"/>
                </a:lnTo>
                <a:lnTo>
                  <a:pt x="12125" y="1325026"/>
                </a:lnTo>
                <a:lnTo>
                  <a:pt x="21405" y="1278715"/>
                </a:lnTo>
                <a:lnTo>
                  <a:pt x="33188" y="1233252"/>
                </a:lnTo>
                <a:lnTo>
                  <a:pt x="47386" y="1188813"/>
                </a:lnTo>
                <a:lnTo>
                  <a:pt x="63923" y="1145473"/>
                </a:lnTo>
                <a:lnTo>
                  <a:pt x="82724" y="1103307"/>
                </a:lnTo>
                <a:lnTo>
                  <a:pt x="103716" y="1062388"/>
                </a:lnTo>
                <a:lnTo>
                  <a:pt x="103833" y="1062161"/>
                </a:lnTo>
                <a:lnTo>
                  <a:pt x="126963" y="1022554"/>
                </a:lnTo>
                <a:lnTo>
                  <a:pt x="152135" y="984349"/>
                </a:lnTo>
                <a:lnTo>
                  <a:pt x="179274" y="947620"/>
                </a:lnTo>
                <a:lnTo>
                  <a:pt x="208304" y="912441"/>
                </a:lnTo>
                <a:lnTo>
                  <a:pt x="239151" y="878887"/>
                </a:lnTo>
                <a:lnTo>
                  <a:pt x="271741" y="847033"/>
                </a:lnTo>
                <a:lnTo>
                  <a:pt x="305998" y="816955"/>
                </a:lnTo>
                <a:lnTo>
                  <a:pt x="341847" y="788726"/>
                </a:lnTo>
                <a:lnTo>
                  <a:pt x="379213" y="762422"/>
                </a:lnTo>
                <a:lnTo>
                  <a:pt x="418021" y="738117"/>
                </a:lnTo>
                <a:lnTo>
                  <a:pt x="458197" y="715887"/>
                </a:lnTo>
                <a:lnTo>
                  <a:pt x="499666" y="695806"/>
                </a:lnTo>
                <a:lnTo>
                  <a:pt x="542352" y="677948"/>
                </a:lnTo>
                <a:lnTo>
                  <a:pt x="586180" y="662389"/>
                </a:lnTo>
                <a:lnTo>
                  <a:pt x="631077" y="649204"/>
                </a:lnTo>
                <a:lnTo>
                  <a:pt x="676966" y="638467"/>
                </a:lnTo>
                <a:lnTo>
                  <a:pt x="723774" y="630253"/>
                </a:lnTo>
                <a:lnTo>
                  <a:pt x="771424" y="624637"/>
                </a:lnTo>
                <a:lnTo>
                  <a:pt x="723774" y="619021"/>
                </a:lnTo>
                <a:lnTo>
                  <a:pt x="676966" y="610808"/>
                </a:lnTo>
                <a:lnTo>
                  <a:pt x="631077" y="600071"/>
                </a:lnTo>
                <a:lnTo>
                  <a:pt x="586180" y="586885"/>
                </a:lnTo>
                <a:lnTo>
                  <a:pt x="542352" y="571327"/>
                </a:lnTo>
                <a:lnTo>
                  <a:pt x="499666" y="553469"/>
                </a:lnTo>
                <a:lnTo>
                  <a:pt x="458197" y="533388"/>
                </a:lnTo>
                <a:lnTo>
                  <a:pt x="418021" y="511157"/>
                </a:lnTo>
                <a:lnTo>
                  <a:pt x="379213" y="486853"/>
                </a:lnTo>
                <a:lnTo>
                  <a:pt x="341847" y="460548"/>
                </a:lnTo>
                <a:lnTo>
                  <a:pt x="305998" y="432320"/>
                </a:lnTo>
                <a:lnTo>
                  <a:pt x="271741" y="402241"/>
                </a:lnTo>
                <a:lnTo>
                  <a:pt x="239151" y="370388"/>
                </a:lnTo>
                <a:lnTo>
                  <a:pt x="208304" y="336834"/>
                </a:lnTo>
                <a:lnTo>
                  <a:pt x="179274" y="301655"/>
                </a:lnTo>
                <a:lnTo>
                  <a:pt x="152135" y="264925"/>
                </a:lnTo>
                <a:lnTo>
                  <a:pt x="126963" y="226720"/>
                </a:lnTo>
                <a:lnTo>
                  <a:pt x="103833" y="187114"/>
                </a:lnTo>
                <a:lnTo>
                  <a:pt x="82820" y="146182"/>
                </a:lnTo>
                <a:lnTo>
                  <a:pt x="63998" y="103998"/>
                </a:lnTo>
                <a:lnTo>
                  <a:pt x="47442" y="60638"/>
                </a:lnTo>
                <a:lnTo>
                  <a:pt x="33229" y="16177"/>
                </a:lnTo>
                <a:lnTo>
                  <a:pt x="29033" y="0"/>
                </a:lnTo>
                <a:lnTo>
                  <a:pt x="1667299" y="0"/>
                </a:lnTo>
                <a:lnTo>
                  <a:pt x="1648889" y="60638"/>
                </a:lnTo>
                <a:lnTo>
                  <a:pt x="1632334" y="103998"/>
                </a:lnTo>
                <a:lnTo>
                  <a:pt x="1613512" y="146182"/>
                </a:lnTo>
                <a:lnTo>
                  <a:pt x="1592498" y="187114"/>
                </a:lnTo>
                <a:lnTo>
                  <a:pt x="1569368" y="226720"/>
                </a:lnTo>
                <a:lnTo>
                  <a:pt x="1544197" y="264925"/>
                </a:lnTo>
                <a:lnTo>
                  <a:pt x="1517058" y="301655"/>
                </a:lnTo>
                <a:lnTo>
                  <a:pt x="1488027" y="336834"/>
                </a:lnTo>
                <a:lnTo>
                  <a:pt x="1457180" y="370388"/>
                </a:lnTo>
                <a:lnTo>
                  <a:pt x="1424590" y="402241"/>
                </a:lnTo>
                <a:lnTo>
                  <a:pt x="1390334" y="432320"/>
                </a:lnTo>
                <a:lnTo>
                  <a:pt x="1354485" y="460548"/>
                </a:lnTo>
                <a:lnTo>
                  <a:pt x="1317119" y="486853"/>
                </a:lnTo>
                <a:lnTo>
                  <a:pt x="1278310" y="511157"/>
                </a:lnTo>
                <a:lnTo>
                  <a:pt x="1238134" y="533388"/>
                </a:lnTo>
                <a:lnTo>
                  <a:pt x="1196666" y="553469"/>
                </a:lnTo>
                <a:lnTo>
                  <a:pt x="1153980" y="571327"/>
                </a:lnTo>
                <a:lnTo>
                  <a:pt x="1110151" y="586885"/>
                </a:lnTo>
                <a:lnTo>
                  <a:pt x="1065255" y="600071"/>
                </a:lnTo>
                <a:lnTo>
                  <a:pt x="1019365" y="610808"/>
                </a:lnTo>
                <a:lnTo>
                  <a:pt x="972558" y="619021"/>
                </a:lnTo>
                <a:lnTo>
                  <a:pt x="924908" y="624637"/>
                </a:lnTo>
                <a:lnTo>
                  <a:pt x="972250" y="630253"/>
                </a:lnTo>
                <a:lnTo>
                  <a:pt x="1018966" y="638467"/>
                </a:lnTo>
                <a:lnTo>
                  <a:pt x="1064823" y="649204"/>
                </a:lnTo>
                <a:lnTo>
                  <a:pt x="1110151" y="662519"/>
                </a:lnTo>
                <a:lnTo>
                  <a:pt x="1153980" y="678103"/>
                </a:lnTo>
                <a:lnTo>
                  <a:pt x="1196666" y="695983"/>
                </a:lnTo>
                <a:lnTo>
                  <a:pt x="1238134" y="716084"/>
                </a:lnTo>
                <a:lnTo>
                  <a:pt x="1278310" y="738331"/>
                </a:lnTo>
                <a:lnTo>
                  <a:pt x="1317119" y="762650"/>
                </a:lnTo>
                <a:lnTo>
                  <a:pt x="1354485" y="788965"/>
                </a:lnTo>
                <a:lnTo>
                  <a:pt x="1390334" y="817202"/>
                </a:lnTo>
                <a:lnTo>
                  <a:pt x="1424591" y="847287"/>
                </a:lnTo>
                <a:lnTo>
                  <a:pt x="1457180" y="879143"/>
                </a:lnTo>
                <a:lnTo>
                  <a:pt x="1488028" y="912697"/>
                </a:lnTo>
                <a:lnTo>
                  <a:pt x="1517058" y="947873"/>
                </a:lnTo>
                <a:lnTo>
                  <a:pt x="1544197" y="984597"/>
                </a:lnTo>
                <a:lnTo>
                  <a:pt x="1569368" y="1022794"/>
                </a:lnTo>
                <a:lnTo>
                  <a:pt x="1592498" y="1062388"/>
                </a:lnTo>
                <a:lnTo>
                  <a:pt x="1613402" y="1103093"/>
                </a:lnTo>
                <a:lnTo>
                  <a:pt x="1613512" y="1103307"/>
                </a:lnTo>
                <a:lnTo>
                  <a:pt x="1632246" y="1145276"/>
                </a:lnTo>
                <a:lnTo>
                  <a:pt x="1648821" y="1188636"/>
                </a:lnTo>
                <a:lnTo>
                  <a:pt x="1663053" y="1233098"/>
                </a:lnTo>
                <a:lnTo>
                  <a:pt x="1674867" y="1278586"/>
                </a:lnTo>
                <a:lnTo>
                  <a:pt x="1684186" y="1325026"/>
                </a:lnTo>
                <a:lnTo>
                  <a:pt x="1690937" y="1372344"/>
                </a:lnTo>
                <a:lnTo>
                  <a:pt x="1694328" y="1412079"/>
                </a:lnTo>
                <a:lnTo>
                  <a:pt x="1694328" y="1465888"/>
                </a:lnTo>
                <a:close/>
              </a:path>
            </a:pathLst>
          </a:custGeom>
          <a:solidFill>
            <a:srgbClr val="DEE77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444" y="1595817"/>
            <a:ext cx="8010524" cy="60102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69641" y="3910646"/>
            <a:ext cx="9115424" cy="5695949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9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Explainability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05692" y="7707193"/>
            <a:ext cx="7884795" cy="806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6775" marR="5080" indent="-3394710">
              <a:lnSpc>
                <a:spcPct val="116500"/>
              </a:lnSpc>
              <a:spcBef>
                <a:spcPts val="100"/>
              </a:spcBef>
            </a:pPr>
            <a:r>
              <a:rPr sz="2200" i="1" dirty="0">
                <a:latin typeface="Times New Roman"/>
                <a:cs typeface="Times New Roman"/>
              </a:rPr>
              <a:t>Mean</a:t>
            </a:r>
            <a:r>
              <a:rPr sz="2200" i="1" spc="-5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absolute</a:t>
            </a:r>
            <a:r>
              <a:rPr sz="2200" i="1" spc="-5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SHAP</a:t>
            </a:r>
            <a:r>
              <a:rPr sz="2200" i="1" spc="-8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value</a:t>
            </a:r>
            <a:r>
              <a:rPr sz="2200" i="1" spc="-5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per</a:t>
            </a:r>
            <a:r>
              <a:rPr sz="2200" i="1" spc="-50" dirty="0">
                <a:latin typeface="Times New Roman"/>
                <a:cs typeface="Times New Roman"/>
              </a:rPr>
              <a:t> </a:t>
            </a:r>
            <a:r>
              <a:rPr sz="2200" i="1" spc="-25" dirty="0">
                <a:latin typeface="Times New Roman"/>
                <a:cs typeface="Times New Roman"/>
              </a:rPr>
              <a:t>sensor,</a:t>
            </a:r>
            <a:r>
              <a:rPr sz="2200" i="1" spc="-5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reduced</a:t>
            </a:r>
            <a:r>
              <a:rPr sz="2200" i="1" spc="-5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model,</a:t>
            </a:r>
            <a:r>
              <a:rPr sz="2200" i="1" spc="-5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ranked</a:t>
            </a:r>
            <a:r>
              <a:rPr sz="2200" i="1" spc="-45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highest </a:t>
            </a:r>
            <a:r>
              <a:rPr sz="2200" i="1" dirty="0">
                <a:latin typeface="Times New Roman"/>
                <a:cs typeface="Times New Roman"/>
              </a:rPr>
              <a:t>to</a:t>
            </a:r>
            <a:r>
              <a:rPr sz="2200" i="1" spc="-15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lowest.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7498" y="2790478"/>
            <a:ext cx="8673465" cy="806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6765" marR="5080" indent="-3314700">
              <a:lnSpc>
                <a:spcPct val="116500"/>
              </a:lnSpc>
              <a:spcBef>
                <a:spcPts val="100"/>
              </a:spcBef>
            </a:pPr>
            <a:r>
              <a:rPr sz="2200" i="1" dirty="0">
                <a:latin typeface="Times New Roman"/>
                <a:cs typeface="Times New Roman"/>
              </a:rPr>
              <a:t>Observed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failure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rate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by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value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range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for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sensor_59,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the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top-</a:t>
            </a:r>
            <a:r>
              <a:rPr sz="2200" i="1" dirty="0">
                <a:latin typeface="Times New Roman"/>
                <a:cs typeface="Times New Roman"/>
              </a:rPr>
              <a:t>ranked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sensor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spc="-25" dirty="0">
                <a:latin typeface="Times New Roman"/>
                <a:cs typeface="Times New Roman"/>
              </a:rPr>
              <a:t>by </a:t>
            </a:r>
            <a:r>
              <a:rPr sz="2200" i="1" dirty="0">
                <a:latin typeface="Times New Roman"/>
                <a:cs typeface="Times New Roman"/>
              </a:rPr>
              <a:t>SHAP</a:t>
            </a:r>
            <a:r>
              <a:rPr sz="2200" i="1" spc="-85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importance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347324"/>
            <a:ext cx="2136775" cy="2343150"/>
          </a:xfrm>
          <a:custGeom>
            <a:avLst/>
            <a:gdLst/>
            <a:ahLst/>
            <a:cxnLst/>
            <a:rect l="l" t="t" r="r" b="b"/>
            <a:pathLst>
              <a:path w="2136775" h="2343150">
                <a:moveTo>
                  <a:pt x="2045368" y="814258"/>
                </a:moveTo>
                <a:lnTo>
                  <a:pt x="805761" y="814258"/>
                </a:lnTo>
                <a:lnTo>
                  <a:pt x="787670" y="4539"/>
                </a:lnTo>
                <a:lnTo>
                  <a:pt x="1230975" y="0"/>
                </a:lnTo>
                <a:lnTo>
                  <a:pt x="1221930" y="800690"/>
                </a:lnTo>
                <a:lnTo>
                  <a:pt x="2069075" y="800690"/>
                </a:lnTo>
                <a:lnTo>
                  <a:pt x="2045368" y="814258"/>
                </a:lnTo>
                <a:close/>
              </a:path>
              <a:path w="2136775" h="2343150">
                <a:moveTo>
                  <a:pt x="91037" y="1963241"/>
                </a:moveTo>
                <a:lnTo>
                  <a:pt x="0" y="1790647"/>
                </a:lnTo>
                <a:lnTo>
                  <a:pt x="0" y="1486645"/>
                </a:lnTo>
                <a:lnTo>
                  <a:pt x="620293" y="1167097"/>
                </a:lnTo>
                <a:lnTo>
                  <a:pt x="0" y="823319"/>
                </a:lnTo>
                <a:lnTo>
                  <a:pt x="0" y="544953"/>
                </a:lnTo>
                <a:lnTo>
                  <a:pt x="104605" y="379998"/>
                </a:lnTo>
                <a:lnTo>
                  <a:pt x="805761" y="814258"/>
                </a:lnTo>
                <a:lnTo>
                  <a:pt x="2045368" y="814258"/>
                </a:lnTo>
                <a:lnTo>
                  <a:pt x="1420966" y="1171620"/>
                </a:lnTo>
                <a:lnTo>
                  <a:pt x="2016210" y="1497316"/>
                </a:lnTo>
                <a:lnTo>
                  <a:pt x="814806" y="1497316"/>
                </a:lnTo>
                <a:lnTo>
                  <a:pt x="91037" y="1963241"/>
                </a:lnTo>
                <a:close/>
              </a:path>
              <a:path w="2136775" h="2343150">
                <a:moveTo>
                  <a:pt x="2069075" y="800690"/>
                </a:moveTo>
                <a:lnTo>
                  <a:pt x="1221930" y="800690"/>
                </a:lnTo>
                <a:lnTo>
                  <a:pt x="1904994" y="420715"/>
                </a:lnTo>
                <a:lnTo>
                  <a:pt x="2136268" y="754276"/>
                </a:lnTo>
                <a:lnTo>
                  <a:pt x="2136268" y="762234"/>
                </a:lnTo>
                <a:lnTo>
                  <a:pt x="2069075" y="800690"/>
                </a:lnTo>
                <a:close/>
              </a:path>
              <a:path w="2136775" h="2343150">
                <a:moveTo>
                  <a:pt x="1212903" y="2343149"/>
                </a:moveTo>
                <a:lnTo>
                  <a:pt x="792309" y="2343149"/>
                </a:lnTo>
                <a:lnTo>
                  <a:pt x="814686" y="1501839"/>
                </a:lnTo>
                <a:lnTo>
                  <a:pt x="814806" y="1497316"/>
                </a:lnTo>
                <a:lnTo>
                  <a:pt x="2016210" y="1497316"/>
                </a:lnTo>
                <a:lnTo>
                  <a:pt x="2024475" y="1501839"/>
                </a:lnTo>
                <a:lnTo>
                  <a:pt x="1217407" y="1501839"/>
                </a:lnTo>
                <a:lnTo>
                  <a:pt x="1212903" y="2343149"/>
                </a:lnTo>
                <a:close/>
              </a:path>
              <a:path w="2136775" h="2343150">
                <a:moveTo>
                  <a:pt x="1909504" y="1954196"/>
                </a:moveTo>
                <a:lnTo>
                  <a:pt x="1217407" y="1501839"/>
                </a:lnTo>
                <a:lnTo>
                  <a:pt x="2024475" y="1501839"/>
                </a:lnTo>
                <a:lnTo>
                  <a:pt x="2136268" y="1563008"/>
                </a:lnTo>
                <a:lnTo>
                  <a:pt x="2136268" y="1571829"/>
                </a:lnTo>
                <a:lnTo>
                  <a:pt x="1909504" y="1954196"/>
                </a:lnTo>
                <a:close/>
              </a:path>
            </a:pathLst>
          </a:custGeom>
          <a:solidFill>
            <a:srgbClr val="DEE77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92926" y="1023241"/>
            <a:ext cx="3533647" cy="341947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78435" y="362035"/>
            <a:ext cx="4220845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90" dirty="0"/>
              <a:t> </a:t>
            </a:r>
            <a:r>
              <a:rPr spc="-10" dirty="0"/>
              <a:t>Findings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243" y="1662991"/>
            <a:ext cx="115532" cy="11553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243" y="2219650"/>
            <a:ext cx="115532" cy="11553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243" y="2776308"/>
            <a:ext cx="115532" cy="11553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243" y="3332966"/>
            <a:ext cx="115532" cy="11553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9243" y="4446284"/>
            <a:ext cx="115532" cy="11553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9243" y="5559600"/>
            <a:ext cx="115532" cy="115532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6420892" y="7149663"/>
            <a:ext cx="10838815" cy="2108835"/>
          </a:xfrm>
          <a:custGeom>
            <a:avLst/>
            <a:gdLst/>
            <a:ahLst/>
            <a:cxnLst/>
            <a:rect l="l" t="t" r="r" b="b"/>
            <a:pathLst>
              <a:path w="10838815" h="2108834">
                <a:moveTo>
                  <a:pt x="10790783" y="2108636"/>
                </a:moveTo>
                <a:lnTo>
                  <a:pt x="47624" y="2108636"/>
                </a:lnTo>
                <a:lnTo>
                  <a:pt x="38290" y="2107713"/>
                </a:lnTo>
                <a:lnTo>
                  <a:pt x="3625" y="2079236"/>
                </a:lnTo>
                <a:lnTo>
                  <a:pt x="0" y="2061011"/>
                </a:lnTo>
                <a:lnTo>
                  <a:pt x="0" y="47624"/>
                </a:lnTo>
                <a:lnTo>
                  <a:pt x="21202" y="8001"/>
                </a:lnTo>
                <a:lnTo>
                  <a:pt x="47624" y="0"/>
                </a:lnTo>
                <a:lnTo>
                  <a:pt x="10790783" y="0"/>
                </a:lnTo>
                <a:lnTo>
                  <a:pt x="10830405" y="21202"/>
                </a:lnTo>
                <a:lnTo>
                  <a:pt x="10838407" y="47624"/>
                </a:lnTo>
                <a:lnTo>
                  <a:pt x="10838407" y="2061011"/>
                </a:lnTo>
                <a:lnTo>
                  <a:pt x="10817205" y="2100635"/>
                </a:lnTo>
                <a:lnTo>
                  <a:pt x="10790783" y="2108636"/>
                </a:lnTo>
                <a:close/>
              </a:path>
            </a:pathLst>
          </a:custGeom>
          <a:solidFill>
            <a:srgbClr val="DEE7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63755" y="1352805"/>
            <a:ext cx="15431135" cy="75545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914400">
              <a:lnSpc>
                <a:spcPct val="115999"/>
              </a:lnSpc>
              <a:spcBef>
                <a:spcPts val="90"/>
              </a:spcBef>
            </a:pPr>
            <a:r>
              <a:rPr sz="3150" dirty="0">
                <a:latin typeface="Times New Roman"/>
                <a:cs typeface="Times New Roman"/>
              </a:rPr>
              <a:t>17</a:t>
            </a:r>
            <a:r>
              <a:rPr sz="3150" spc="-2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sensors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outperformed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all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590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sensors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across</a:t>
            </a:r>
            <a:r>
              <a:rPr sz="3150" spc="-19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AUC,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Precision@30,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and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spc="-10" dirty="0">
                <a:latin typeface="Times New Roman"/>
                <a:cs typeface="Times New Roman"/>
              </a:rPr>
              <a:t>Recall@30. </a:t>
            </a:r>
            <a:r>
              <a:rPr sz="3150" dirty="0">
                <a:latin typeface="Times New Roman"/>
                <a:cs typeface="Times New Roman"/>
              </a:rPr>
              <a:t>Process</a:t>
            </a:r>
            <a:r>
              <a:rPr sz="3150" spc="-1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drift</a:t>
            </a:r>
            <a:r>
              <a:rPr sz="3150" spc="-1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exists,</a:t>
            </a:r>
            <a:r>
              <a:rPr sz="3150" spc="-1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with</a:t>
            </a:r>
            <a:r>
              <a:rPr sz="3150" spc="-1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failure</a:t>
            </a:r>
            <a:r>
              <a:rPr sz="3150" spc="-1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rates</a:t>
            </a:r>
            <a:r>
              <a:rPr sz="3150" spc="-1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changing</a:t>
            </a:r>
            <a:r>
              <a:rPr sz="3150" spc="-1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from</a:t>
            </a:r>
            <a:r>
              <a:rPr sz="3150" spc="-1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14.0%</a:t>
            </a:r>
            <a:r>
              <a:rPr sz="3150" spc="-1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→</a:t>
            </a:r>
            <a:r>
              <a:rPr sz="3150" spc="-1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3.5%</a:t>
            </a:r>
            <a:r>
              <a:rPr sz="3150" spc="-1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→</a:t>
            </a:r>
            <a:r>
              <a:rPr sz="3150" spc="-1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5.4%</a:t>
            </a:r>
            <a:r>
              <a:rPr sz="3150" spc="-1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across</a:t>
            </a:r>
            <a:r>
              <a:rPr sz="3150" spc="-10" dirty="0">
                <a:latin typeface="Times New Roman"/>
                <a:cs typeface="Times New Roman"/>
              </a:rPr>
              <a:t> </a:t>
            </a:r>
            <a:r>
              <a:rPr sz="3150" spc="-20" dirty="0">
                <a:latin typeface="Times New Roman"/>
                <a:cs typeface="Times New Roman"/>
              </a:rPr>
              <a:t>time. </a:t>
            </a:r>
            <a:r>
              <a:rPr sz="3150" dirty="0">
                <a:latin typeface="Times New Roman"/>
                <a:cs typeface="Times New Roman"/>
              </a:rPr>
              <a:t>No</a:t>
            </a:r>
            <a:r>
              <a:rPr sz="3150" spc="-2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sensor</a:t>
            </a:r>
            <a:r>
              <a:rPr sz="3150" spc="-2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remained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consistently</a:t>
            </a:r>
            <a:r>
              <a:rPr sz="3150" spc="-2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predictive</a:t>
            </a:r>
            <a:r>
              <a:rPr sz="3150" spc="-2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(maximum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stability</a:t>
            </a:r>
            <a:r>
              <a:rPr sz="3150" spc="-2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score</a:t>
            </a:r>
            <a:r>
              <a:rPr sz="3150" spc="-2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=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spc="-10" dirty="0">
                <a:latin typeface="Times New Roman"/>
                <a:cs typeface="Times New Roman"/>
              </a:rPr>
              <a:t>0.4).</a:t>
            </a:r>
            <a:endParaRPr sz="3150">
              <a:latin typeface="Times New Roman"/>
              <a:cs typeface="Times New Roman"/>
            </a:endParaRPr>
          </a:p>
          <a:p>
            <a:pPr marL="12700" marR="1785620">
              <a:lnSpc>
                <a:spcPts val="4380"/>
              </a:lnSpc>
              <a:spcBef>
                <a:spcPts val="250"/>
              </a:spcBef>
            </a:pPr>
            <a:r>
              <a:rPr sz="3150" dirty="0">
                <a:latin typeface="Times New Roman"/>
                <a:cs typeface="Times New Roman"/>
              </a:rPr>
              <a:t>Random</a:t>
            </a:r>
            <a:r>
              <a:rPr sz="3150" spc="-3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Forest</a:t>
            </a:r>
            <a:r>
              <a:rPr sz="3150" spc="-2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achieved</a:t>
            </a:r>
            <a:r>
              <a:rPr sz="3150" spc="-2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the</a:t>
            </a:r>
            <a:r>
              <a:rPr sz="3150" spc="-3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biggest</a:t>
            </a:r>
            <a:r>
              <a:rPr sz="3150" spc="-2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improvement,</a:t>
            </a:r>
            <a:r>
              <a:rPr sz="3150" spc="-2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doubling</a:t>
            </a:r>
            <a:r>
              <a:rPr sz="3150" spc="-3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both</a:t>
            </a:r>
            <a:r>
              <a:rPr sz="3150" spc="-2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Precision@30</a:t>
            </a:r>
            <a:r>
              <a:rPr sz="3150" spc="-25" dirty="0">
                <a:latin typeface="Times New Roman"/>
                <a:cs typeface="Times New Roman"/>
              </a:rPr>
              <a:t> and </a:t>
            </a:r>
            <a:r>
              <a:rPr sz="3150" spc="-10" dirty="0">
                <a:latin typeface="Times New Roman"/>
                <a:cs typeface="Times New Roman"/>
              </a:rPr>
              <a:t>Recall@30.</a:t>
            </a:r>
            <a:endParaRPr sz="3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3150" dirty="0">
                <a:latin typeface="Times New Roman"/>
                <a:cs typeface="Times New Roman"/>
              </a:rPr>
              <a:t>Drift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injection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validated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that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the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stability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score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responds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to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changes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in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sensor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behavior</a:t>
            </a:r>
            <a:r>
              <a:rPr sz="3150" spc="-15" dirty="0">
                <a:latin typeface="Times New Roman"/>
                <a:cs typeface="Times New Roman"/>
              </a:rPr>
              <a:t> </a:t>
            </a:r>
            <a:r>
              <a:rPr sz="3150" spc="-20" dirty="0">
                <a:latin typeface="Times New Roman"/>
                <a:cs typeface="Times New Roman"/>
              </a:rPr>
              <a:t>(0.4</a:t>
            </a:r>
            <a:endParaRPr sz="3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3150" dirty="0">
                <a:latin typeface="Times New Roman"/>
                <a:cs typeface="Times New Roman"/>
              </a:rPr>
              <a:t>→</a:t>
            </a:r>
            <a:r>
              <a:rPr sz="3150" spc="5" dirty="0">
                <a:latin typeface="Times New Roman"/>
                <a:cs typeface="Times New Roman"/>
              </a:rPr>
              <a:t> </a:t>
            </a:r>
            <a:r>
              <a:rPr sz="3150" spc="-20" dirty="0">
                <a:latin typeface="Times New Roman"/>
                <a:cs typeface="Times New Roman"/>
              </a:rPr>
              <a:t>0.2).</a:t>
            </a:r>
            <a:endParaRPr sz="3150">
              <a:latin typeface="Times New Roman"/>
              <a:cs typeface="Times New Roman"/>
            </a:endParaRPr>
          </a:p>
          <a:p>
            <a:pPr marL="12700" marR="1243330">
              <a:lnSpc>
                <a:spcPts val="4380"/>
              </a:lnSpc>
              <a:spcBef>
                <a:spcPts val="250"/>
              </a:spcBef>
            </a:pPr>
            <a:r>
              <a:rPr sz="3150" spc="-20" dirty="0">
                <a:latin typeface="Times New Roman"/>
                <a:cs typeface="Times New Roman"/>
              </a:rPr>
              <a:t>Tripwire</a:t>
            </a:r>
            <a:r>
              <a:rPr sz="3150" spc="-18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Audit</a:t>
            </a:r>
            <a:r>
              <a:rPr sz="3150" spc="-3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preserved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critical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sensors,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retaining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sensor_95,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which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later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ranked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5th</a:t>
            </a:r>
            <a:r>
              <a:rPr sz="3150" spc="-20" dirty="0">
                <a:latin typeface="Times New Roman"/>
                <a:cs typeface="Times New Roman"/>
              </a:rPr>
              <a:t> </a:t>
            </a:r>
            <a:r>
              <a:rPr sz="3150" spc="-25" dirty="0">
                <a:latin typeface="Times New Roman"/>
                <a:cs typeface="Times New Roman"/>
              </a:rPr>
              <a:t>in </a:t>
            </a:r>
            <a:r>
              <a:rPr sz="3150" dirty="0">
                <a:latin typeface="Times New Roman"/>
                <a:cs typeface="Times New Roman"/>
              </a:rPr>
              <a:t>SHAP</a:t>
            </a:r>
            <a:r>
              <a:rPr sz="3150" spc="-130" dirty="0">
                <a:latin typeface="Times New Roman"/>
                <a:cs typeface="Times New Roman"/>
              </a:rPr>
              <a:t> </a:t>
            </a:r>
            <a:r>
              <a:rPr sz="3150" spc="-10" dirty="0">
                <a:latin typeface="Times New Roman"/>
                <a:cs typeface="Times New Roman"/>
              </a:rPr>
              <a:t>importance.</a:t>
            </a:r>
            <a:endParaRPr sz="3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3150">
              <a:latin typeface="Times New Roman"/>
              <a:cs typeface="Times New Roman"/>
            </a:endParaRPr>
          </a:p>
          <a:p>
            <a:pPr marL="9577070">
              <a:lnSpc>
                <a:spcPct val="100000"/>
              </a:lnSpc>
              <a:spcBef>
                <a:spcPts val="5"/>
              </a:spcBef>
            </a:pPr>
            <a:r>
              <a:rPr sz="2950" b="1" i="1" dirty="0">
                <a:latin typeface="Times New Roman"/>
                <a:cs typeface="Times New Roman"/>
              </a:rPr>
              <a:t>Core</a:t>
            </a:r>
            <a:r>
              <a:rPr sz="2950" b="1" i="1" spc="35" dirty="0">
                <a:latin typeface="Times New Roman"/>
                <a:cs typeface="Times New Roman"/>
              </a:rPr>
              <a:t> </a:t>
            </a:r>
            <a:r>
              <a:rPr sz="2950" b="1" i="1" spc="-10" dirty="0">
                <a:latin typeface="Times New Roman"/>
                <a:cs typeface="Times New Roman"/>
              </a:rPr>
              <a:t>Takeaway</a:t>
            </a:r>
            <a:endParaRPr sz="2950">
              <a:latin typeface="Times New Roman"/>
              <a:cs typeface="Times New Roman"/>
            </a:endParaRPr>
          </a:p>
          <a:p>
            <a:pPr marL="5645150" marR="5080">
              <a:lnSpc>
                <a:spcPct val="117000"/>
              </a:lnSpc>
            </a:pPr>
            <a:r>
              <a:rPr sz="2950" b="1" i="1" dirty="0">
                <a:latin typeface="Times New Roman"/>
                <a:cs typeface="Times New Roman"/>
              </a:rPr>
              <a:t>A</a:t>
            </a:r>
            <a:r>
              <a:rPr sz="2950" b="1" i="1" spc="-125" dirty="0">
                <a:latin typeface="Times New Roman"/>
                <a:cs typeface="Times New Roman"/>
              </a:rPr>
              <a:t> </a:t>
            </a:r>
            <a:r>
              <a:rPr sz="2950" b="1" i="1" spc="-10" dirty="0">
                <a:latin typeface="Times New Roman"/>
                <a:cs typeface="Times New Roman"/>
              </a:rPr>
              <a:t>drift-</a:t>
            </a:r>
            <a:r>
              <a:rPr sz="2950" b="1" i="1" dirty="0">
                <a:latin typeface="Times New Roman"/>
                <a:cs typeface="Times New Roman"/>
              </a:rPr>
              <a:t>aware</a:t>
            </a:r>
            <a:r>
              <a:rPr sz="2950" b="1" i="1" spc="50" dirty="0">
                <a:latin typeface="Times New Roman"/>
                <a:cs typeface="Times New Roman"/>
              </a:rPr>
              <a:t> </a:t>
            </a:r>
            <a:r>
              <a:rPr sz="2950" b="1" i="1" dirty="0">
                <a:latin typeface="Times New Roman"/>
                <a:cs typeface="Times New Roman"/>
              </a:rPr>
              <a:t>17-sensor</a:t>
            </a:r>
            <a:r>
              <a:rPr sz="2950" b="1" i="1" spc="50" dirty="0">
                <a:latin typeface="Times New Roman"/>
                <a:cs typeface="Times New Roman"/>
              </a:rPr>
              <a:t> </a:t>
            </a:r>
            <a:r>
              <a:rPr sz="2950" b="1" i="1" dirty="0">
                <a:latin typeface="Times New Roman"/>
                <a:cs typeface="Times New Roman"/>
              </a:rPr>
              <a:t>shortlist</a:t>
            </a:r>
            <a:r>
              <a:rPr sz="2950" b="1" i="1" spc="45" dirty="0">
                <a:latin typeface="Times New Roman"/>
                <a:cs typeface="Times New Roman"/>
              </a:rPr>
              <a:t> </a:t>
            </a:r>
            <a:r>
              <a:rPr sz="2950" b="1" i="1" dirty="0">
                <a:latin typeface="Times New Roman"/>
                <a:cs typeface="Times New Roman"/>
              </a:rPr>
              <a:t>improved</a:t>
            </a:r>
            <a:r>
              <a:rPr sz="2950" b="1" i="1" spc="50" dirty="0">
                <a:latin typeface="Times New Roman"/>
                <a:cs typeface="Times New Roman"/>
              </a:rPr>
              <a:t> </a:t>
            </a:r>
            <a:r>
              <a:rPr sz="2950" b="1" i="1" dirty="0">
                <a:latin typeface="Times New Roman"/>
                <a:cs typeface="Times New Roman"/>
              </a:rPr>
              <a:t>prediction</a:t>
            </a:r>
            <a:r>
              <a:rPr sz="2950" b="1" i="1" spc="45" dirty="0">
                <a:latin typeface="Times New Roman"/>
                <a:cs typeface="Times New Roman"/>
              </a:rPr>
              <a:t> </a:t>
            </a:r>
            <a:r>
              <a:rPr sz="2950" b="1" i="1" spc="-10" dirty="0">
                <a:latin typeface="Times New Roman"/>
                <a:cs typeface="Times New Roman"/>
              </a:rPr>
              <a:t>accuracy </a:t>
            </a:r>
            <a:r>
              <a:rPr sz="2950" b="1" i="1" dirty="0">
                <a:latin typeface="Times New Roman"/>
                <a:cs typeface="Times New Roman"/>
              </a:rPr>
              <a:t>while</a:t>
            </a:r>
            <a:r>
              <a:rPr sz="2950" b="1" i="1" spc="15" dirty="0">
                <a:latin typeface="Times New Roman"/>
                <a:cs typeface="Times New Roman"/>
              </a:rPr>
              <a:t> </a:t>
            </a:r>
            <a:r>
              <a:rPr sz="2950" b="1" i="1" dirty="0">
                <a:latin typeface="Times New Roman"/>
                <a:cs typeface="Times New Roman"/>
              </a:rPr>
              <a:t>reducing</a:t>
            </a:r>
            <a:r>
              <a:rPr sz="2950" b="1" i="1" spc="25" dirty="0">
                <a:latin typeface="Times New Roman"/>
                <a:cs typeface="Times New Roman"/>
              </a:rPr>
              <a:t> </a:t>
            </a:r>
            <a:r>
              <a:rPr sz="2950" b="1" i="1" dirty="0">
                <a:latin typeface="Times New Roman"/>
                <a:cs typeface="Times New Roman"/>
              </a:rPr>
              <a:t>the</a:t>
            </a:r>
            <a:r>
              <a:rPr sz="2950" b="1" i="1" spc="20" dirty="0">
                <a:latin typeface="Times New Roman"/>
                <a:cs typeface="Times New Roman"/>
              </a:rPr>
              <a:t> </a:t>
            </a:r>
            <a:r>
              <a:rPr sz="2950" b="1" i="1" dirty="0">
                <a:latin typeface="Times New Roman"/>
                <a:cs typeface="Times New Roman"/>
              </a:rPr>
              <a:t>sensor</a:t>
            </a:r>
            <a:r>
              <a:rPr sz="2950" b="1" i="1" spc="25" dirty="0">
                <a:latin typeface="Times New Roman"/>
                <a:cs typeface="Times New Roman"/>
              </a:rPr>
              <a:t> </a:t>
            </a:r>
            <a:r>
              <a:rPr sz="2950" b="1" i="1" dirty="0">
                <a:latin typeface="Times New Roman"/>
                <a:cs typeface="Times New Roman"/>
              </a:rPr>
              <a:t>set</a:t>
            </a:r>
            <a:r>
              <a:rPr sz="2950" b="1" i="1" spc="25" dirty="0">
                <a:latin typeface="Times New Roman"/>
                <a:cs typeface="Times New Roman"/>
              </a:rPr>
              <a:t> </a:t>
            </a:r>
            <a:r>
              <a:rPr sz="2950" b="1" i="1" dirty="0">
                <a:latin typeface="Times New Roman"/>
                <a:cs typeface="Times New Roman"/>
              </a:rPr>
              <a:t>by</a:t>
            </a:r>
            <a:r>
              <a:rPr sz="2950" b="1" i="1" spc="25" dirty="0">
                <a:latin typeface="Times New Roman"/>
                <a:cs typeface="Times New Roman"/>
              </a:rPr>
              <a:t> </a:t>
            </a:r>
            <a:r>
              <a:rPr sz="2950" b="1" i="1" spc="-10" dirty="0">
                <a:latin typeface="Times New Roman"/>
                <a:cs typeface="Times New Roman"/>
              </a:rPr>
              <a:t>~97%.</a:t>
            </a:r>
            <a:endParaRPr sz="2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4292" y="1894069"/>
            <a:ext cx="490855" cy="490855"/>
            <a:chOff x="644292" y="1894069"/>
            <a:chExt cx="490855" cy="490855"/>
          </a:xfrm>
        </p:grpSpPr>
        <p:sp>
          <p:nvSpPr>
            <p:cNvPr id="3" name="object 3"/>
            <p:cNvSpPr/>
            <p:nvPr/>
          </p:nvSpPr>
          <p:spPr>
            <a:xfrm>
              <a:off x="644292" y="1894069"/>
              <a:ext cx="281940" cy="281940"/>
            </a:xfrm>
            <a:custGeom>
              <a:avLst/>
              <a:gdLst/>
              <a:ahLst/>
              <a:cxnLst/>
              <a:rect l="l" t="t" r="r" b="b"/>
              <a:pathLst>
                <a:path w="281940" h="281939">
                  <a:moveTo>
                    <a:pt x="140792" y="281585"/>
                  </a:moveTo>
                  <a:lnTo>
                    <a:pt x="96291" y="274407"/>
                  </a:lnTo>
                  <a:lnTo>
                    <a:pt x="57642" y="254420"/>
                  </a:lnTo>
                  <a:lnTo>
                    <a:pt x="27164" y="223943"/>
                  </a:lnTo>
                  <a:lnTo>
                    <a:pt x="7177" y="185294"/>
                  </a:lnTo>
                  <a:lnTo>
                    <a:pt x="0" y="140792"/>
                  </a:lnTo>
                  <a:lnTo>
                    <a:pt x="7177" y="96291"/>
                  </a:lnTo>
                  <a:lnTo>
                    <a:pt x="27164" y="57642"/>
                  </a:lnTo>
                  <a:lnTo>
                    <a:pt x="57642" y="27164"/>
                  </a:lnTo>
                  <a:lnTo>
                    <a:pt x="96291" y="7177"/>
                  </a:lnTo>
                  <a:lnTo>
                    <a:pt x="140792" y="0"/>
                  </a:lnTo>
                  <a:lnTo>
                    <a:pt x="185294" y="7177"/>
                  </a:lnTo>
                  <a:lnTo>
                    <a:pt x="223943" y="27164"/>
                  </a:lnTo>
                  <a:lnTo>
                    <a:pt x="254420" y="57642"/>
                  </a:lnTo>
                  <a:lnTo>
                    <a:pt x="274407" y="96291"/>
                  </a:lnTo>
                  <a:lnTo>
                    <a:pt x="281585" y="140792"/>
                  </a:lnTo>
                  <a:lnTo>
                    <a:pt x="274407" y="185294"/>
                  </a:lnTo>
                  <a:lnTo>
                    <a:pt x="254420" y="223943"/>
                  </a:lnTo>
                  <a:lnTo>
                    <a:pt x="223943" y="254420"/>
                  </a:lnTo>
                  <a:lnTo>
                    <a:pt x="185294" y="274407"/>
                  </a:lnTo>
                  <a:lnTo>
                    <a:pt x="140792" y="281585"/>
                  </a:lnTo>
                  <a:close/>
                </a:path>
              </a:pathLst>
            </a:custGeom>
            <a:solidFill>
              <a:srgbClr val="ABC4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85085" y="2034873"/>
              <a:ext cx="349885" cy="349885"/>
            </a:xfrm>
            <a:custGeom>
              <a:avLst/>
              <a:gdLst/>
              <a:ahLst/>
              <a:cxnLst/>
              <a:rect l="l" t="t" r="r" b="b"/>
              <a:pathLst>
                <a:path w="349884" h="349885">
                  <a:moveTo>
                    <a:pt x="49449" y="0"/>
                  </a:moveTo>
                  <a:lnTo>
                    <a:pt x="0" y="49449"/>
                  </a:lnTo>
                  <a:lnTo>
                    <a:pt x="230358" y="279803"/>
                  </a:lnTo>
                  <a:lnTo>
                    <a:pt x="344" y="279803"/>
                  </a:lnTo>
                  <a:lnTo>
                    <a:pt x="344" y="349734"/>
                  </a:lnTo>
                  <a:lnTo>
                    <a:pt x="349737" y="349734"/>
                  </a:lnTo>
                  <a:lnTo>
                    <a:pt x="349737" y="341"/>
                  </a:lnTo>
                  <a:lnTo>
                    <a:pt x="279806" y="341"/>
                  </a:lnTo>
                  <a:lnTo>
                    <a:pt x="279806" y="230357"/>
                  </a:lnTo>
                  <a:lnTo>
                    <a:pt x="49449" y="0"/>
                  </a:lnTo>
                  <a:close/>
                </a:path>
              </a:pathLst>
            </a:custGeom>
            <a:solidFill>
              <a:srgbClr val="3704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663763" y="0"/>
            <a:ext cx="3126105" cy="1332230"/>
          </a:xfrm>
          <a:custGeom>
            <a:avLst/>
            <a:gdLst/>
            <a:ahLst/>
            <a:cxnLst/>
            <a:rect l="l" t="t" r="r" b="b"/>
            <a:pathLst>
              <a:path w="3126104" h="1332230">
                <a:moveTo>
                  <a:pt x="1648025" y="1331754"/>
                </a:moveTo>
                <a:lnTo>
                  <a:pt x="1477715" y="1331754"/>
                </a:lnTo>
                <a:lnTo>
                  <a:pt x="1466470" y="1331247"/>
                </a:lnTo>
                <a:lnTo>
                  <a:pt x="1418833" y="1327669"/>
                </a:lnTo>
                <a:lnTo>
                  <a:pt x="1371599" y="1322695"/>
                </a:lnTo>
                <a:lnTo>
                  <a:pt x="1324788" y="1316347"/>
                </a:lnTo>
                <a:lnTo>
                  <a:pt x="1278421" y="1308644"/>
                </a:lnTo>
                <a:lnTo>
                  <a:pt x="1232520" y="1299608"/>
                </a:lnTo>
                <a:lnTo>
                  <a:pt x="1187104" y="1289259"/>
                </a:lnTo>
                <a:lnTo>
                  <a:pt x="1142194" y="1277618"/>
                </a:lnTo>
                <a:lnTo>
                  <a:pt x="1097811" y="1264705"/>
                </a:lnTo>
                <a:lnTo>
                  <a:pt x="1053975" y="1250542"/>
                </a:lnTo>
                <a:lnTo>
                  <a:pt x="1010708" y="1235149"/>
                </a:lnTo>
                <a:lnTo>
                  <a:pt x="968030" y="1218546"/>
                </a:lnTo>
                <a:lnTo>
                  <a:pt x="925961" y="1200755"/>
                </a:lnTo>
                <a:lnTo>
                  <a:pt x="884523" y="1181796"/>
                </a:lnTo>
                <a:lnTo>
                  <a:pt x="843736" y="1161689"/>
                </a:lnTo>
                <a:lnTo>
                  <a:pt x="803620" y="1140456"/>
                </a:lnTo>
                <a:lnTo>
                  <a:pt x="764197" y="1118117"/>
                </a:lnTo>
                <a:lnTo>
                  <a:pt x="725487" y="1094692"/>
                </a:lnTo>
                <a:lnTo>
                  <a:pt x="687511" y="1070203"/>
                </a:lnTo>
                <a:lnTo>
                  <a:pt x="650288" y="1044670"/>
                </a:lnTo>
                <a:lnTo>
                  <a:pt x="613842" y="1018114"/>
                </a:lnTo>
                <a:lnTo>
                  <a:pt x="578190" y="990555"/>
                </a:lnTo>
                <a:lnTo>
                  <a:pt x="543355" y="962014"/>
                </a:lnTo>
                <a:lnTo>
                  <a:pt x="509358" y="932512"/>
                </a:lnTo>
                <a:lnTo>
                  <a:pt x="476218" y="902070"/>
                </a:lnTo>
                <a:lnTo>
                  <a:pt x="443957" y="870708"/>
                </a:lnTo>
                <a:lnTo>
                  <a:pt x="412594" y="838446"/>
                </a:lnTo>
                <a:lnTo>
                  <a:pt x="382152" y="805306"/>
                </a:lnTo>
                <a:lnTo>
                  <a:pt x="352650" y="771309"/>
                </a:lnTo>
                <a:lnTo>
                  <a:pt x="324109" y="736474"/>
                </a:lnTo>
                <a:lnTo>
                  <a:pt x="296551" y="700823"/>
                </a:lnTo>
                <a:lnTo>
                  <a:pt x="269994" y="664376"/>
                </a:lnTo>
                <a:lnTo>
                  <a:pt x="244461" y="627154"/>
                </a:lnTo>
                <a:lnTo>
                  <a:pt x="219972" y="589177"/>
                </a:lnTo>
                <a:lnTo>
                  <a:pt x="196548" y="550467"/>
                </a:lnTo>
                <a:lnTo>
                  <a:pt x="174209" y="511044"/>
                </a:lnTo>
                <a:lnTo>
                  <a:pt x="152975" y="470928"/>
                </a:lnTo>
                <a:lnTo>
                  <a:pt x="132869" y="430141"/>
                </a:lnTo>
                <a:lnTo>
                  <a:pt x="113909" y="388703"/>
                </a:lnTo>
                <a:lnTo>
                  <a:pt x="96118" y="346634"/>
                </a:lnTo>
                <a:lnTo>
                  <a:pt x="79516" y="303956"/>
                </a:lnTo>
                <a:lnTo>
                  <a:pt x="64122" y="260689"/>
                </a:lnTo>
                <a:lnTo>
                  <a:pt x="49959" y="216854"/>
                </a:lnTo>
                <a:lnTo>
                  <a:pt x="37047" y="172471"/>
                </a:lnTo>
                <a:lnTo>
                  <a:pt x="25406" y="127561"/>
                </a:lnTo>
                <a:lnTo>
                  <a:pt x="15057" y="82144"/>
                </a:lnTo>
                <a:lnTo>
                  <a:pt x="6020" y="36243"/>
                </a:lnTo>
                <a:lnTo>
                  <a:pt x="0" y="0"/>
                </a:lnTo>
                <a:lnTo>
                  <a:pt x="720289" y="0"/>
                </a:lnTo>
                <a:lnTo>
                  <a:pt x="729188" y="29303"/>
                </a:lnTo>
                <a:lnTo>
                  <a:pt x="744805" y="72409"/>
                </a:lnTo>
                <a:lnTo>
                  <a:pt x="762575" y="114437"/>
                </a:lnTo>
                <a:lnTo>
                  <a:pt x="782431" y="155320"/>
                </a:lnTo>
                <a:lnTo>
                  <a:pt x="804305" y="194990"/>
                </a:lnTo>
                <a:lnTo>
                  <a:pt x="828132" y="233381"/>
                </a:lnTo>
                <a:lnTo>
                  <a:pt x="853844" y="270425"/>
                </a:lnTo>
                <a:lnTo>
                  <a:pt x="881374" y="306054"/>
                </a:lnTo>
                <a:lnTo>
                  <a:pt x="910656" y="340203"/>
                </a:lnTo>
                <a:lnTo>
                  <a:pt x="941623" y="372802"/>
                </a:lnTo>
                <a:lnTo>
                  <a:pt x="974208" y="403786"/>
                </a:lnTo>
                <a:lnTo>
                  <a:pt x="1008344" y="433087"/>
                </a:lnTo>
                <a:lnTo>
                  <a:pt x="1043964" y="460637"/>
                </a:lnTo>
                <a:lnTo>
                  <a:pt x="1081002" y="486370"/>
                </a:lnTo>
                <a:lnTo>
                  <a:pt x="1119391" y="510217"/>
                </a:lnTo>
                <a:lnTo>
                  <a:pt x="1159064" y="532113"/>
                </a:lnTo>
                <a:lnTo>
                  <a:pt x="1199953" y="551989"/>
                </a:lnTo>
                <a:lnTo>
                  <a:pt x="1241994" y="569779"/>
                </a:lnTo>
                <a:lnTo>
                  <a:pt x="1285117" y="585415"/>
                </a:lnTo>
                <a:lnTo>
                  <a:pt x="1329257" y="598830"/>
                </a:lnTo>
                <a:lnTo>
                  <a:pt x="1374347" y="609957"/>
                </a:lnTo>
                <a:lnTo>
                  <a:pt x="1420321" y="618728"/>
                </a:lnTo>
                <a:lnTo>
                  <a:pt x="1467110" y="625076"/>
                </a:lnTo>
                <a:lnTo>
                  <a:pt x="1514649" y="628934"/>
                </a:lnTo>
                <a:lnTo>
                  <a:pt x="1562870" y="630235"/>
                </a:lnTo>
                <a:lnTo>
                  <a:pt x="2879165" y="630235"/>
                </a:lnTo>
                <a:lnTo>
                  <a:pt x="2855746" y="664376"/>
                </a:lnTo>
                <a:lnTo>
                  <a:pt x="2829190" y="700823"/>
                </a:lnTo>
                <a:lnTo>
                  <a:pt x="2801631" y="736474"/>
                </a:lnTo>
                <a:lnTo>
                  <a:pt x="2773090" y="771309"/>
                </a:lnTo>
                <a:lnTo>
                  <a:pt x="2743588" y="805306"/>
                </a:lnTo>
                <a:lnTo>
                  <a:pt x="2713146" y="838446"/>
                </a:lnTo>
                <a:lnTo>
                  <a:pt x="2681784" y="870708"/>
                </a:lnTo>
                <a:lnTo>
                  <a:pt x="2649522" y="902070"/>
                </a:lnTo>
                <a:lnTo>
                  <a:pt x="2616382" y="932512"/>
                </a:lnTo>
                <a:lnTo>
                  <a:pt x="2582385" y="962014"/>
                </a:lnTo>
                <a:lnTo>
                  <a:pt x="2547550" y="990555"/>
                </a:lnTo>
                <a:lnTo>
                  <a:pt x="2511899" y="1018114"/>
                </a:lnTo>
                <a:lnTo>
                  <a:pt x="2475452" y="1044670"/>
                </a:lnTo>
                <a:lnTo>
                  <a:pt x="2438230" y="1070203"/>
                </a:lnTo>
                <a:lnTo>
                  <a:pt x="2400253" y="1094692"/>
                </a:lnTo>
                <a:lnTo>
                  <a:pt x="2361543" y="1118117"/>
                </a:lnTo>
                <a:lnTo>
                  <a:pt x="2322120" y="1140456"/>
                </a:lnTo>
                <a:lnTo>
                  <a:pt x="2282004" y="1161689"/>
                </a:lnTo>
                <a:lnTo>
                  <a:pt x="2241217" y="1181796"/>
                </a:lnTo>
                <a:lnTo>
                  <a:pt x="2199779" y="1200755"/>
                </a:lnTo>
                <a:lnTo>
                  <a:pt x="2157710" y="1218546"/>
                </a:lnTo>
                <a:lnTo>
                  <a:pt x="2115032" y="1235149"/>
                </a:lnTo>
                <a:lnTo>
                  <a:pt x="2071765" y="1250542"/>
                </a:lnTo>
                <a:lnTo>
                  <a:pt x="2027929" y="1264705"/>
                </a:lnTo>
                <a:lnTo>
                  <a:pt x="1983546" y="1277618"/>
                </a:lnTo>
                <a:lnTo>
                  <a:pt x="1938637" y="1289259"/>
                </a:lnTo>
                <a:lnTo>
                  <a:pt x="1893220" y="1299608"/>
                </a:lnTo>
                <a:lnTo>
                  <a:pt x="1847319" y="1308644"/>
                </a:lnTo>
                <a:lnTo>
                  <a:pt x="1800952" y="1316347"/>
                </a:lnTo>
                <a:lnTo>
                  <a:pt x="1754141" y="1322695"/>
                </a:lnTo>
                <a:lnTo>
                  <a:pt x="1706907" y="1327669"/>
                </a:lnTo>
                <a:lnTo>
                  <a:pt x="1659270" y="1331247"/>
                </a:lnTo>
                <a:lnTo>
                  <a:pt x="1648025" y="1331754"/>
                </a:lnTo>
                <a:close/>
              </a:path>
              <a:path w="3126104" h="1332230">
                <a:moveTo>
                  <a:pt x="2879165" y="630235"/>
                </a:moveTo>
                <a:lnTo>
                  <a:pt x="1562870" y="630235"/>
                </a:lnTo>
                <a:lnTo>
                  <a:pt x="1611091" y="628934"/>
                </a:lnTo>
                <a:lnTo>
                  <a:pt x="1658630" y="625076"/>
                </a:lnTo>
                <a:lnTo>
                  <a:pt x="1705420" y="618728"/>
                </a:lnTo>
                <a:lnTo>
                  <a:pt x="1751393" y="609957"/>
                </a:lnTo>
                <a:lnTo>
                  <a:pt x="1796483" y="598830"/>
                </a:lnTo>
                <a:lnTo>
                  <a:pt x="1840623" y="585415"/>
                </a:lnTo>
                <a:lnTo>
                  <a:pt x="1883747" y="569779"/>
                </a:lnTo>
                <a:lnTo>
                  <a:pt x="1925787" y="551989"/>
                </a:lnTo>
                <a:lnTo>
                  <a:pt x="1966677" y="532113"/>
                </a:lnTo>
                <a:lnTo>
                  <a:pt x="2006349" y="510217"/>
                </a:lnTo>
                <a:lnTo>
                  <a:pt x="2044738" y="486370"/>
                </a:lnTo>
                <a:lnTo>
                  <a:pt x="2081776" y="460637"/>
                </a:lnTo>
                <a:lnTo>
                  <a:pt x="2117396" y="433087"/>
                </a:lnTo>
                <a:lnTo>
                  <a:pt x="2151532" y="403786"/>
                </a:lnTo>
                <a:lnTo>
                  <a:pt x="2184117" y="372802"/>
                </a:lnTo>
                <a:lnTo>
                  <a:pt x="2215084" y="340203"/>
                </a:lnTo>
                <a:lnTo>
                  <a:pt x="2244366" y="306054"/>
                </a:lnTo>
                <a:lnTo>
                  <a:pt x="2271896" y="270425"/>
                </a:lnTo>
                <a:lnTo>
                  <a:pt x="2297608" y="233381"/>
                </a:lnTo>
                <a:lnTo>
                  <a:pt x="2321435" y="194990"/>
                </a:lnTo>
                <a:lnTo>
                  <a:pt x="2343309" y="155320"/>
                </a:lnTo>
                <a:lnTo>
                  <a:pt x="2363165" y="114437"/>
                </a:lnTo>
                <a:lnTo>
                  <a:pt x="2380935" y="72409"/>
                </a:lnTo>
                <a:lnTo>
                  <a:pt x="2396552" y="29303"/>
                </a:lnTo>
                <a:lnTo>
                  <a:pt x="2405451" y="0"/>
                </a:lnTo>
                <a:lnTo>
                  <a:pt x="3125741" y="0"/>
                </a:lnTo>
                <a:lnTo>
                  <a:pt x="3110683" y="82144"/>
                </a:lnTo>
                <a:lnTo>
                  <a:pt x="3100335" y="127561"/>
                </a:lnTo>
                <a:lnTo>
                  <a:pt x="3088693" y="172471"/>
                </a:lnTo>
                <a:lnTo>
                  <a:pt x="3075781" y="216854"/>
                </a:lnTo>
                <a:lnTo>
                  <a:pt x="3061618" y="260689"/>
                </a:lnTo>
                <a:lnTo>
                  <a:pt x="3046225" y="303956"/>
                </a:lnTo>
                <a:lnTo>
                  <a:pt x="3029622" y="346634"/>
                </a:lnTo>
                <a:lnTo>
                  <a:pt x="3011831" y="388703"/>
                </a:lnTo>
                <a:lnTo>
                  <a:pt x="2992871" y="430141"/>
                </a:lnTo>
                <a:lnTo>
                  <a:pt x="2972765" y="470928"/>
                </a:lnTo>
                <a:lnTo>
                  <a:pt x="2951532" y="511044"/>
                </a:lnTo>
                <a:lnTo>
                  <a:pt x="2929192" y="550467"/>
                </a:lnTo>
                <a:lnTo>
                  <a:pt x="2905768" y="589177"/>
                </a:lnTo>
                <a:lnTo>
                  <a:pt x="2881279" y="627154"/>
                </a:lnTo>
                <a:lnTo>
                  <a:pt x="2879165" y="630235"/>
                </a:lnTo>
                <a:close/>
              </a:path>
            </a:pathLst>
          </a:custGeom>
          <a:solidFill>
            <a:srgbClr val="DEE7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371151" y="967771"/>
            <a:ext cx="3545840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28085" y="7171152"/>
            <a:ext cx="1759915" cy="16859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1124" y="6732778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1124" y="7266178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1124" y="7799577"/>
            <a:ext cx="114300" cy="1142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305622" y="2251035"/>
            <a:ext cx="15966440" cy="5808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7200"/>
              </a:lnSpc>
              <a:spcBef>
                <a:spcPts val="95"/>
              </a:spcBef>
            </a:pPr>
            <a:r>
              <a:rPr sz="3200" dirty="0">
                <a:latin typeface="Times New Roman"/>
                <a:cs typeface="Times New Roman"/>
              </a:rPr>
              <a:t>YieldLens</a:t>
            </a:r>
            <a:r>
              <a:rPr sz="3200" spc="7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cuts</a:t>
            </a:r>
            <a:r>
              <a:rPr sz="3200" spc="7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sensor</a:t>
            </a:r>
            <a:r>
              <a:rPr sz="3200" spc="7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monitoring</a:t>
            </a:r>
            <a:r>
              <a:rPr sz="3200" spc="7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from</a:t>
            </a:r>
            <a:r>
              <a:rPr sz="3200" spc="7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590</a:t>
            </a:r>
            <a:r>
              <a:rPr sz="3200" spc="7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7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17</a:t>
            </a:r>
            <a:r>
              <a:rPr sz="3200" spc="7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by</a:t>
            </a:r>
            <a:r>
              <a:rPr sz="3200" spc="7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selecting</a:t>
            </a:r>
            <a:r>
              <a:rPr sz="3200" spc="7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sensors</a:t>
            </a:r>
            <a:r>
              <a:rPr sz="3200" spc="7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based</a:t>
            </a:r>
            <a:r>
              <a:rPr sz="3200" spc="7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7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predictive </a:t>
            </a:r>
            <a:r>
              <a:rPr sz="3200" dirty="0">
                <a:latin typeface="Times New Roman"/>
                <a:cs typeface="Times New Roman"/>
              </a:rPr>
              <a:t>stability</a:t>
            </a:r>
            <a:r>
              <a:rPr sz="3200" spc="3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across</a:t>
            </a:r>
            <a:r>
              <a:rPr sz="3200" spc="3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time,</a:t>
            </a:r>
            <a:r>
              <a:rPr sz="3200" spc="3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not</a:t>
            </a:r>
            <a:r>
              <a:rPr sz="3200" spc="3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importance</a:t>
            </a:r>
            <a:r>
              <a:rPr sz="3200" spc="3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3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one</a:t>
            </a:r>
            <a:r>
              <a:rPr sz="3200" spc="3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snapshot.</a:t>
            </a:r>
            <a:r>
              <a:rPr sz="3200" spc="3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3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reduced</a:t>
            </a:r>
            <a:r>
              <a:rPr sz="3200" spc="3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set</a:t>
            </a:r>
            <a:r>
              <a:rPr sz="3200" spc="3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beat</a:t>
            </a:r>
            <a:r>
              <a:rPr sz="3200" spc="3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3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full</a:t>
            </a:r>
            <a:r>
              <a:rPr sz="3200" spc="3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set</a:t>
            </a:r>
            <a:r>
              <a:rPr sz="3200" spc="3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across </a:t>
            </a:r>
            <a:r>
              <a:rPr sz="3200" dirty="0">
                <a:latin typeface="Times New Roman"/>
                <a:cs typeface="Times New Roman"/>
              </a:rPr>
              <a:t>both</a:t>
            </a:r>
            <a:r>
              <a:rPr sz="3200" spc="4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models</a:t>
            </a:r>
            <a:r>
              <a:rPr sz="3200" spc="4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4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all</a:t>
            </a:r>
            <a:r>
              <a:rPr sz="3200" spc="4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metrics,</a:t>
            </a:r>
            <a:r>
              <a:rPr sz="3200" spc="4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4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4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drift-injection</a:t>
            </a:r>
            <a:r>
              <a:rPr sz="3200" spc="4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test</a:t>
            </a:r>
            <a:r>
              <a:rPr sz="3200" spc="4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confirmed</a:t>
            </a:r>
            <a:r>
              <a:rPr sz="3200" spc="4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4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stability</a:t>
            </a:r>
            <a:r>
              <a:rPr sz="3200" spc="4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score</a:t>
            </a:r>
            <a:r>
              <a:rPr sz="3200" spc="48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genuinely </a:t>
            </a:r>
            <a:r>
              <a:rPr sz="3200" dirty="0">
                <a:latin typeface="Times New Roman"/>
                <a:cs typeface="Times New Roman"/>
              </a:rPr>
              <a:t>tracks</a:t>
            </a:r>
            <a:r>
              <a:rPr sz="3200" spc="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drift.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separate</a:t>
            </a:r>
            <a:r>
              <a:rPr sz="3200" spc="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tripwire</a:t>
            </a:r>
            <a:r>
              <a:rPr sz="3200" spc="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audit</a:t>
            </a:r>
            <a:r>
              <a:rPr sz="3200" spc="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recovered</a:t>
            </a:r>
            <a:r>
              <a:rPr sz="3200" spc="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key</a:t>
            </a:r>
            <a:r>
              <a:rPr sz="3200" spc="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sensor</a:t>
            </a:r>
            <a:r>
              <a:rPr sz="3200" spc="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stability</a:t>
            </a:r>
            <a:r>
              <a:rPr sz="3200" spc="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selection</a:t>
            </a:r>
            <a:r>
              <a:rPr sz="3200" spc="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alone</a:t>
            </a:r>
            <a:r>
              <a:rPr sz="3200" spc="15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would </a:t>
            </a:r>
            <a:r>
              <a:rPr sz="3200" dirty="0">
                <a:latin typeface="Times New Roman"/>
                <a:cs typeface="Times New Roman"/>
              </a:rPr>
              <a:t>have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missed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—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showing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selection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method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isn't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enough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own.</a:t>
            </a:r>
            <a:endParaRPr sz="3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60"/>
              </a:spcBef>
            </a:pP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4000" b="1" dirty="0">
                <a:latin typeface="Times New Roman"/>
                <a:cs typeface="Times New Roman"/>
              </a:rPr>
              <a:t>Future</a:t>
            </a:r>
            <a:r>
              <a:rPr sz="4000" b="1" spc="-225" dirty="0">
                <a:latin typeface="Times New Roman"/>
                <a:cs typeface="Times New Roman"/>
              </a:rPr>
              <a:t> </a:t>
            </a:r>
            <a:r>
              <a:rPr sz="4000" b="1" spc="-20" dirty="0">
                <a:latin typeface="Times New Roman"/>
                <a:cs typeface="Times New Roman"/>
              </a:rPr>
              <a:t>Work</a:t>
            </a:r>
            <a:endParaRPr sz="4000" dirty="0">
              <a:latin typeface="Times New Roman"/>
              <a:cs typeface="Times New Roman"/>
            </a:endParaRPr>
          </a:p>
          <a:p>
            <a:pPr marL="370205">
              <a:lnSpc>
                <a:spcPct val="100000"/>
              </a:lnSpc>
            </a:pPr>
            <a:r>
              <a:rPr sz="3000" spc="-20" dirty="0">
                <a:latin typeface="Times New Roman"/>
                <a:cs typeface="Times New Roman"/>
              </a:rPr>
              <a:t>Test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on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additional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fabrication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datasets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beyond</a:t>
            </a:r>
            <a:r>
              <a:rPr sz="3000" spc="-10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SECOM</a:t>
            </a:r>
            <a:endParaRPr sz="3000" dirty="0">
              <a:latin typeface="Times New Roman"/>
              <a:cs typeface="Times New Roman"/>
            </a:endParaRPr>
          </a:p>
          <a:p>
            <a:pPr marL="370205">
              <a:lnSpc>
                <a:spcPct val="100000"/>
              </a:lnSpc>
              <a:spcBef>
                <a:spcPts val="600"/>
              </a:spcBef>
            </a:pPr>
            <a:r>
              <a:rPr sz="3000" dirty="0">
                <a:latin typeface="Times New Roman"/>
                <a:cs typeface="Times New Roman"/>
              </a:rPr>
              <a:t>Add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correlation-</a:t>
            </a:r>
            <a:r>
              <a:rPr sz="3000" dirty="0">
                <a:latin typeface="Times New Roman"/>
                <a:cs typeface="Times New Roman"/>
              </a:rPr>
              <a:t>clustering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catch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multi-</a:t>
            </a:r>
            <a:r>
              <a:rPr sz="3000" dirty="0">
                <a:latin typeface="Times New Roman"/>
                <a:cs typeface="Times New Roman"/>
              </a:rPr>
              <a:t>sensor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redundancy</a:t>
            </a:r>
            <a:endParaRPr sz="3000" dirty="0">
              <a:latin typeface="Times New Roman"/>
              <a:cs typeface="Times New Roman"/>
            </a:endParaRPr>
          </a:p>
          <a:p>
            <a:pPr marL="370205">
              <a:lnSpc>
                <a:spcPct val="100000"/>
              </a:lnSpc>
              <a:spcBef>
                <a:spcPts val="600"/>
              </a:spcBef>
            </a:pPr>
            <a:r>
              <a:rPr sz="3000" dirty="0">
                <a:latin typeface="Times New Roman"/>
                <a:cs typeface="Times New Roman"/>
              </a:rPr>
              <a:t>Evaluate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stability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across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more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chronological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splits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as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more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data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becomes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available</a:t>
            </a:r>
            <a:endParaRPr sz="3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yeildlens">
            <a:hlinkClick r:id="" action="ppaction://media"/>
            <a:extLst>
              <a:ext uri="{FF2B5EF4-FFF2-40B4-BE49-F238E27FC236}">
                <a16:creationId xmlns:a16="http://schemas.microsoft.com/office/drawing/2014/main" id="{5D385756-BF5C-3143-B54F-E48A3573E53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1000" y="1104900"/>
            <a:ext cx="17307212" cy="87175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EE3721-320C-29B3-5F2A-5721337E0D7E}"/>
              </a:ext>
            </a:extLst>
          </p:cNvPr>
          <p:cNvSpPr txBox="1"/>
          <p:nvPr/>
        </p:nvSpPr>
        <p:spPr>
          <a:xfrm>
            <a:off x="7620000" y="266700"/>
            <a:ext cx="1904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501690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93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091774" y="578972"/>
            <a:ext cx="2195195" cy="865505"/>
          </a:xfrm>
          <a:custGeom>
            <a:avLst/>
            <a:gdLst/>
            <a:ahLst/>
            <a:cxnLst/>
            <a:rect l="l" t="t" r="r" b="b"/>
            <a:pathLst>
              <a:path w="2195194" h="865505">
                <a:moveTo>
                  <a:pt x="58795" y="133826"/>
                </a:moveTo>
                <a:lnTo>
                  <a:pt x="0" y="75469"/>
                </a:lnTo>
                <a:lnTo>
                  <a:pt x="39304" y="43130"/>
                </a:lnTo>
                <a:lnTo>
                  <a:pt x="83422" y="19470"/>
                </a:lnTo>
                <a:lnTo>
                  <a:pt x="131241" y="4943"/>
                </a:lnTo>
                <a:lnTo>
                  <a:pt x="181652" y="0"/>
                </a:lnTo>
                <a:lnTo>
                  <a:pt x="232125" y="4943"/>
                </a:lnTo>
                <a:lnTo>
                  <a:pt x="280048" y="19470"/>
                </a:lnTo>
                <a:lnTo>
                  <a:pt x="324186" y="43130"/>
                </a:lnTo>
                <a:lnTo>
                  <a:pt x="363305" y="75469"/>
                </a:lnTo>
                <a:lnTo>
                  <a:pt x="373086" y="82928"/>
                </a:lnTo>
                <a:lnTo>
                  <a:pt x="181652" y="82928"/>
                </a:lnTo>
                <a:lnTo>
                  <a:pt x="147462" y="86253"/>
                </a:lnTo>
                <a:lnTo>
                  <a:pt x="115123" y="96036"/>
                </a:lnTo>
                <a:lnTo>
                  <a:pt x="85334" y="111990"/>
                </a:lnTo>
                <a:lnTo>
                  <a:pt x="58795" y="133826"/>
                </a:lnTo>
                <a:close/>
              </a:path>
              <a:path w="2195194" h="865505">
                <a:moveTo>
                  <a:pt x="1287642" y="126476"/>
                </a:moveTo>
                <a:lnTo>
                  <a:pt x="1096938" y="126476"/>
                </a:lnTo>
                <a:lnTo>
                  <a:pt x="1141189" y="120809"/>
                </a:lnTo>
                <a:lnTo>
                  <a:pt x="1183076" y="103806"/>
                </a:lnTo>
                <a:lnTo>
                  <a:pt x="1220234" y="75469"/>
                </a:lnTo>
                <a:lnTo>
                  <a:pt x="1259538" y="43130"/>
                </a:lnTo>
                <a:lnTo>
                  <a:pt x="1303656" y="19470"/>
                </a:lnTo>
                <a:lnTo>
                  <a:pt x="1351475" y="4943"/>
                </a:lnTo>
                <a:lnTo>
                  <a:pt x="1401886" y="0"/>
                </a:lnTo>
                <a:lnTo>
                  <a:pt x="1452359" y="4943"/>
                </a:lnTo>
                <a:lnTo>
                  <a:pt x="1500282" y="19470"/>
                </a:lnTo>
                <a:lnTo>
                  <a:pt x="1544420" y="43130"/>
                </a:lnTo>
                <a:lnTo>
                  <a:pt x="1583539" y="75469"/>
                </a:lnTo>
                <a:lnTo>
                  <a:pt x="1593752" y="83257"/>
                </a:lnTo>
                <a:lnTo>
                  <a:pt x="1402578" y="83257"/>
                </a:lnTo>
                <a:lnTo>
                  <a:pt x="1367189" y="86692"/>
                </a:lnTo>
                <a:lnTo>
                  <a:pt x="1334699" y="96475"/>
                </a:lnTo>
                <a:lnTo>
                  <a:pt x="1304759" y="112429"/>
                </a:lnTo>
                <a:lnTo>
                  <a:pt x="1287642" y="126476"/>
                </a:lnTo>
                <a:close/>
              </a:path>
              <a:path w="2195194" h="865505">
                <a:moveTo>
                  <a:pt x="678028" y="126476"/>
                </a:moveTo>
                <a:lnTo>
                  <a:pt x="486601" y="126476"/>
                </a:lnTo>
                <a:lnTo>
                  <a:pt x="530853" y="120809"/>
                </a:lnTo>
                <a:lnTo>
                  <a:pt x="572739" y="103806"/>
                </a:lnTo>
                <a:lnTo>
                  <a:pt x="609897" y="75469"/>
                </a:lnTo>
                <a:lnTo>
                  <a:pt x="645411" y="45827"/>
                </a:lnTo>
                <a:lnTo>
                  <a:pt x="684570" y="23596"/>
                </a:lnTo>
                <a:lnTo>
                  <a:pt x="726335" y="8775"/>
                </a:lnTo>
                <a:lnTo>
                  <a:pt x="769671" y="1365"/>
                </a:lnTo>
                <a:lnTo>
                  <a:pt x="813542" y="1365"/>
                </a:lnTo>
                <a:lnTo>
                  <a:pt x="856911" y="8775"/>
                </a:lnTo>
                <a:lnTo>
                  <a:pt x="898742" y="23596"/>
                </a:lnTo>
                <a:lnTo>
                  <a:pt x="937997" y="45827"/>
                </a:lnTo>
                <a:lnTo>
                  <a:pt x="973642" y="75469"/>
                </a:lnTo>
                <a:lnTo>
                  <a:pt x="983854" y="83257"/>
                </a:lnTo>
                <a:lnTo>
                  <a:pt x="791111" y="83257"/>
                </a:lnTo>
                <a:lnTo>
                  <a:pt x="746860" y="88925"/>
                </a:lnTo>
                <a:lnTo>
                  <a:pt x="704973" y="105927"/>
                </a:lnTo>
                <a:lnTo>
                  <a:pt x="678028" y="126476"/>
                </a:lnTo>
                <a:close/>
              </a:path>
              <a:path w="2195194" h="865505">
                <a:moveTo>
                  <a:pt x="1897978" y="126476"/>
                </a:moveTo>
                <a:lnTo>
                  <a:pt x="1706835" y="126476"/>
                </a:lnTo>
                <a:lnTo>
                  <a:pt x="1751087" y="120809"/>
                </a:lnTo>
                <a:lnTo>
                  <a:pt x="1792973" y="103806"/>
                </a:lnTo>
                <a:lnTo>
                  <a:pt x="1830131" y="75469"/>
                </a:lnTo>
                <a:lnTo>
                  <a:pt x="1865645" y="45827"/>
                </a:lnTo>
                <a:lnTo>
                  <a:pt x="1904804" y="23596"/>
                </a:lnTo>
                <a:lnTo>
                  <a:pt x="1946569" y="8775"/>
                </a:lnTo>
                <a:lnTo>
                  <a:pt x="1989905" y="1365"/>
                </a:lnTo>
                <a:lnTo>
                  <a:pt x="2033776" y="1365"/>
                </a:lnTo>
                <a:lnTo>
                  <a:pt x="2077145" y="8775"/>
                </a:lnTo>
                <a:lnTo>
                  <a:pt x="2118976" y="23596"/>
                </a:lnTo>
                <a:lnTo>
                  <a:pt x="2158231" y="45827"/>
                </a:lnTo>
                <a:lnTo>
                  <a:pt x="2193876" y="75469"/>
                </a:lnTo>
                <a:lnTo>
                  <a:pt x="2186087" y="83257"/>
                </a:lnTo>
                <a:lnTo>
                  <a:pt x="2012914" y="83257"/>
                </a:lnTo>
                <a:lnTo>
                  <a:pt x="1977525" y="86692"/>
                </a:lnTo>
                <a:lnTo>
                  <a:pt x="1945035" y="96475"/>
                </a:lnTo>
                <a:lnTo>
                  <a:pt x="1915096" y="112429"/>
                </a:lnTo>
                <a:lnTo>
                  <a:pt x="1897978" y="126476"/>
                </a:lnTo>
                <a:close/>
              </a:path>
              <a:path w="2195194" h="865505">
                <a:moveTo>
                  <a:pt x="487040" y="209295"/>
                </a:moveTo>
                <a:lnTo>
                  <a:pt x="437278" y="204544"/>
                </a:lnTo>
                <a:lnTo>
                  <a:pt x="437716" y="204544"/>
                </a:lnTo>
                <a:lnTo>
                  <a:pt x="390290" y="190538"/>
                </a:lnTo>
                <a:lnTo>
                  <a:pt x="345617" y="167091"/>
                </a:lnTo>
                <a:lnTo>
                  <a:pt x="278526" y="112175"/>
                </a:lnTo>
                <a:lnTo>
                  <a:pt x="249174" y="96475"/>
                </a:lnTo>
                <a:lnTo>
                  <a:pt x="248274" y="96036"/>
                </a:lnTo>
                <a:lnTo>
                  <a:pt x="215848" y="86253"/>
                </a:lnTo>
                <a:lnTo>
                  <a:pt x="181652" y="82928"/>
                </a:lnTo>
                <a:lnTo>
                  <a:pt x="373086" y="82928"/>
                </a:lnTo>
                <a:lnTo>
                  <a:pt x="400463" y="103806"/>
                </a:lnTo>
                <a:lnTo>
                  <a:pt x="442350" y="120809"/>
                </a:lnTo>
                <a:lnTo>
                  <a:pt x="486601" y="126476"/>
                </a:lnTo>
                <a:lnTo>
                  <a:pt x="678028" y="126476"/>
                </a:lnTo>
                <a:lnTo>
                  <a:pt x="667815" y="134265"/>
                </a:lnTo>
                <a:lnTo>
                  <a:pt x="628093" y="166905"/>
                </a:lnTo>
                <a:lnTo>
                  <a:pt x="583680" y="190373"/>
                </a:lnTo>
                <a:lnTo>
                  <a:pt x="536142" y="204544"/>
                </a:lnTo>
                <a:lnTo>
                  <a:pt x="487040" y="209295"/>
                </a:lnTo>
                <a:close/>
              </a:path>
              <a:path w="2195194" h="865505">
                <a:moveTo>
                  <a:pt x="1118197" y="208369"/>
                </a:moveTo>
                <a:lnTo>
                  <a:pt x="1074362" y="208369"/>
                </a:lnTo>
                <a:lnTo>
                  <a:pt x="1031040" y="200959"/>
                </a:lnTo>
                <a:lnTo>
                  <a:pt x="989256" y="186138"/>
                </a:lnTo>
                <a:lnTo>
                  <a:pt x="950037" y="163906"/>
                </a:lnTo>
                <a:lnTo>
                  <a:pt x="914407" y="134265"/>
                </a:lnTo>
                <a:lnTo>
                  <a:pt x="877249" y="105927"/>
                </a:lnTo>
                <a:lnTo>
                  <a:pt x="835363" y="88925"/>
                </a:lnTo>
                <a:lnTo>
                  <a:pt x="791111" y="83257"/>
                </a:lnTo>
                <a:lnTo>
                  <a:pt x="983854" y="83257"/>
                </a:lnTo>
                <a:lnTo>
                  <a:pt x="1010800" y="103806"/>
                </a:lnTo>
                <a:lnTo>
                  <a:pt x="1052686" y="120809"/>
                </a:lnTo>
                <a:lnTo>
                  <a:pt x="1096938" y="126476"/>
                </a:lnTo>
                <a:lnTo>
                  <a:pt x="1287642" y="126476"/>
                </a:lnTo>
                <a:lnTo>
                  <a:pt x="1278152" y="134265"/>
                </a:lnTo>
                <a:lnTo>
                  <a:pt x="1242522" y="163906"/>
                </a:lnTo>
                <a:lnTo>
                  <a:pt x="1203302" y="186138"/>
                </a:lnTo>
                <a:lnTo>
                  <a:pt x="1161519" y="200959"/>
                </a:lnTo>
                <a:lnTo>
                  <a:pt x="1118197" y="208369"/>
                </a:lnTo>
                <a:close/>
              </a:path>
              <a:path w="2195194" h="865505">
                <a:moveTo>
                  <a:pt x="1728714" y="208369"/>
                </a:moveTo>
                <a:lnTo>
                  <a:pt x="1684843" y="208369"/>
                </a:lnTo>
                <a:lnTo>
                  <a:pt x="1641474" y="200959"/>
                </a:lnTo>
                <a:lnTo>
                  <a:pt x="1599643" y="186138"/>
                </a:lnTo>
                <a:lnTo>
                  <a:pt x="1560388" y="163906"/>
                </a:lnTo>
                <a:lnTo>
                  <a:pt x="1524743" y="134265"/>
                </a:lnTo>
                <a:lnTo>
                  <a:pt x="1498136" y="112429"/>
                </a:lnTo>
                <a:lnTo>
                  <a:pt x="1468196" y="96475"/>
                </a:lnTo>
                <a:lnTo>
                  <a:pt x="1435706" y="86692"/>
                </a:lnTo>
                <a:lnTo>
                  <a:pt x="1400317" y="83257"/>
                </a:lnTo>
                <a:lnTo>
                  <a:pt x="1593752" y="83257"/>
                </a:lnTo>
                <a:lnTo>
                  <a:pt x="1620697" y="103806"/>
                </a:lnTo>
                <a:lnTo>
                  <a:pt x="1662584" y="120809"/>
                </a:lnTo>
                <a:lnTo>
                  <a:pt x="1706835" y="126476"/>
                </a:lnTo>
                <a:lnTo>
                  <a:pt x="1897978" y="126476"/>
                </a:lnTo>
                <a:lnTo>
                  <a:pt x="1888488" y="134265"/>
                </a:lnTo>
                <a:lnTo>
                  <a:pt x="1852974" y="163906"/>
                </a:lnTo>
                <a:lnTo>
                  <a:pt x="1813816" y="186138"/>
                </a:lnTo>
                <a:lnTo>
                  <a:pt x="1772050" y="200959"/>
                </a:lnTo>
                <a:lnTo>
                  <a:pt x="1728714" y="208369"/>
                </a:lnTo>
                <a:close/>
              </a:path>
              <a:path w="2195194" h="865505">
                <a:moveTo>
                  <a:pt x="2135080" y="134265"/>
                </a:moveTo>
                <a:lnTo>
                  <a:pt x="2108472" y="112429"/>
                </a:lnTo>
                <a:lnTo>
                  <a:pt x="2078533" y="96475"/>
                </a:lnTo>
                <a:lnTo>
                  <a:pt x="2046043" y="86692"/>
                </a:lnTo>
                <a:lnTo>
                  <a:pt x="2010654" y="83257"/>
                </a:lnTo>
                <a:lnTo>
                  <a:pt x="2186087" y="83257"/>
                </a:lnTo>
                <a:lnTo>
                  <a:pt x="2135080" y="134265"/>
                </a:lnTo>
                <a:close/>
              </a:path>
              <a:path w="2195194" h="865505">
                <a:moveTo>
                  <a:pt x="58795" y="352775"/>
                </a:moveTo>
                <a:lnTo>
                  <a:pt x="0" y="293979"/>
                </a:lnTo>
                <a:lnTo>
                  <a:pt x="35514" y="264337"/>
                </a:lnTo>
                <a:lnTo>
                  <a:pt x="74672" y="242106"/>
                </a:lnTo>
                <a:lnTo>
                  <a:pt x="116437" y="227285"/>
                </a:lnTo>
                <a:lnTo>
                  <a:pt x="159774" y="219875"/>
                </a:lnTo>
                <a:lnTo>
                  <a:pt x="203645" y="219875"/>
                </a:lnTo>
                <a:lnTo>
                  <a:pt x="247014" y="227285"/>
                </a:lnTo>
                <a:lnTo>
                  <a:pt x="288844" y="242106"/>
                </a:lnTo>
                <a:lnTo>
                  <a:pt x="328100" y="264337"/>
                </a:lnTo>
                <a:lnTo>
                  <a:pt x="373185" y="301767"/>
                </a:lnTo>
                <a:lnTo>
                  <a:pt x="182091" y="301767"/>
                </a:lnTo>
                <a:lnTo>
                  <a:pt x="137840" y="307435"/>
                </a:lnTo>
                <a:lnTo>
                  <a:pt x="95953" y="324437"/>
                </a:lnTo>
                <a:lnTo>
                  <a:pt x="58795" y="352775"/>
                </a:lnTo>
                <a:close/>
              </a:path>
              <a:path w="2195194" h="865505">
                <a:moveTo>
                  <a:pt x="678474" y="344877"/>
                </a:moveTo>
                <a:lnTo>
                  <a:pt x="486162" y="344877"/>
                </a:lnTo>
                <a:lnTo>
                  <a:pt x="520421" y="341552"/>
                </a:lnTo>
                <a:lnTo>
                  <a:pt x="552911" y="331768"/>
                </a:lnTo>
                <a:lnTo>
                  <a:pt x="582851" y="315815"/>
                </a:lnTo>
                <a:lnTo>
                  <a:pt x="609458" y="293979"/>
                </a:lnTo>
                <a:lnTo>
                  <a:pt x="645088" y="264337"/>
                </a:lnTo>
                <a:lnTo>
                  <a:pt x="684308" y="242106"/>
                </a:lnTo>
                <a:lnTo>
                  <a:pt x="726091" y="227285"/>
                </a:lnTo>
                <a:lnTo>
                  <a:pt x="769413" y="219875"/>
                </a:lnTo>
                <a:lnTo>
                  <a:pt x="813248" y="219875"/>
                </a:lnTo>
                <a:lnTo>
                  <a:pt x="856570" y="227285"/>
                </a:lnTo>
                <a:lnTo>
                  <a:pt x="898354" y="242106"/>
                </a:lnTo>
                <a:lnTo>
                  <a:pt x="937573" y="264337"/>
                </a:lnTo>
                <a:lnTo>
                  <a:pt x="973203" y="293979"/>
                </a:lnTo>
                <a:lnTo>
                  <a:pt x="982159" y="301328"/>
                </a:lnTo>
                <a:lnTo>
                  <a:pt x="791989" y="301328"/>
                </a:lnTo>
                <a:lnTo>
                  <a:pt x="747737" y="306996"/>
                </a:lnTo>
                <a:lnTo>
                  <a:pt x="705851" y="323998"/>
                </a:lnTo>
                <a:lnTo>
                  <a:pt x="678474" y="344877"/>
                </a:lnTo>
                <a:close/>
              </a:path>
              <a:path w="2195194" h="865505">
                <a:moveTo>
                  <a:pt x="1288371" y="344877"/>
                </a:moveTo>
                <a:lnTo>
                  <a:pt x="1096499" y="344877"/>
                </a:lnTo>
                <a:lnTo>
                  <a:pt x="1130758" y="341552"/>
                </a:lnTo>
                <a:lnTo>
                  <a:pt x="1163248" y="331768"/>
                </a:lnTo>
                <a:lnTo>
                  <a:pt x="1193187" y="315815"/>
                </a:lnTo>
                <a:lnTo>
                  <a:pt x="1219795" y="293979"/>
                </a:lnTo>
                <a:lnTo>
                  <a:pt x="1255425" y="264337"/>
                </a:lnTo>
                <a:lnTo>
                  <a:pt x="1294644" y="242106"/>
                </a:lnTo>
                <a:lnTo>
                  <a:pt x="1336428" y="227285"/>
                </a:lnTo>
                <a:lnTo>
                  <a:pt x="1379750" y="219875"/>
                </a:lnTo>
                <a:lnTo>
                  <a:pt x="1423584" y="219875"/>
                </a:lnTo>
                <a:lnTo>
                  <a:pt x="1466906" y="227285"/>
                </a:lnTo>
                <a:lnTo>
                  <a:pt x="1508690" y="242106"/>
                </a:lnTo>
                <a:lnTo>
                  <a:pt x="1547909" y="264337"/>
                </a:lnTo>
                <a:lnTo>
                  <a:pt x="1583539" y="293979"/>
                </a:lnTo>
                <a:lnTo>
                  <a:pt x="1593176" y="301328"/>
                </a:lnTo>
                <a:lnTo>
                  <a:pt x="1401886" y="301328"/>
                </a:lnTo>
                <a:lnTo>
                  <a:pt x="1357635" y="306996"/>
                </a:lnTo>
                <a:lnTo>
                  <a:pt x="1315748" y="323998"/>
                </a:lnTo>
                <a:lnTo>
                  <a:pt x="1288371" y="344877"/>
                </a:lnTo>
                <a:close/>
              </a:path>
              <a:path w="2195194" h="865505">
                <a:moveTo>
                  <a:pt x="1899283" y="344877"/>
                </a:moveTo>
                <a:lnTo>
                  <a:pt x="1707692" y="344877"/>
                </a:lnTo>
                <a:lnTo>
                  <a:pt x="1751087" y="339319"/>
                </a:lnTo>
                <a:lnTo>
                  <a:pt x="1792973" y="322316"/>
                </a:lnTo>
                <a:lnTo>
                  <a:pt x="1830131" y="293979"/>
                </a:lnTo>
                <a:lnTo>
                  <a:pt x="1865761" y="264337"/>
                </a:lnTo>
                <a:lnTo>
                  <a:pt x="1904980" y="242106"/>
                </a:lnTo>
                <a:lnTo>
                  <a:pt x="1946764" y="227285"/>
                </a:lnTo>
                <a:lnTo>
                  <a:pt x="1990086" y="219875"/>
                </a:lnTo>
                <a:lnTo>
                  <a:pt x="2033921" y="219875"/>
                </a:lnTo>
                <a:lnTo>
                  <a:pt x="2077243" y="227285"/>
                </a:lnTo>
                <a:lnTo>
                  <a:pt x="2119026" y="242106"/>
                </a:lnTo>
                <a:lnTo>
                  <a:pt x="2158246" y="264337"/>
                </a:lnTo>
                <a:lnTo>
                  <a:pt x="2193876" y="293979"/>
                </a:lnTo>
                <a:lnTo>
                  <a:pt x="2186146" y="301767"/>
                </a:lnTo>
                <a:lnTo>
                  <a:pt x="2012223" y="301767"/>
                </a:lnTo>
                <a:lnTo>
                  <a:pt x="1967972" y="307435"/>
                </a:lnTo>
                <a:lnTo>
                  <a:pt x="1926085" y="324437"/>
                </a:lnTo>
                <a:lnTo>
                  <a:pt x="1899283" y="344877"/>
                </a:lnTo>
                <a:close/>
              </a:path>
              <a:path w="2195194" h="865505">
                <a:moveTo>
                  <a:pt x="1096938" y="427805"/>
                </a:moveTo>
                <a:lnTo>
                  <a:pt x="1046526" y="422862"/>
                </a:lnTo>
                <a:lnTo>
                  <a:pt x="998707" y="408335"/>
                </a:lnTo>
                <a:lnTo>
                  <a:pt x="954589" y="384675"/>
                </a:lnTo>
                <a:lnTo>
                  <a:pt x="915285" y="352336"/>
                </a:lnTo>
                <a:lnTo>
                  <a:pt x="878127" y="323998"/>
                </a:lnTo>
                <a:lnTo>
                  <a:pt x="836240" y="306996"/>
                </a:lnTo>
                <a:lnTo>
                  <a:pt x="791989" y="301328"/>
                </a:lnTo>
                <a:lnTo>
                  <a:pt x="982159" y="301328"/>
                </a:lnTo>
                <a:lnTo>
                  <a:pt x="999811" y="315815"/>
                </a:lnTo>
                <a:lnTo>
                  <a:pt x="1029750" y="331768"/>
                </a:lnTo>
                <a:lnTo>
                  <a:pt x="1062240" y="341552"/>
                </a:lnTo>
                <a:lnTo>
                  <a:pt x="1096499" y="344877"/>
                </a:lnTo>
                <a:lnTo>
                  <a:pt x="1288371" y="344877"/>
                </a:lnTo>
                <a:lnTo>
                  <a:pt x="1278591" y="352336"/>
                </a:lnTo>
                <a:lnTo>
                  <a:pt x="1239471" y="384675"/>
                </a:lnTo>
                <a:lnTo>
                  <a:pt x="1195333" y="408335"/>
                </a:lnTo>
                <a:lnTo>
                  <a:pt x="1147411" y="422862"/>
                </a:lnTo>
                <a:lnTo>
                  <a:pt x="1096938" y="427805"/>
                </a:lnTo>
                <a:close/>
              </a:path>
              <a:path w="2195194" h="865505">
                <a:moveTo>
                  <a:pt x="1706835" y="427805"/>
                </a:moveTo>
                <a:lnTo>
                  <a:pt x="1656424" y="422862"/>
                </a:lnTo>
                <a:lnTo>
                  <a:pt x="1608604" y="408335"/>
                </a:lnTo>
                <a:lnTo>
                  <a:pt x="1564487" y="384675"/>
                </a:lnTo>
                <a:lnTo>
                  <a:pt x="1525182" y="352336"/>
                </a:lnTo>
                <a:lnTo>
                  <a:pt x="1488025" y="323998"/>
                </a:lnTo>
                <a:lnTo>
                  <a:pt x="1446138" y="306996"/>
                </a:lnTo>
                <a:lnTo>
                  <a:pt x="1401886" y="301328"/>
                </a:lnTo>
                <a:lnTo>
                  <a:pt x="1593176" y="301328"/>
                </a:lnTo>
                <a:lnTo>
                  <a:pt x="1620697" y="322316"/>
                </a:lnTo>
                <a:lnTo>
                  <a:pt x="1662584" y="339319"/>
                </a:lnTo>
                <a:lnTo>
                  <a:pt x="1705979" y="344877"/>
                </a:lnTo>
                <a:lnTo>
                  <a:pt x="1899283" y="344877"/>
                </a:lnTo>
                <a:lnTo>
                  <a:pt x="1888927" y="352775"/>
                </a:lnTo>
                <a:lnTo>
                  <a:pt x="1849615" y="385045"/>
                </a:lnTo>
                <a:lnTo>
                  <a:pt x="1805450" y="408554"/>
                </a:lnTo>
                <a:lnTo>
                  <a:pt x="1757729" y="422862"/>
                </a:lnTo>
                <a:lnTo>
                  <a:pt x="1758213" y="422862"/>
                </a:lnTo>
                <a:lnTo>
                  <a:pt x="1706835" y="427805"/>
                </a:lnTo>
                <a:close/>
              </a:path>
              <a:path w="2195194" h="865505">
                <a:moveTo>
                  <a:pt x="487040" y="427805"/>
                </a:moveTo>
                <a:lnTo>
                  <a:pt x="435670" y="422862"/>
                </a:lnTo>
                <a:lnTo>
                  <a:pt x="436154" y="422862"/>
                </a:lnTo>
                <a:lnTo>
                  <a:pt x="388480" y="408554"/>
                </a:lnTo>
                <a:lnTo>
                  <a:pt x="344445" y="385045"/>
                </a:lnTo>
                <a:lnTo>
                  <a:pt x="305387" y="352775"/>
                </a:lnTo>
                <a:lnTo>
                  <a:pt x="268229" y="324437"/>
                </a:lnTo>
                <a:lnTo>
                  <a:pt x="226343" y="307435"/>
                </a:lnTo>
                <a:lnTo>
                  <a:pt x="182091" y="301767"/>
                </a:lnTo>
                <a:lnTo>
                  <a:pt x="373185" y="301767"/>
                </a:lnTo>
                <a:lnTo>
                  <a:pt x="390215" y="315815"/>
                </a:lnTo>
                <a:lnTo>
                  <a:pt x="419853" y="331768"/>
                </a:lnTo>
                <a:lnTo>
                  <a:pt x="452041" y="341552"/>
                </a:lnTo>
                <a:lnTo>
                  <a:pt x="486162" y="344877"/>
                </a:lnTo>
                <a:lnTo>
                  <a:pt x="678474" y="344877"/>
                </a:lnTo>
                <a:lnTo>
                  <a:pt x="668693" y="352336"/>
                </a:lnTo>
                <a:lnTo>
                  <a:pt x="629635" y="384675"/>
                </a:lnTo>
                <a:lnTo>
                  <a:pt x="585600" y="408335"/>
                </a:lnTo>
                <a:lnTo>
                  <a:pt x="537698" y="422862"/>
                </a:lnTo>
                <a:lnTo>
                  <a:pt x="487040" y="427805"/>
                </a:lnTo>
                <a:close/>
              </a:path>
              <a:path w="2195194" h="865505">
                <a:moveTo>
                  <a:pt x="2135519" y="352775"/>
                </a:moveTo>
                <a:lnTo>
                  <a:pt x="2098361" y="324437"/>
                </a:lnTo>
                <a:lnTo>
                  <a:pt x="2056474" y="307435"/>
                </a:lnTo>
                <a:lnTo>
                  <a:pt x="2012223" y="301767"/>
                </a:lnTo>
                <a:lnTo>
                  <a:pt x="2186146" y="301767"/>
                </a:lnTo>
                <a:lnTo>
                  <a:pt x="2135519" y="352775"/>
                </a:lnTo>
                <a:close/>
              </a:path>
              <a:path w="2195194" h="865505">
                <a:moveTo>
                  <a:pt x="1288653" y="563387"/>
                </a:moveTo>
                <a:lnTo>
                  <a:pt x="1097815" y="563387"/>
                </a:lnTo>
                <a:lnTo>
                  <a:pt x="1132074" y="560062"/>
                </a:lnTo>
                <a:lnTo>
                  <a:pt x="1164564" y="550278"/>
                </a:lnTo>
                <a:lnTo>
                  <a:pt x="1194504" y="534325"/>
                </a:lnTo>
                <a:lnTo>
                  <a:pt x="1260231" y="480150"/>
                </a:lnTo>
                <a:lnTo>
                  <a:pt x="1304369" y="456490"/>
                </a:lnTo>
                <a:lnTo>
                  <a:pt x="1352291" y="441963"/>
                </a:lnTo>
                <a:lnTo>
                  <a:pt x="1402764" y="437020"/>
                </a:lnTo>
                <a:lnTo>
                  <a:pt x="1453175" y="441963"/>
                </a:lnTo>
                <a:lnTo>
                  <a:pt x="1500995" y="456490"/>
                </a:lnTo>
                <a:lnTo>
                  <a:pt x="1545112" y="480150"/>
                </a:lnTo>
                <a:lnTo>
                  <a:pt x="1584417" y="512489"/>
                </a:lnTo>
                <a:lnTo>
                  <a:pt x="1594629" y="520277"/>
                </a:lnTo>
                <a:lnTo>
                  <a:pt x="1403455" y="520277"/>
                </a:lnTo>
                <a:lnTo>
                  <a:pt x="1368066" y="523712"/>
                </a:lnTo>
                <a:lnTo>
                  <a:pt x="1335577" y="533495"/>
                </a:lnTo>
                <a:lnTo>
                  <a:pt x="1305637" y="549449"/>
                </a:lnTo>
                <a:lnTo>
                  <a:pt x="1288653" y="563387"/>
                </a:lnTo>
                <a:close/>
              </a:path>
              <a:path w="2195194" h="865505">
                <a:moveTo>
                  <a:pt x="58795" y="571724"/>
                </a:moveTo>
                <a:lnTo>
                  <a:pt x="0" y="512928"/>
                </a:lnTo>
                <a:lnTo>
                  <a:pt x="35514" y="483155"/>
                </a:lnTo>
                <a:lnTo>
                  <a:pt x="74677" y="460822"/>
                </a:lnTo>
                <a:lnTo>
                  <a:pt x="116818" y="445795"/>
                </a:lnTo>
                <a:lnTo>
                  <a:pt x="117209" y="445795"/>
                </a:lnTo>
                <a:lnTo>
                  <a:pt x="160249" y="438385"/>
                </a:lnTo>
                <a:lnTo>
                  <a:pt x="203494" y="438385"/>
                </a:lnTo>
                <a:lnTo>
                  <a:pt x="247048" y="445795"/>
                </a:lnTo>
                <a:lnTo>
                  <a:pt x="289037" y="460616"/>
                </a:lnTo>
                <a:lnTo>
                  <a:pt x="328407" y="482847"/>
                </a:lnTo>
                <a:lnTo>
                  <a:pt x="374342" y="520826"/>
                </a:lnTo>
                <a:lnTo>
                  <a:pt x="182091" y="520826"/>
                </a:lnTo>
                <a:lnTo>
                  <a:pt x="147832" y="524151"/>
                </a:lnTo>
                <a:lnTo>
                  <a:pt x="115343" y="533934"/>
                </a:lnTo>
                <a:lnTo>
                  <a:pt x="85403" y="549888"/>
                </a:lnTo>
                <a:lnTo>
                  <a:pt x="58795" y="571724"/>
                </a:lnTo>
                <a:close/>
              </a:path>
              <a:path w="2195194" h="865505">
                <a:moveTo>
                  <a:pt x="679049" y="563387"/>
                </a:moveTo>
                <a:lnTo>
                  <a:pt x="487479" y="563387"/>
                </a:lnTo>
                <a:lnTo>
                  <a:pt x="521738" y="560062"/>
                </a:lnTo>
                <a:lnTo>
                  <a:pt x="554228" y="550278"/>
                </a:lnTo>
                <a:lnTo>
                  <a:pt x="584167" y="534325"/>
                </a:lnTo>
                <a:lnTo>
                  <a:pt x="610775" y="512489"/>
                </a:lnTo>
                <a:lnTo>
                  <a:pt x="646419" y="482847"/>
                </a:lnTo>
                <a:lnTo>
                  <a:pt x="685675" y="460616"/>
                </a:lnTo>
                <a:lnTo>
                  <a:pt x="727505" y="445795"/>
                </a:lnTo>
                <a:lnTo>
                  <a:pt x="770874" y="438385"/>
                </a:lnTo>
                <a:lnTo>
                  <a:pt x="814745" y="438385"/>
                </a:lnTo>
                <a:lnTo>
                  <a:pt x="858081" y="445795"/>
                </a:lnTo>
                <a:lnTo>
                  <a:pt x="899847" y="460616"/>
                </a:lnTo>
                <a:lnTo>
                  <a:pt x="939005" y="482847"/>
                </a:lnTo>
                <a:lnTo>
                  <a:pt x="974519" y="512489"/>
                </a:lnTo>
                <a:lnTo>
                  <a:pt x="984010" y="520277"/>
                </a:lnTo>
                <a:lnTo>
                  <a:pt x="791989" y="520277"/>
                </a:lnTo>
                <a:lnTo>
                  <a:pt x="747737" y="525945"/>
                </a:lnTo>
                <a:lnTo>
                  <a:pt x="705851" y="542947"/>
                </a:lnTo>
                <a:lnTo>
                  <a:pt x="679049" y="563387"/>
                </a:lnTo>
                <a:close/>
              </a:path>
              <a:path w="2195194" h="865505">
                <a:moveTo>
                  <a:pt x="1899722" y="563387"/>
                </a:moveTo>
                <a:lnTo>
                  <a:pt x="1708569" y="563387"/>
                </a:lnTo>
                <a:lnTo>
                  <a:pt x="1751964" y="557829"/>
                </a:lnTo>
                <a:lnTo>
                  <a:pt x="1793851" y="540827"/>
                </a:lnTo>
                <a:lnTo>
                  <a:pt x="1831009" y="512489"/>
                </a:lnTo>
                <a:lnTo>
                  <a:pt x="1866639" y="482847"/>
                </a:lnTo>
                <a:lnTo>
                  <a:pt x="1905858" y="460616"/>
                </a:lnTo>
                <a:lnTo>
                  <a:pt x="1947642" y="445795"/>
                </a:lnTo>
                <a:lnTo>
                  <a:pt x="1990964" y="438385"/>
                </a:lnTo>
                <a:lnTo>
                  <a:pt x="2034798" y="438385"/>
                </a:lnTo>
                <a:lnTo>
                  <a:pt x="2078120" y="445795"/>
                </a:lnTo>
                <a:lnTo>
                  <a:pt x="2119904" y="460616"/>
                </a:lnTo>
                <a:lnTo>
                  <a:pt x="2159123" y="482847"/>
                </a:lnTo>
                <a:lnTo>
                  <a:pt x="2194753" y="512489"/>
                </a:lnTo>
                <a:lnTo>
                  <a:pt x="2186965" y="520277"/>
                </a:lnTo>
                <a:lnTo>
                  <a:pt x="2012662" y="520277"/>
                </a:lnTo>
                <a:lnTo>
                  <a:pt x="1968410" y="525945"/>
                </a:lnTo>
                <a:lnTo>
                  <a:pt x="1926524" y="542947"/>
                </a:lnTo>
                <a:lnTo>
                  <a:pt x="1899722" y="563387"/>
                </a:lnTo>
                <a:close/>
              </a:path>
              <a:path w="2195194" h="865505">
                <a:moveTo>
                  <a:pt x="1162849" y="637979"/>
                </a:moveTo>
                <a:lnTo>
                  <a:pt x="1031449" y="637979"/>
                </a:lnTo>
                <a:lnTo>
                  <a:pt x="989868" y="623158"/>
                </a:lnTo>
                <a:lnTo>
                  <a:pt x="950782" y="600927"/>
                </a:lnTo>
                <a:lnTo>
                  <a:pt x="915285" y="571285"/>
                </a:lnTo>
                <a:lnTo>
                  <a:pt x="878127" y="542947"/>
                </a:lnTo>
                <a:lnTo>
                  <a:pt x="836240" y="525945"/>
                </a:lnTo>
                <a:lnTo>
                  <a:pt x="791989" y="520277"/>
                </a:lnTo>
                <a:lnTo>
                  <a:pt x="984010" y="520277"/>
                </a:lnTo>
                <a:lnTo>
                  <a:pt x="1001127" y="534325"/>
                </a:lnTo>
                <a:lnTo>
                  <a:pt x="1031067" y="550278"/>
                </a:lnTo>
                <a:lnTo>
                  <a:pt x="1063556" y="560062"/>
                </a:lnTo>
                <a:lnTo>
                  <a:pt x="1097815" y="563387"/>
                </a:lnTo>
                <a:lnTo>
                  <a:pt x="1288653" y="563387"/>
                </a:lnTo>
                <a:lnTo>
                  <a:pt x="1279029" y="571285"/>
                </a:lnTo>
                <a:lnTo>
                  <a:pt x="1243523" y="600927"/>
                </a:lnTo>
                <a:lnTo>
                  <a:pt x="1204441" y="623158"/>
                </a:lnTo>
                <a:lnTo>
                  <a:pt x="1204628" y="623158"/>
                </a:lnTo>
                <a:lnTo>
                  <a:pt x="1162849" y="637979"/>
                </a:lnTo>
                <a:close/>
              </a:path>
              <a:path w="2195194" h="865505">
                <a:moveTo>
                  <a:pt x="1729411" y="645389"/>
                </a:moveTo>
                <a:lnTo>
                  <a:pt x="1685576" y="645389"/>
                </a:lnTo>
                <a:lnTo>
                  <a:pt x="1642254" y="637979"/>
                </a:lnTo>
                <a:lnTo>
                  <a:pt x="1600470" y="623158"/>
                </a:lnTo>
                <a:lnTo>
                  <a:pt x="1561251" y="600927"/>
                </a:lnTo>
                <a:lnTo>
                  <a:pt x="1525621" y="571285"/>
                </a:lnTo>
                <a:lnTo>
                  <a:pt x="1499013" y="549449"/>
                </a:lnTo>
                <a:lnTo>
                  <a:pt x="1469074" y="533495"/>
                </a:lnTo>
                <a:lnTo>
                  <a:pt x="1436584" y="523712"/>
                </a:lnTo>
                <a:lnTo>
                  <a:pt x="1401195" y="520277"/>
                </a:lnTo>
                <a:lnTo>
                  <a:pt x="1594629" y="520277"/>
                </a:lnTo>
                <a:lnTo>
                  <a:pt x="1621575" y="540827"/>
                </a:lnTo>
                <a:lnTo>
                  <a:pt x="1663462" y="557829"/>
                </a:lnTo>
                <a:lnTo>
                  <a:pt x="1706857" y="563387"/>
                </a:lnTo>
                <a:lnTo>
                  <a:pt x="1899722" y="563387"/>
                </a:lnTo>
                <a:lnTo>
                  <a:pt x="1889366" y="571285"/>
                </a:lnTo>
                <a:lnTo>
                  <a:pt x="1853736" y="600927"/>
                </a:lnTo>
                <a:lnTo>
                  <a:pt x="1814516" y="623158"/>
                </a:lnTo>
                <a:lnTo>
                  <a:pt x="1772733" y="637979"/>
                </a:lnTo>
                <a:lnTo>
                  <a:pt x="1729411" y="645389"/>
                </a:lnTo>
                <a:close/>
              </a:path>
              <a:path w="2195194" h="865505">
                <a:moveTo>
                  <a:pt x="2135958" y="571285"/>
                </a:moveTo>
                <a:lnTo>
                  <a:pt x="2098800" y="542947"/>
                </a:lnTo>
                <a:lnTo>
                  <a:pt x="2056913" y="525945"/>
                </a:lnTo>
                <a:lnTo>
                  <a:pt x="2012662" y="520277"/>
                </a:lnTo>
                <a:lnTo>
                  <a:pt x="2186965" y="520277"/>
                </a:lnTo>
                <a:lnTo>
                  <a:pt x="2135958" y="571285"/>
                </a:lnTo>
                <a:close/>
              </a:path>
              <a:path w="2195194" h="865505">
                <a:moveTo>
                  <a:pt x="487040" y="647193"/>
                </a:moveTo>
                <a:lnTo>
                  <a:pt x="435930" y="642181"/>
                </a:lnTo>
                <a:lnTo>
                  <a:pt x="436403" y="642181"/>
                </a:lnTo>
                <a:lnTo>
                  <a:pt x="388809" y="627722"/>
                </a:lnTo>
                <a:lnTo>
                  <a:pt x="344692" y="604063"/>
                </a:lnTo>
                <a:lnTo>
                  <a:pt x="278779" y="549888"/>
                </a:lnTo>
                <a:lnTo>
                  <a:pt x="248840" y="533934"/>
                </a:lnTo>
                <a:lnTo>
                  <a:pt x="216350" y="524151"/>
                </a:lnTo>
                <a:lnTo>
                  <a:pt x="182091" y="520826"/>
                </a:lnTo>
                <a:lnTo>
                  <a:pt x="374342" y="520826"/>
                </a:lnTo>
                <a:lnTo>
                  <a:pt x="390791" y="534325"/>
                </a:lnTo>
                <a:lnTo>
                  <a:pt x="420730" y="550278"/>
                </a:lnTo>
                <a:lnTo>
                  <a:pt x="453220" y="560062"/>
                </a:lnTo>
                <a:lnTo>
                  <a:pt x="487479" y="563387"/>
                </a:lnTo>
                <a:lnTo>
                  <a:pt x="679049" y="563387"/>
                </a:lnTo>
                <a:lnTo>
                  <a:pt x="668693" y="571285"/>
                </a:lnTo>
                <a:lnTo>
                  <a:pt x="629388" y="603693"/>
                </a:lnTo>
                <a:lnTo>
                  <a:pt x="585271" y="627503"/>
                </a:lnTo>
                <a:lnTo>
                  <a:pt x="537451" y="642181"/>
                </a:lnTo>
                <a:lnTo>
                  <a:pt x="487040" y="647193"/>
                </a:lnTo>
                <a:close/>
              </a:path>
              <a:path w="2195194" h="865505">
                <a:moveTo>
                  <a:pt x="1119142" y="645534"/>
                </a:moveTo>
                <a:lnTo>
                  <a:pt x="1075059" y="645534"/>
                </a:lnTo>
                <a:lnTo>
                  <a:pt x="1031156" y="637979"/>
                </a:lnTo>
                <a:lnTo>
                  <a:pt x="1163442" y="637979"/>
                </a:lnTo>
                <a:lnTo>
                  <a:pt x="1119142" y="645534"/>
                </a:lnTo>
                <a:close/>
              </a:path>
              <a:path w="2195194" h="865505">
                <a:moveTo>
                  <a:pt x="58795" y="790234"/>
                </a:moveTo>
                <a:lnTo>
                  <a:pt x="0" y="731438"/>
                </a:lnTo>
                <a:lnTo>
                  <a:pt x="39441" y="699284"/>
                </a:lnTo>
                <a:lnTo>
                  <a:pt x="83860" y="675604"/>
                </a:lnTo>
                <a:lnTo>
                  <a:pt x="132185" y="660912"/>
                </a:lnTo>
                <a:lnTo>
                  <a:pt x="132605" y="660912"/>
                </a:lnTo>
                <a:lnTo>
                  <a:pt x="182530" y="655969"/>
                </a:lnTo>
                <a:lnTo>
                  <a:pt x="232941" y="660912"/>
                </a:lnTo>
                <a:lnTo>
                  <a:pt x="280761" y="675439"/>
                </a:lnTo>
                <a:lnTo>
                  <a:pt x="324878" y="699099"/>
                </a:lnTo>
                <a:lnTo>
                  <a:pt x="364183" y="731438"/>
                </a:lnTo>
                <a:lnTo>
                  <a:pt x="374395" y="739226"/>
                </a:lnTo>
                <a:lnTo>
                  <a:pt x="183220" y="739226"/>
                </a:lnTo>
                <a:lnTo>
                  <a:pt x="147832" y="742661"/>
                </a:lnTo>
                <a:lnTo>
                  <a:pt x="115343" y="752444"/>
                </a:lnTo>
                <a:lnTo>
                  <a:pt x="85403" y="768398"/>
                </a:lnTo>
                <a:lnTo>
                  <a:pt x="58795" y="790234"/>
                </a:lnTo>
                <a:close/>
              </a:path>
              <a:path w="2195194" h="865505">
                <a:moveTo>
                  <a:pt x="1288520" y="782446"/>
                </a:moveTo>
                <a:lnTo>
                  <a:pt x="1097815" y="782446"/>
                </a:lnTo>
                <a:lnTo>
                  <a:pt x="1142067" y="776778"/>
                </a:lnTo>
                <a:lnTo>
                  <a:pt x="1183953" y="759775"/>
                </a:lnTo>
                <a:lnTo>
                  <a:pt x="1221111" y="731438"/>
                </a:lnTo>
                <a:lnTo>
                  <a:pt x="1260231" y="699099"/>
                </a:lnTo>
                <a:lnTo>
                  <a:pt x="1304369" y="675439"/>
                </a:lnTo>
                <a:lnTo>
                  <a:pt x="1352291" y="660912"/>
                </a:lnTo>
                <a:lnTo>
                  <a:pt x="1402764" y="655969"/>
                </a:lnTo>
                <a:lnTo>
                  <a:pt x="1453175" y="660912"/>
                </a:lnTo>
                <a:lnTo>
                  <a:pt x="1500995" y="675439"/>
                </a:lnTo>
                <a:lnTo>
                  <a:pt x="1545112" y="699099"/>
                </a:lnTo>
                <a:lnTo>
                  <a:pt x="1584417" y="731438"/>
                </a:lnTo>
                <a:lnTo>
                  <a:pt x="1594629" y="739226"/>
                </a:lnTo>
                <a:lnTo>
                  <a:pt x="1403455" y="739226"/>
                </a:lnTo>
                <a:lnTo>
                  <a:pt x="1368067" y="742661"/>
                </a:lnTo>
                <a:lnTo>
                  <a:pt x="1335577" y="752444"/>
                </a:lnTo>
                <a:lnTo>
                  <a:pt x="1305637" y="768398"/>
                </a:lnTo>
                <a:lnTo>
                  <a:pt x="1288520" y="782446"/>
                </a:lnTo>
                <a:close/>
              </a:path>
              <a:path w="2195194" h="865505">
                <a:moveTo>
                  <a:pt x="1898856" y="782446"/>
                </a:moveTo>
                <a:lnTo>
                  <a:pt x="1707713" y="782446"/>
                </a:lnTo>
                <a:lnTo>
                  <a:pt x="1751964" y="776778"/>
                </a:lnTo>
                <a:lnTo>
                  <a:pt x="1793851" y="759775"/>
                </a:lnTo>
                <a:lnTo>
                  <a:pt x="1831009" y="731438"/>
                </a:lnTo>
                <a:lnTo>
                  <a:pt x="1866653" y="701681"/>
                </a:lnTo>
                <a:lnTo>
                  <a:pt x="1905909" y="679388"/>
                </a:lnTo>
                <a:lnTo>
                  <a:pt x="1947739" y="664549"/>
                </a:lnTo>
                <a:lnTo>
                  <a:pt x="1991108" y="657153"/>
                </a:lnTo>
                <a:lnTo>
                  <a:pt x="2034769" y="657153"/>
                </a:lnTo>
                <a:lnTo>
                  <a:pt x="2077749" y="664549"/>
                </a:lnTo>
                <a:lnTo>
                  <a:pt x="2078042" y="664549"/>
                </a:lnTo>
                <a:lnTo>
                  <a:pt x="2119726" y="679388"/>
                </a:lnTo>
                <a:lnTo>
                  <a:pt x="2119859" y="679388"/>
                </a:lnTo>
                <a:lnTo>
                  <a:pt x="2159061" y="701681"/>
                </a:lnTo>
                <a:lnTo>
                  <a:pt x="2194753" y="731438"/>
                </a:lnTo>
                <a:lnTo>
                  <a:pt x="2186965" y="739226"/>
                </a:lnTo>
                <a:lnTo>
                  <a:pt x="2013791" y="739226"/>
                </a:lnTo>
                <a:lnTo>
                  <a:pt x="1978404" y="742661"/>
                </a:lnTo>
                <a:lnTo>
                  <a:pt x="1945913" y="752444"/>
                </a:lnTo>
                <a:lnTo>
                  <a:pt x="1915974" y="768398"/>
                </a:lnTo>
                <a:lnTo>
                  <a:pt x="1898856" y="782446"/>
                </a:lnTo>
                <a:close/>
              </a:path>
              <a:path w="2195194" h="865505">
                <a:moveTo>
                  <a:pt x="856747" y="664549"/>
                </a:moveTo>
                <a:lnTo>
                  <a:pt x="728548" y="664549"/>
                </a:lnTo>
                <a:lnTo>
                  <a:pt x="770730" y="657334"/>
                </a:lnTo>
                <a:lnTo>
                  <a:pt x="814564" y="657334"/>
                </a:lnTo>
                <a:lnTo>
                  <a:pt x="856747" y="664549"/>
                </a:lnTo>
                <a:close/>
              </a:path>
              <a:path w="2195194" h="865505">
                <a:moveTo>
                  <a:pt x="899171" y="679388"/>
                </a:moveTo>
                <a:lnTo>
                  <a:pt x="686123" y="679388"/>
                </a:lnTo>
                <a:lnTo>
                  <a:pt x="727957" y="664549"/>
                </a:lnTo>
                <a:lnTo>
                  <a:pt x="857337" y="664549"/>
                </a:lnTo>
                <a:lnTo>
                  <a:pt x="899171" y="679388"/>
                </a:lnTo>
                <a:close/>
              </a:path>
              <a:path w="2195194" h="865505">
                <a:moveTo>
                  <a:pt x="678905" y="782446"/>
                </a:moveTo>
                <a:lnTo>
                  <a:pt x="487479" y="782446"/>
                </a:lnTo>
                <a:lnTo>
                  <a:pt x="531730" y="776778"/>
                </a:lnTo>
                <a:lnTo>
                  <a:pt x="573617" y="759775"/>
                </a:lnTo>
                <a:lnTo>
                  <a:pt x="610775" y="731438"/>
                </a:lnTo>
                <a:lnTo>
                  <a:pt x="646608" y="701681"/>
                </a:lnTo>
                <a:lnTo>
                  <a:pt x="685936" y="679388"/>
                </a:lnTo>
                <a:lnTo>
                  <a:pt x="899358" y="679388"/>
                </a:lnTo>
                <a:lnTo>
                  <a:pt x="938686" y="701681"/>
                </a:lnTo>
                <a:lnTo>
                  <a:pt x="974519" y="731438"/>
                </a:lnTo>
                <a:lnTo>
                  <a:pt x="984732" y="739226"/>
                </a:lnTo>
                <a:lnTo>
                  <a:pt x="791989" y="739226"/>
                </a:lnTo>
                <a:lnTo>
                  <a:pt x="747737" y="744894"/>
                </a:lnTo>
                <a:lnTo>
                  <a:pt x="705851" y="761896"/>
                </a:lnTo>
                <a:lnTo>
                  <a:pt x="678905" y="782446"/>
                </a:lnTo>
                <a:close/>
              </a:path>
              <a:path w="2195194" h="865505">
                <a:moveTo>
                  <a:pt x="487040" y="865264"/>
                </a:moveTo>
                <a:lnTo>
                  <a:pt x="437925" y="860575"/>
                </a:lnTo>
                <a:lnTo>
                  <a:pt x="390290" y="846507"/>
                </a:lnTo>
                <a:lnTo>
                  <a:pt x="345617" y="823060"/>
                </a:lnTo>
                <a:lnTo>
                  <a:pt x="278779" y="768398"/>
                </a:lnTo>
                <a:lnTo>
                  <a:pt x="248840" y="752444"/>
                </a:lnTo>
                <a:lnTo>
                  <a:pt x="216350" y="742661"/>
                </a:lnTo>
                <a:lnTo>
                  <a:pt x="180962" y="739226"/>
                </a:lnTo>
                <a:lnTo>
                  <a:pt x="374395" y="739226"/>
                </a:lnTo>
                <a:lnTo>
                  <a:pt x="401341" y="759775"/>
                </a:lnTo>
                <a:lnTo>
                  <a:pt x="443228" y="776778"/>
                </a:lnTo>
                <a:lnTo>
                  <a:pt x="487479" y="782446"/>
                </a:lnTo>
                <a:lnTo>
                  <a:pt x="678905" y="782446"/>
                </a:lnTo>
                <a:lnTo>
                  <a:pt x="668693" y="790234"/>
                </a:lnTo>
                <a:lnTo>
                  <a:pt x="628463" y="823060"/>
                </a:lnTo>
                <a:lnTo>
                  <a:pt x="583790" y="846507"/>
                </a:lnTo>
                <a:lnTo>
                  <a:pt x="536155" y="860575"/>
                </a:lnTo>
                <a:lnTo>
                  <a:pt x="487040" y="865264"/>
                </a:lnTo>
                <a:close/>
              </a:path>
              <a:path w="2195194" h="865505">
                <a:moveTo>
                  <a:pt x="1118930" y="864338"/>
                </a:moveTo>
                <a:lnTo>
                  <a:pt x="1075059" y="864338"/>
                </a:lnTo>
                <a:lnTo>
                  <a:pt x="1031723" y="856928"/>
                </a:lnTo>
                <a:lnTo>
                  <a:pt x="989957" y="842107"/>
                </a:lnTo>
                <a:lnTo>
                  <a:pt x="950799" y="819875"/>
                </a:lnTo>
                <a:lnTo>
                  <a:pt x="915285" y="790234"/>
                </a:lnTo>
                <a:lnTo>
                  <a:pt x="878127" y="761896"/>
                </a:lnTo>
                <a:lnTo>
                  <a:pt x="836240" y="744894"/>
                </a:lnTo>
                <a:lnTo>
                  <a:pt x="791989" y="739226"/>
                </a:lnTo>
                <a:lnTo>
                  <a:pt x="984732" y="739226"/>
                </a:lnTo>
                <a:lnTo>
                  <a:pt x="1011677" y="759775"/>
                </a:lnTo>
                <a:lnTo>
                  <a:pt x="1053564" y="776778"/>
                </a:lnTo>
                <a:lnTo>
                  <a:pt x="1097815" y="782446"/>
                </a:lnTo>
                <a:lnTo>
                  <a:pt x="1288520" y="782446"/>
                </a:lnTo>
                <a:lnTo>
                  <a:pt x="1279029" y="790234"/>
                </a:lnTo>
                <a:lnTo>
                  <a:pt x="1243385" y="819875"/>
                </a:lnTo>
                <a:lnTo>
                  <a:pt x="1204129" y="842107"/>
                </a:lnTo>
                <a:lnTo>
                  <a:pt x="1162299" y="856928"/>
                </a:lnTo>
                <a:lnTo>
                  <a:pt x="1118930" y="864338"/>
                </a:lnTo>
                <a:close/>
              </a:path>
              <a:path w="2195194" h="865505">
                <a:moveTo>
                  <a:pt x="1729411" y="864338"/>
                </a:moveTo>
                <a:lnTo>
                  <a:pt x="1685576" y="864338"/>
                </a:lnTo>
                <a:lnTo>
                  <a:pt x="1642254" y="856928"/>
                </a:lnTo>
                <a:lnTo>
                  <a:pt x="1600470" y="842107"/>
                </a:lnTo>
                <a:lnTo>
                  <a:pt x="1561251" y="819875"/>
                </a:lnTo>
                <a:lnTo>
                  <a:pt x="1525621" y="790234"/>
                </a:lnTo>
                <a:lnTo>
                  <a:pt x="1499013" y="768398"/>
                </a:lnTo>
                <a:lnTo>
                  <a:pt x="1469074" y="752444"/>
                </a:lnTo>
                <a:lnTo>
                  <a:pt x="1436583" y="742661"/>
                </a:lnTo>
                <a:lnTo>
                  <a:pt x="1401195" y="739226"/>
                </a:lnTo>
                <a:lnTo>
                  <a:pt x="1594629" y="739226"/>
                </a:lnTo>
                <a:lnTo>
                  <a:pt x="1621575" y="759775"/>
                </a:lnTo>
                <a:lnTo>
                  <a:pt x="1663462" y="776778"/>
                </a:lnTo>
                <a:lnTo>
                  <a:pt x="1707713" y="782446"/>
                </a:lnTo>
                <a:lnTo>
                  <a:pt x="1898856" y="782446"/>
                </a:lnTo>
                <a:lnTo>
                  <a:pt x="1889366" y="790234"/>
                </a:lnTo>
                <a:lnTo>
                  <a:pt x="1853736" y="819875"/>
                </a:lnTo>
                <a:lnTo>
                  <a:pt x="1814516" y="842107"/>
                </a:lnTo>
                <a:lnTo>
                  <a:pt x="1772733" y="856928"/>
                </a:lnTo>
                <a:lnTo>
                  <a:pt x="1729411" y="864338"/>
                </a:lnTo>
                <a:close/>
              </a:path>
              <a:path w="2195194" h="865505">
                <a:moveTo>
                  <a:pt x="2135958" y="790234"/>
                </a:moveTo>
                <a:lnTo>
                  <a:pt x="2109350" y="768398"/>
                </a:lnTo>
                <a:lnTo>
                  <a:pt x="2079410" y="752444"/>
                </a:lnTo>
                <a:lnTo>
                  <a:pt x="2046919" y="742661"/>
                </a:lnTo>
                <a:lnTo>
                  <a:pt x="2011532" y="739226"/>
                </a:lnTo>
                <a:lnTo>
                  <a:pt x="2186965" y="739226"/>
                </a:lnTo>
                <a:lnTo>
                  <a:pt x="2135958" y="790234"/>
                </a:lnTo>
                <a:close/>
              </a:path>
            </a:pathLst>
          </a:custGeom>
          <a:solidFill>
            <a:srgbClr val="DEE7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272008" y="967771"/>
            <a:ext cx="1744345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800" b="1" spc="-25" dirty="0">
                <a:solidFill>
                  <a:srgbClr val="3704B5"/>
                </a:solidFill>
                <a:latin typeface="Times New Roman"/>
                <a:cs typeface="Times New Roman"/>
              </a:rPr>
              <a:t>Q&amp;A</a:t>
            </a:r>
            <a:endParaRPr sz="5800">
              <a:latin typeface="Times New Roman"/>
              <a:cs typeface="Times New Roman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130395" y="4532344"/>
            <a:ext cx="602742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0" dirty="0">
                <a:solidFill>
                  <a:srgbClr val="360F66"/>
                </a:solidFill>
              </a:rPr>
              <a:t>Any</a:t>
            </a:r>
            <a:r>
              <a:rPr sz="7000" spc="-20" dirty="0">
                <a:solidFill>
                  <a:srgbClr val="360F66"/>
                </a:solidFill>
              </a:rPr>
              <a:t> </a:t>
            </a:r>
            <a:r>
              <a:rPr sz="7000" spc="-10" dirty="0">
                <a:solidFill>
                  <a:srgbClr val="360F66"/>
                </a:solidFill>
              </a:rPr>
              <a:t>Questions?</a:t>
            </a:r>
            <a:endParaRPr sz="7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52344" y="4655535"/>
            <a:ext cx="3533647" cy="341947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55148" y="3741075"/>
            <a:ext cx="12200255" cy="3123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300" dirty="0">
                <a:solidFill>
                  <a:srgbClr val="360F66"/>
                </a:solidFill>
              </a:rPr>
              <a:t>Thank</a:t>
            </a:r>
            <a:r>
              <a:rPr sz="20300" spc="-770" dirty="0">
                <a:solidFill>
                  <a:srgbClr val="360F66"/>
                </a:solidFill>
              </a:rPr>
              <a:t> </a:t>
            </a:r>
            <a:r>
              <a:rPr sz="20300" spc="-2280" dirty="0">
                <a:solidFill>
                  <a:srgbClr val="360F66"/>
                </a:solidFill>
              </a:rPr>
              <a:t>Y</a:t>
            </a:r>
            <a:r>
              <a:rPr sz="20300" spc="-30" dirty="0">
                <a:solidFill>
                  <a:srgbClr val="360F66"/>
                </a:solidFill>
              </a:rPr>
              <a:t>o</a:t>
            </a:r>
            <a:r>
              <a:rPr sz="20300" spc="-25" dirty="0">
                <a:solidFill>
                  <a:srgbClr val="360F66"/>
                </a:solidFill>
              </a:rPr>
              <a:t>u</a:t>
            </a:r>
            <a:endParaRPr sz="20300"/>
          </a:p>
        </p:txBody>
      </p:sp>
      <p:sp>
        <p:nvSpPr>
          <p:cNvPr id="4" name="object 4"/>
          <p:cNvSpPr/>
          <p:nvPr/>
        </p:nvSpPr>
        <p:spPr>
          <a:xfrm>
            <a:off x="663763" y="0"/>
            <a:ext cx="3126105" cy="1332230"/>
          </a:xfrm>
          <a:custGeom>
            <a:avLst/>
            <a:gdLst/>
            <a:ahLst/>
            <a:cxnLst/>
            <a:rect l="l" t="t" r="r" b="b"/>
            <a:pathLst>
              <a:path w="3126104" h="1332230">
                <a:moveTo>
                  <a:pt x="1648025" y="1331754"/>
                </a:moveTo>
                <a:lnTo>
                  <a:pt x="1477715" y="1331754"/>
                </a:lnTo>
                <a:lnTo>
                  <a:pt x="1466470" y="1331247"/>
                </a:lnTo>
                <a:lnTo>
                  <a:pt x="1418833" y="1327669"/>
                </a:lnTo>
                <a:lnTo>
                  <a:pt x="1371599" y="1322695"/>
                </a:lnTo>
                <a:lnTo>
                  <a:pt x="1324788" y="1316347"/>
                </a:lnTo>
                <a:lnTo>
                  <a:pt x="1278421" y="1308644"/>
                </a:lnTo>
                <a:lnTo>
                  <a:pt x="1232520" y="1299608"/>
                </a:lnTo>
                <a:lnTo>
                  <a:pt x="1187104" y="1289259"/>
                </a:lnTo>
                <a:lnTo>
                  <a:pt x="1142194" y="1277618"/>
                </a:lnTo>
                <a:lnTo>
                  <a:pt x="1097811" y="1264705"/>
                </a:lnTo>
                <a:lnTo>
                  <a:pt x="1053975" y="1250542"/>
                </a:lnTo>
                <a:lnTo>
                  <a:pt x="1010708" y="1235149"/>
                </a:lnTo>
                <a:lnTo>
                  <a:pt x="968030" y="1218546"/>
                </a:lnTo>
                <a:lnTo>
                  <a:pt x="925961" y="1200755"/>
                </a:lnTo>
                <a:lnTo>
                  <a:pt x="884523" y="1181796"/>
                </a:lnTo>
                <a:lnTo>
                  <a:pt x="843736" y="1161689"/>
                </a:lnTo>
                <a:lnTo>
                  <a:pt x="803620" y="1140456"/>
                </a:lnTo>
                <a:lnTo>
                  <a:pt x="764197" y="1118117"/>
                </a:lnTo>
                <a:lnTo>
                  <a:pt x="725487" y="1094692"/>
                </a:lnTo>
                <a:lnTo>
                  <a:pt x="687511" y="1070203"/>
                </a:lnTo>
                <a:lnTo>
                  <a:pt x="650288" y="1044670"/>
                </a:lnTo>
                <a:lnTo>
                  <a:pt x="613842" y="1018114"/>
                </a:lnTo>
                <a:lnTo>
                  <a:pt x="578190" y="990555"/>
                </a:lnTo>
                <a:lnTo>
                  <a:pt x="543355" y="962014"/>
                </a:lnTo>
                <a:lnTo>
                  <a:pt x="509358" y="932512"/>
                </a:lnTo>
                <a:lnTo>
                  <a:pt x="476218" y="902070"/>
                </a:lnTo>
                <a:lnTo>
                  <a:pt x="443957" y="870708"/>
                </a:lnTo>
                <a:lnTo>
                  <a:pt x="412594" y="838446"/>
                </a:lnTo>
                <a:lnTo>
                  <a:pt x="382152" y="805306"/>
                </a:lnTo>
                <a:lnTo>
                  <a:pt x="352650" y="771309"/>
                </a:lnTo>
                <a:lnTo>
                  <a:pt x="324109" y="736474"/>
                </a:lnTo>
                <a:lnTo>
                  <a:pt x="296551" y="700823"/>
                </a:lnTo>
                <a:lnTo>
                  <a:pt x="269994" y="664376"/>
                </a:lnTo>
                <a:lnTo>
                  <a:pt x="244461" y="627154"/>
                </a:lnTo>
                <a:lnTo>
                  <a:pt x="219972" y="589177"/>
                </a:lnTo>
                <a:lnTo>
                  <a:pt x="196548" y="550467"/>
                </a:lnTo>
                <a:lnTo>
                  <a:pt x="174209" y="511044"/>
                </a:lnTo>
                <a:lnTo>
                  <a:pt x="152975" y="470928"/>
                </a:lnTo>
                <a:lnTo>
                  <a:pt x="132869" y="430141"/>
                </a:lnTo>
                <a:lnTo>
                  <a:pt x="113909" y="388703"/>
                </a:lnTo>
                <a:lnTo>
                  <a:pt x="96118" y="346634"/>
                </a:lnTo>
                <a:lnTo>
                  <a:pt x="79516" y="303956"/>
                </a:lnTo>
                <a:lnTo>
                  <a:pt x="64122" y="260689"/>
                </a:lnTo>
                <a:lnTo>
                  <a:pt x="49959" y="216854"/>
                </a:lnTo>
                <a:lnTo>
                  <a:pt x="37047" y="172471"/>
                </a:lnTo>
                <a:lnTo>
                  <a:pt x="25406" y="127561"/>
                </a:lnTo>
                <a:lnTo>
                  <a:pt x="15057" y="82144"/>
                </a:lnTo>
                <a:lnTo>
                  <a:pt x="6020" y="36243"/>
                </a:lnTo>
                <a:lnTo>
                  <a:pt x="0" y="0"/>
                </a:lnTo>
                <a:lnTo>
                  <a:pt x="720289" y="0"/>
                </a:lnTo>
                <a:lnTo>
                  <a:pt x="729188" y="29303"/>
                </a:lnTo>
                <a:lnTo>
                  <a:pt x="744805" y="72409"/>
                </a:lnTo>
                <a:lnTo>
                  <a:pt x="762575" y="114437"/>
                </a:lnTo>
                <a:lnTo>
                  <a:pt x="782431" y="155320"/>
                </a:lnTo>
                <a:lnTo>
                  <a:pt x="804305" y="194990"/>
                </a:lnTo>
                <a:lnTo>
                  <a:pt x="828132" y="233381"/>
                </a:lnTo>
                <a:lnTo>
                  <a:pt x="853844" y="270425"/>
                </a:lnTo>
                <a:lnTo>
                  <a:pt x="881374" y="306054"/>
                </a:lnTo>
                <a:lnTo>
                  <a:pt x="910656" y="340203"/>
                </a:lnTo>
                <a:lnTo>
                  <a:pt x="941623" y="372802"/>
                </a:lnTo>
                <a:lnTo>
                  <a:pt x="974208" y="403786"/>
                </a:lnTo>
                <a:lnTo>
                  <a:pt x="1008344" y="433087"/>
                </a:lnTo>
                <a:lnTo>
                  <a:pt x="1043964" y="460637"/>
                </a:lnTo>
                <a:lnTo>
                  <a:pt x="1081002" y="486370"/>
                </a:lnTo>
                <a:lnTo>
                  <a:pt x="1119391" y="510217"/>
                </a:lnTo>
                <a:lnTo>
                  <a:pt x="1159064" y="532113"/>
                </a:lnTo>
                <a:lnTo>
                  <a:pt x="1199953" y="551989"/>
                </a:lnTo>
                <a:lnTo>
                  <a:pt x="1241994" y="569779"/>
                </a:lnTo>
                <a:lnTo>
                  <a:pt x="1285117" y="585415"/>
                </a:lnTo>
                <a:lnTo>
                  <a:pt x="1329257" y="598830"/>
                </a:lnTo>
                <a:lnTo>
                  <a:pt x="1374347" y="609957"/>
                </a:lnTo>
                <a:lnTo>
                  <a:pt x="1420321" y="618728"/>
                </a:lnTo>
                <a:lnTo>
                  <a:pt x="1467110" y="625076"/>
                </a:lnTo>
                <a:lnTo>
                  <a:pt x="1514649" y="628934"/>
                </a:lnTo>
                <a:lnTo>
                  <a:pt x="1562870" y="630235"/>
                </a:lnTo>
                <a:lnTo>
                  <a:pt x="2879165" y="630235"/>
                </a:lnTo>
                <a:lnTo>
                  <a:pt x="2855746" y="664376"/>
                </a:lnTo>
                <a:lnTo>
                  <a:pt x="2829190" y="700823"/>
                </a:lnTo>
                <a:lnTo>
                  <a:pt x="2801631" y="736474"/>
                </a:lnTo>
                <a:lnTo>
                  <a:pt x="2773090" y="771309"/>
                </a:lnTo>
                <a:lnTo>
                  <a:pt x="2743588" y="805306"/>
                </a:lnTo>
                <a:lnTo>
                  <a:pt x="2713146" y="838446"/>
                </a:lnTo>
                <a:lnTo>
                  <a:pt x="2681784" y="870708"/>
                </a:lnTo>
                <a:lnTo>
                  <a:pt x="2649522" y="902070"/>
                </a:lnTo>
                <a:lnTo>
                  <a:pt x="2616382" y="932512"/>
                </a:lnTo>
                <a:lnTo>
                  <a:pt x="2582385" y="962014"/>
                </a:lnTo>
                <a:lnTo>
                  <a:pt x="2547550" y="990555"/>
                </a:lnTo>
                <a:lnTo>
                  <a:pt x="2511899" y="1018114"/>
                </a:lnTo>
                <a:lnTo>
                  <a:pt x="2475452" y="1044670"/>
                </a:lnTo>
                <a:lnTo>
                  <a:pt x="2438230" y="1070203"/>
                </a:lnTo>
                <a:lnTo>
                  <a:pt x="2400253" y="1094692"/>
                </a:lnTo>
                <a:lnTo>
                  <a:pt x="2361543" y="1118117"/>
                </a:lnTo>
                <a:lnTo>
                  <a:pt x="2322120" y="1140456"/>
                </a:lnTo>
                <a:lnTo>
                  <a:pt x="2282004" y="1161689"/>
                </a:lnTo>
                <a:lnTo>
                  <a:pt x="2241217" y="1181796"/>
                </a:lnTo>
                <a:lnTo>
                  <a:pt x="2199779" y="1200755"/>
                </a:lnTo>
                <a:lnTo>
                  <a:pt x="2157710" y="1218546"/>
                </a:lnTo>
                <a:lnTo>
                  <a:pt x="2115032" y="1235149"/>
                </a:lnTo>
                <a:lnTo>
                  <a:pt x="2071765" y="1250542"/>
                </a:lnTo>
                <a:lnTo>
                  <a:pt x="2027929" y="1264705"/>
                </a:lnTo>
                <a:lnTo>
                  <a:pt x="1983546" y="1277618"/>
                </a:lnTo>
                <a:lnTo>
                  <a:pt x="1938637" y="1289259"/>
                </a:lnTo>
                <a:lnTo>
                  <a:pt x="1893220" y="1299608"/>
                </a:lnTo>
                <a:lnTo>
                  <a:pt x="1847319" y="1308644"/>
                </a:lnTo>
                <a:lnTo>
                  <a:pt x="1800952" y="1316347"/>
                </a:lnTo>
                <a:lnTo>
                  <a:pt x="1754141" y="1322695"/>
                </a:lnTo>
                <a:lnTo>
                  <a:pt x="1706907" y="1327669"/>
                </a:lnTo>
                <a:lnTo>
                  <a:pt x="1659270" y="1331247"/>
                </a:lnTo>
                <a:lnTo>
                  <a:pt x="1648025" y="1331754"/>
                </a:lnTo>
                <a:close/>
              </a:path>
              <a:path w="3126104" h="1332230">
                <a:moveTo>
                  <a:pt x="2879165" y="630235"/>
                </a:moveTo>
                <a:lnTo>
                  <a:pt x="1562870" y="630235"/>
                </a:lnTo>
                <a:lnTo>
                  <a:pt x="1611091" y="628934"/>
                </a:lnTo>
                <a:lnTo>
                  <a:pt x="1658630" y="625076"/>
                </a:lnTo>
                <a:lnTo>
                  <a:pt x="1705420" y="618728"/>
                </a:lnTo>
                <a:lnTo>
                  <a:pt x="1751393" y="609957"/>
                </a:lnTo>
                <a:lnTo>
                  <a:pt x="1796483" y="598830"/>
                </a:lnTo>
                <a:lnTo>
                  <a:pt x="1840623" y="585415"/>
                </a:lnTo>
                <a:lnTo>
                  <a:pt x="1883747" y="569779"/>
                </a:lnTo>
                <a:lnTo>
                  <a:pt x="1925787" y="551989"/>
                </a:lnTo>
                <a:lnTo>
                  <a:pt x="1966677" y="532113"/>
                </a:lnTo>
                <a:lnTo>
                  <a:pt x="2006349" y="510217"/>
                </a:lnTo>
                <a:lnTo>
                  <a:pt x="2044738" y="486370"/>
                </a:lnTo>
                <a:lnTo>
                  <a:pt x="2081776" y="460637"/>
                </a:lnTo>
                <a:lnTo>
                  <a:pt x="2117396" y="433087"/>
                </a:lnTo>
                <a:lnTo>
                  <a:pt x="2151532" y="403786"/>
                </a:lnTo>
                <a:lnTo>
                  <a:pt x="2184117" y="372802"/>
                </a:lnTo>
                <a:lnTo>
                  <a:pt x="2215084" y="340203"/>
                </a:lnTo>
                <a:lnTo>
                  <a:pt x="2244366" y="306054"/>
                </a:lnTo>
                <a:lnTo>
                  <a:pt x="2271896" y="270425"/>
                </a:lnTo>
                <a:lnTo>
                  <a:pt x="2297608" y="233381"/>
                </a:lnTo>
                <a:lnTo>
                  <a:pt x="2321435" y="194990"/>
                </a:lnTo>
                <a:lnTo>
                  <a:pt x="2343309" y="155320"/>
                </a:lnTo>
                <a:lnTo>
                  <a:pt x="2363165" y="114437"/>
                </a:lnTo>
                <a:lnTo>
                  <a:pt x="2380935" y="72409"/>
                </a:lnTo>
                <a:lnTo>
                  <a:pt x="2396552" y="29303"/>
                </a:lnTo>
                <a:lnTo>
                  <a:pt x="2405451" y="0"/>
                </a:lnTo>
                <a:lnTo>
                  <a:pt x="3125741" y="0"/>
                </a:lnTo>
                <a:lnTo>
                  <a:pt x="3110683" y="82144"/>
                </a:lnTo>
                <a:lnTo>
                  <a:pt x="3100335" y="127561"/>
                </a:lnTo>
                <a:lnTo>
                  <a:pt x="3088693" y="172471"/>
                </a:lnTo>
                <a:lnTo>
                  <a:pt x="3075781" y="216854"/>
                </a:lnTo>
                <a:lnTo>
                  <a:pt x="3061618" y="260689"/>
                </a:lnTo>
                <a:lnTo>
                  <a:pt x="3046225" y="303956"/>
                </a:lnTo>
                <a:lnTo>
                  <a:pt x="3029622" y="346634"/>
                </a:lnTo>
                <a:lnTo>
                  <a:pt x="3011831" y="388703"/>
                </a:lnTo>
                <a:lnTo>
                  <a:pt x="2992871" y="430141"/>
                </a:lnTo>
                <a:lnTo>
                  <a:pt x="2972765" y="470928"/>
                </a:lnTo>
                <a:lnTo>
                  <a:pt x="2951532" y="511044"/>
                </a:lnTo>
                <a:lnTo>
                  <a:pt x="2929192" y="550467"/>
                </a:lnTo>
                <a:lnTo>
                  <a:pt x="2905768" y="589177"/>
                </a:lnTo>
                <a:lnTo>
                  <a:pt x="2881279" y="627154"/>
                </a:lnTo>
                <a:lnTo>
                  <a:pt x="2879165" y="630235"/>
                </a:lnTo>
                <a:close/>
              </a:path>
            </a:pathLst>
          </a:custGeom>
          <a:solidFill>
            <a:srgbClr val="DEE77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1411</Words>
  <Application>Microsoft Office PowerPoint</Application>
  <PresentationFormat>Custom</PresentationFormat>
  <Paragraphs>246</Paragraphs>
  <Slides>17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 Black</vt:lpstr>
      <vt:lpstr>Calibri</vt:lpstr>
      <vt:lpstr>Lucida Sans Unicode</vt:lpstr>
      <vt:lpstr>Times New Roman</vt:lpstr>
      <vt:lpstr>Office Theme</vt:lpstr>
      <vt:lpstr>YIELDLENS: STABILITY-AWARE SENSOR REDUCTION FOR SEMICONDUCTOR YIELD MONITORING USING CHRONOLOGICAL DRIFT VALIDATION</vt:lpstr>
      <vt:lpstr>Problem Statement</vt:lpstr>
      <vt:lpstr>Dataset &amp; Preprocessing</vt:lpstr>
      <vt:lpstr>Literature Review &amp; Research Gap</vt:lpstr>
      <vt:lpstr>Models Overview</vt:lpstr>
      <vt:lpstr>System Architecture</vt:lpstr>
      <vt:lpstr>Model Performance</vt:lpstr>
      <vt:lpstr>Process Drift</vt:lpstr>
      <vt:lpstr>Sensor Stability</vt:lpstr>
      <vt:lpstr>Drift Validation</vt:lpstr>
      <vt:lpstr>Explainability</vt:lpstr>
      <vt:lpstr>Explainability</vt:lpstr>
      <vt:lpstr>Key Findings</vt:lpstr>
      <vt:lpstr>Conclusion</vt:lpstr>
      <vt:lpstr>PowerPoint Presentation</vt:lpstr>
      <vt:lpstr>Any Questions?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YieldLens Stability-Aware Sensor Reduction for Semiconductor Yield Monitoring Using Chronological Drift Validation</dc:title>
  <dc:creator>Karthick S</dc:creator>
  <cp:keywords>DAHRV97Z3kI,BAEkhjiCRqA</cp:keywords>
  <cp:lastModifiedBy>Karthick S</cp:lastModifiedBy>
  <cp:revision>5</cp:revision>
  <dcterms:created xsi:type="dcterms:W3CDTF">2026-08-10T01:19:44Z</dcterms:created>
  <dcterms:modified xsi:type="dcterms:W3CDTF">2026-08-10T05:42:46Z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2026-08-10T00:00:00Z</vt:filetime>
  </property>
  <property fmtid="{D5CDD505-2E9C-101B-9397-08002B2CF9AE}" pid="4" name="Creator">
    <vt:lpwstr>Canva</vt:lpwstr>
  </property>
  <property fmtid="{D5CDD505-2E9C-101B-9397-08002B2CF9AE}" pid="5" name="LastSaved">
    <vt:filetime>2026-08-10T00:00:00Z</vt:filetime>
  </property>
  <property fmtid="{D5CDD505-2E9C-101B-9397-08002B2CF9AE}" pid="6" name="Producer">
    <vt:lpwstr>Canva</vt:lpwstr>
  </property>
</Properties>
</file>